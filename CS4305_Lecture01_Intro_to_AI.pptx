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Introduce yourself and the course. This lecture covers the Basic Concepts part of the syllabus: intelligence and artificial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parts of the syllabus. Mention that theory is taught with slides and practical work is done separately in Google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after Lecture 4, midterm after Lecture 7, quiz after Lecture 10, final covers all twelve lectures.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branch of AI we study in Lecture 2 corresponds to one of these components: ML to learning, computer vision to perception, NLP to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first before revealing. Key point: speed and accuracy alone are not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Acting rationally is most popular because 'rational' can be defined mathematically and tested, while 'human-like' is vague. Humans also make mistakes we don't want copied.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these six abilities are almost exactly the branches of AI covered in Lecture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1956 Dartmouth is considered the official birth of AI. LISP and Prolog were the two classic AI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implement this agent in Colab Lab 1 and compare it with a random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ARTIFICIAL INTELLIGENCE  ·  LECTURE 1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Intelligence and Artificial Intelligence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intelligence?  What is AI?  Where did it come from?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This Course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· 3 Credit Hours (3+0)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5564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9829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755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8716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Structures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75564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89829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755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Parts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48716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 · Tools (Prolog, LISP, Expert System Shells) · Techniques (Search, Knowledge Representation) · Applications (NLP, Expert Systems)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27797" y="155448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75564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89829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75564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Work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48716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labs in Google Colab alongside each lecture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Books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52628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E. &amp; Knight, K. </a:t>
            </a: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Intelligence. McGraw-Hill (main text)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Luger, G. F. </a:t>
            </a: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Structures and Strategies for Complex Problem Solving. Pearson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Tanimoto, S. T. </a:t>
            </a: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Elements of Artificial Intelligence: An Introduction Using LISP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Jones, M. T. </a:t>
            </a: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Intelligence: A Systems Approach (bibliography)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Roadmap: 12 Lectures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2704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46304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Intelligence &amp; 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0824" y="132588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3704" y="152704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3704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59504" y="146304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of AI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73704" y="224028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3008" y="132588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5888" y="1527048"/>
            <a:ext cx="548640" cy="54864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5888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01688" y="146304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Language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15888" y="224028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75191" y="132588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58071" y="1527048"/>
            <a:ext cx="548640" cy="54864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58071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943871" y="146304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LISP &amp; Expert System Shells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258071" y="224028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172968"/>
            <a:ext cx="548640" cy="5486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310896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 as Search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88620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90824" y="297180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573704" y="3172968"/>
            <a:ext cx="548640" cy="5486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73704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4259504" y="310896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Search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3573704" y="388620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33008" y="297180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15888" y="3172968"/>
            <a:ext cx="548640" cy="5486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15888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7101688" y="310896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Knowledge-Directed Search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415888" y="388620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75191" y="297180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258071" y="3172968"/>
            <a:ext cx="548640" cy="5486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258071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9943871" y="310896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I: Logic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9258071" y="388620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461772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4818888"/>
            <a:ext cx="548640" cy="5486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1520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1417320" y="475488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II: Rules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731520" y="553212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390824" y="461772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573704" y="4818888"/>
            <a:ext cx="548640" cy="5486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573704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4259504" y="475488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III: Semantic Nets &amp; Scripts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3573704" y="553212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33008" y="461772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15888" y="4818888"/>
            <a:ext cx="548640" cy="54864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15888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58" name="Text 56"/>
          <p:cNvSpPr txBox="1"/>
          <p:nvPr/>
        </p:nvSpPr>
        <p:spPr>
          <a:xfrm>
            <a:off x="7101688" y="475488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6415888" y="553212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075191" y="4617720"/>
            <a:ext cx="2567864" cy="1417320"/>
          </a:xfrm>
          <a:prstGeom prst="roundRect">
            <a:avLst>
              <a:gd name="adj" fmla="val 645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258071" y="4818888"/>
            <a:ext cx="548640" cy="54864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58071" y="4818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9943871" y="4754880"/>
            <a:ext cx="1562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Course Review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9258071" y="5532120"/>
            <a:ext cx="2202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 you will be able to: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intelligence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list its main components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AI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definitions by well-known authors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4 approaches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Turing Test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1788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214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AI types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weak; narrow, general, super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338218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41788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43214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AI history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and AI winters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8127797" y="3977640"/>
            <a:ext cx="3515258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41788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43214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41788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agents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910328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intelligent (rational) agent is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Intelligence?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2344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</a:t>
            </a: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ability to acquire knowledge, understand it, and apply it to solve problems and adapt to new situations.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15258" cy="17602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328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664562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08760" y="253288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218688"/>
            <a:ext cx="30580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men are mortal; Ali is a man; so Ali is mortal.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38218" y="2331720"/>
            <a:ext cx="3515258" cy="17602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66818" y="2532888"/>
            <a:ext cx="548640" cy="54864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492" y="266456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98338" y="253288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66818" y="3218688"/>
            <a:ext cx="30580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child touches a hot stove once and never again.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127797" y="2331720"/>
            <a:ext cx="3515258" cy="17602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56397" y="2532888"/>
            <a:ext cx="548640" cy="54864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70" y="2664562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87917" y="253288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356397" y="3218688"/>
            <a:ext cx="30580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shortest route from Islamabad to Lahore.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4366260"/>
            <a:ext cx="3515258" cy="17602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567428"/>
            <a:ext cx="548640" cy="54864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699102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08760" y="456742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5253228"/>
            <a:ext cx="30580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 a friend's face in a crowd.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338218" y="4366260"/>
            <a:ext cx="3515258" cy="17602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66818" y="4567428"/>
            <a:ext cx="548640" cy="54864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492" y="4699102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298338" y="456742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4566818" y="5253228"/>
            <a:ext cx="30580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"Raining cats and dogs" means heavy rain.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8127797" y="4366260"/>
            <a:ext cx="3515258" cy="176022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56397" y="456742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070" y="4699102"/>
            <a:ext cx="285293" cy="285293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87917" y="4567428"/>
            <a:ext cx="2372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Memory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8356397" y="5253228"/>
            <a:ext cx="30580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Remembering that water boils at 100 °C.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Is a Calculator Intelligent?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88720" cy="118872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748333"/>
            <a:ext cx="618134" cy="6181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46304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calculator multiplies 8-digit numbers faster than any human.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 it learn? Can it adapt? Can it solve a problem it wasn't built for?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22960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calculator has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pre-programmed steps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336792" y="301752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11112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lacks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611112" y="379476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experience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to new situations</a:t>
            </a:r>
            <a:endParaRPr lang="en-US" sz="2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it computes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branch of computer science concerned with building machines and programs that perform tasks which normally require human intelligence.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15258" cy="2788920"/>
          </a:xfrm>
          <a:prstGeom prst="roundRect">
            <a:avLst>
              <a:gd name="adj" fmla="val 327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2402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 (1956)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science and engineering of making intelligent machines, especially intelligent computer programs."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348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the term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8218" y="2103120"/>
            <a:ext cx="3515258" cy="2788920"/>
          </a:xfrm>
          <a:prstGeom prst="roundRect">
            <a:avLst>
              <a:gd name="adj" fmla="val 327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66818" y="22402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&amp; Knight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743200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study of how to make computers do things which, at the moment, people do better."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44348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main textbook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7797" y="2103120"/>
            <a:ext cx="3515258" cy="2788920"/>
          </a:xfrm>
          <a:prstGeom prst="roundRect">
            <a:avLst>
              <a:gd name="adj" fmla="val 3279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56397" y="224028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Course Description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6397" y="2743200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intelligent machines that work and react like humans.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44348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course outline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"AI effect":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&amp; Knight's definition changes with time. Chess was once AI research; now computers beat every human, so many people no longer call chess programs AI.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Program vs AI Program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Program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Program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Follows a fixed algorithm written by a programmer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knowledge, rules, search or learning to find a solution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Mainly numeric processing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Mainly symbolic processing (symbols &amp; knowledge)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step is specified in advance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handle situations not explicitly programmed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explain its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systems can explain why they reached an answer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payroll system, calculator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medical diagnosis, chess engine, chatbot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498348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payroll program always computes salary = basic pay + allowances − tax. A medical expert system receives symptoms, searches its rules, reasons towards a diagnosis, and may ask further questions depending on your answers.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"AI Technique"?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&amp; Knight: an AI technique exploits knowledge that is represented so that...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10048" cy="1783080"/>
          </a:xfrm>
          <a:prstGeom prst="roundRect">
            <a:avLst>
              <a:gd name="adj" fmla="val 512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4708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8973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4708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generalizes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78608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store every single case separately; similar cases share one representation.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33008" y="1645920"/>
            <a:ext cx="5410048" cy="1783080"/>
          </a:xfrm>
          <a:prstGeom prst="roundRect">
            <a:avLst>
              <a:gd name="adj" fmla="val 512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1608" y="184708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98973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38848" y="184708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understandable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578608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provide the knowledge (experts) can read and check it.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3703320"/>
            <a:ext cx="5410048" cy="1783080"/>
          </a:xfrm>
          <a:prstGeom prst="roundRect">
            <a:avLst>
              <a:gd name="adj" fmla="val 512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390448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04713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390448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modifiable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636008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can be corrected and new facts added easily.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233008" y="3703320"/>
            <a:ext cx="5410048" cy="1783080"/>
          </a:xfrm>
          <a:prstGeom prst="roundRect">
            <a:avLst>
              <a:gd name="adj" fmla="val 512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61608" y="390448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404713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38848" y="390448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tolerates gaps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61608" y="4636008"/>
            <a:ext cx="495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still be used even if it is incomplete or partly inaccurate.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Knowledge Representation (Lectures 8–10) is a major part of this course.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Approaches to 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Russell &amp; Norvig: thinking vs acting  ×  human-like vs rational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5087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HUMAN-LIKE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64528" y="150876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(IDEAL)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965960"/>
            <a:ext cx="1325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325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011680" y="1965960"/>
            <a:ext cx="4678528" cy="1965960"/>
          </a:xfrm>
          <a:prstGeom prst="roundRect">
            <a:avLst>
              <a:gd name="adj" fmla="val 465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240280" y="2148840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Thinking Humanly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65176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modeling: think the way humans think.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General Problem Solver (1957)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64528" y="1965960"/>
            <a:ext cx="4678528" cy="1965960"/>
          </a:xfrm>
          <a:prstGeom prst="roundRect">
            <a:avLst>
              <a:gd name="adj" fmla="val 465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193128" y="2148840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Thinking Rationally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65176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"Laws of Thought": reason correctly with logic.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Aristotle's syllogisms, Prolog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011680" y="4206240"/>
            <a:ext cx="4678528" cy="1965960"/>
          </a:xfrm>
          <a:prstGeom prst="roundRect">
            <a:avLst>
              <a:gd name="adj" fmla="val 465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240280" y="4389120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Acting Humanly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489204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Test: behave so that you can't be told apart from a human.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ELIZA chatbot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964528" y="4206240"/>
            <a:ext cx="4678528" cy="1965960"/>
          </a:xfrm>
          <a:prstGeom prst="roundRect">
            <a:avLst>
              <a:gd name="adj" fmla="val 465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93128" y="4389120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Acting Rationally  ★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7193128" y="4892040"/>
            <a:ext cx="42213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agent: do the right thing to get the best outcome.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self-driving car. Most used today.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Turing Test (Alan Turing, 1950)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"Computing Machinery and Intelligence" — the Imitation Game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77440" y="16459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(human judge)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200400"/>
            <a:ext cx="5120640" cy="109728"/>
          </a:xfrm>
          <a:prstGeom prst="rect">
            <a:avLst/>
          </a:prstGeom>
          <a:solidFill>
            <a:srgbClr val="6B6780"/>
          </a:solidFill>
          <a:ln w="12700">
            <a:solidFill>
              <a:srgbClr val="6B67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303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hidden behind a wall — communication by text only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206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23360" y="420624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 flipH="1">
            <a:off x="2194560" y="2606040"/>
            <a:ext cx="914400" cy="155448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06240" y="2606040"/>
            <a:ext cx="914400" cy="1554480"/>
          </a:xfrm>
          <a:prstGeom prst="line">
            <a:avLst/>
          </a:prstGeom>
          <a:noFill/>
          <a:ln w="25400">
            <a:solidFill>
              <a:srgbClr val="6B678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766560" y="173736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chats with two hidden participants, using text only.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a human, the other is a computer.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may ask any question.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judge cannot reliably tell which is the machine, the machine passes.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Machine Need to Pass?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7864" cy="2286000"/>
          </a:xfrm>
          <a:prstGeom prst="roundRect">
            <a:avLst>
              <a:gd name="adj" fmla="val 4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Processing: to communicate in English or Urdu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90824" y="1371600"/>
            <a:ext cx="2567864" cy="2286000"/>
          </a:xfrm>
          <a:prstGeom prst="roundRect">
            <a:avLst>
              <a:gd name="adj" fmla="val 4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96664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230428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store what it knows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33008" y="1371600"/>
            <a:ext cx="2567864" cy="2286000"/>
          </a:xfrm>
          <a:prstGeom prst="roundRect">
            <a:avLst>
              <a:gd name="adj" fmla="val 4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38848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Reasoning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230428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 questions and draw conclusions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75191" y="1371600"/>
            <a:ext cx="2567864" cy="2286000"/>
          </a:xfrm>
          <a:prstGeom prst="roundRect">
            <a:avLst>
              <a:gd name="adj" fmla="val 4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15727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71541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81031" y="15727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230428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adapt to new situations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3931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Turing Test adds video and physical objects, so it also needs: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548640" y="4434840"/>
            <a:ext cx="5410048" cy="1600200"/>
          </a:xfrm>
          <a:prstGeom prst="roundRect">
            <a:avLst>
              <a:gd name="adj" fmla="val 5714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46360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7786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54480" y="463600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536752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perceive objects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6233008" y="4434840"/>
            <a:ext cx="5410048" cy="1600200"/>
          </a:xfrm>
          <a:prstGeom prst="roundRect">
            <a:avLst>
              <a:gd name="adj" fmla="val 5714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61608" y="46360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254" y="47786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38848" y="463600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6461608" y="5367528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manipulate objects and move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Passing the Test Enough?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6583680" cy="4800600"/>
          </a:xfrm>
          <a:prstGeom prst="roundRect">
            <a:avLst>
              <a:gd name="adj" fmla="val 1905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54480"/>
            <a:ext cx="685800" cy="6858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190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5544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Searle's Chinese Room (1980)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688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speaks no Chinese sits in a locked room with a rule book.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questions come in; by following the rules, the person sends back correct Chinese answers.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Outsiders think the room understands Chinese, but the person understands nothing.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Point: correct behaviour does not prove real understanding.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06640" y="1325880"/>
            <a:ext cx="4236415" cy="4800600"/>
          </a:xfrm>
          <a:prstGeom prst="roundRect">
            <a:avLst>
              <a:gd name="adj" fmla="val 2158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680960" y="1554480"/>
            <a:ext cx="685800" cy="6858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71907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54964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CAPTCHA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2468880"/>
            <a:ext cx="368777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Automated Public Turing test to tell Computers and Humans Apart.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"I'm not a robot" box is a reverse Turing Test: here the computer is the judge, trying to identify humans.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AI by Capability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15258" cy="470916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49069" y="1600200"/>
            <a:ext cx="914400" cy="91440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8525" y="18196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AI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AI / ANI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one specific task.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3434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unlock, spam filters, Google Maps, chess engines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05840" y="5349240"/>
            <a:ext cx="2600858" cy="457200"/>
          </a:xfrm>
          <a:prstGeom prst="roundRect">
            <a:avLst>
              <a:gd name="adj" fmla="val 16000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5840" y="534924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TODAY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38218" y="1371600"/>
            <a:ext cx="3515258" cy="470916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38648" y="1600200"/>
            <a:ext cx="914400" cy="91440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104" y="1819656"/>
            <a:ext cx="475488" cy="47548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521098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AI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4521098" y="31089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AI / AGI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612538" y="361188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Human-level intelligence across any task.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4612538" y="43434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learns any subject like a student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795418" y="5349240"/>
            <a:ext cx="2600858" cy="457200"/>
          </a:xfrm>
          <a:prstGeom prst="roundRect">
            <a:avLst>
              <a:gd name="adj" fmla="val 16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795418" y="534924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ACHIEVED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127797" y="1371600"/>
            <a:ext cx="3515258" cy="4709160"/>
          </a:xfrm>
          <a:prstGeom prst="roundRect">
            <a:avLst>
              <a:gd name="adj" fmla="val 2601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9428226" y="1600200"/>
            <a:ext cx="914400" cy="91440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7682" y="1819656"/>
            <a:ext cx="475488" cy="47548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310677" y="265176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AI</a:t>
            </a:r>
            <a:endParaRPr lang="en-US" sz="2400" dirty="0"/>
          </a:p>
        </p:txBody>
      </p:sp>
      <p:sp>
        <p:nvSpPr>
          <p:cNvPr id="27" name="Text 22"/>
          <p:cNvSpPr txBox="1"/>
          <p:nvPr/>
        </p:nvSpPr>
        <p:spPr>
          <a:xfrm>
            <a:off x="8310677" y="3108960"/>
            <a:ext cx="3149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402117" y="361188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human intelligence in all fields.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8402117" y="434340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</a:t>
            </a: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Science-fiction examples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8584997" y="5349240"/>
            <a:ext cx="2600858" cy="457200"/>
          </a:xfrm>
          <a:prstGeom prst="roundRect">
            <a:avLst>
              <a:gd name="adj" fmla="val 16000"/>
            </a:avLst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584997" y="5349240"/>
            <a:ext cx="2600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 Weak AI  ·  AI vs ML vs DL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212080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AI hypothesis: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can act as if they are intelligent (simulate thinking).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AI hypothesis: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that act intelligently actually have minds and really think.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88620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chess program beating a grandmaster is clearly acting intelligently (weak AI). Does it truly understand chess? That is the strong AI question.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system with hand-written rules is AI but not ML: it doesn't learn from data.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1325880"/>
            <a:ext cx="5486400" cy="4800600"/>
          </a:xfrm>
          <a:prstGeom prst="ellipse">
            <a:avLst/>
          </a:prstGeom>
          <a:solidFill>
            <a:srgbClr val="F3EEFA"/>
          </a:solidFill>
          <a:ln w="25400">
            <a:solidFill>
              <a:srgbClr val="5B2A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331720"/>
            <a:ext cx="3931920" cy="3611880"/>
          </a:xfrm>
          <a:prstGeom prst="ellipse">
            <a:avLst/>
          </a:prstGeom>
          <a:solidFill>
            <a:srgbClr val="E3D6F5"/>
          </a:solidFill>
          <a:ln w="25400">
            <a:solidFill>
              <a:srgbClr val="5B2A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0" y="3429000"/>
            <a:ext cx="2468880" cy="233172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search, logic, learning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data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39319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many-layer neural networks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borrows ideas from many older disciplines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reasoning, nature of mind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9424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70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96664" y="18013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19424" y="253288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Logic, probability, algorithms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33008" y="160020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1608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254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38848" y="18013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61608" y="253288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think, learn, perceive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9075191" y="160020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03791" y="180136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6438" y="194401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081031" y="180136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03791" y="253288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language → NLP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397764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41788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3214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54480" y="417880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Neuroscience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77240" y="491032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neurons work → neural networks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3390824" y="397764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19424" y="41788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070" y="43214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396664" y="417880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19424" y="491032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hardware makes AI practical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233008" y="397764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61608" y="417880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4254" y="4321454"/>
            <a:ext cx="309067" cy="30906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38848" y="417880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461608" y="491032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theory: making the best choice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9075191" y="3977640"/>
            <a:ext cx="2567864" cy="2103120"/>
          </a:xfrm>
          <a:prstGeom prst="roundRect">
            <a:avLst>
              <a:gd name="adj" fmla="val 434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03791" y="417880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6438" y="4321454"/>
            <a:ext cx="309067" cy="309067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081031" y="4178808"/>
            <a:ext cx="1379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303791" y="4910328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languages, data structures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AI (1): The Birth of 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 – 1980s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9448495" cy="0"/>
          </a:xfrm>
          <a:prstGeom prst="line">
            <a:avLst/>
          </a:prstGeom>
          <a:noFill/>
          <a:ln w="38100">
            <a:solidFill>
              <a:srgbClr val="5B2A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3529584"/>
            <a:ext cx="256032" cy="256032"/>
          </a:xfrm>
          <a:prstGeom prst="ellipse">
            <a:avLst/>
          </a:prstGeom>
          <a:solidFill>
            <a:srgbClr val="5B2A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154680"/>
            <a:ext cx="0" cy="37490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" y="16002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948" y="1691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948" y="205740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McCulloch &amp; Pitts: model of the artificial neuron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3011" y="3529584"/>
            <a:ext cx="256032" cy="256032"/>
          </a:xfrm>
          <a:prstGeom prst="ellipse">
            <a:avLst/>
          </a:prstGeom>
          <a:solidFill>
            <a:srgbClr val="5B2A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1027" y="3785616"/>
            <a:ext cx="0" cy="28346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3767" y="4069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543495" y="41605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543495" y="452628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 proposes the Turing Test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59558" y="3529584"/>
            <a:ext cx="256032" cy="256032"/>
          </a:xfrm>
          <a:prstGeom prst="ellipse">
            <a:avLst/>
          </a:prstGeom>
          <a:solidFill>
            <a:srgbClr val="FF9F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87574" y="3154680"/>
            <a:ext cx="0" cy="37490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0314" y="16002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360042" y="1691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360042" y="205740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Conference: the term "AI" is coined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76105" y="3529584"/>
            <a:ext cx="256032" cy="256032"/>
          </a:xfrm>
          <a:prstGeom prst="ellipse">
            <a:avLst/>
          </a:prstGeom>
          <a:solidFill>
            <a:srgbClr val="FF9F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4121" y="3785616"/>
            <a:ext cx="0" cy="28346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6861" y="4069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176589" y="41605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176589" y="452628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McCarthy creates LISP (Lecture 4)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92652" y="3529584"/>
            <a:ext cx="256032" cy="256032"/>
          </a:xfrm>
          <a:prstGeom prst="ellipse">
            <a:avLst/>
          </a:prstGeom>
          <a:solidFill>
            <a:srgbClr val="5B2A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0668" y="3154680"/>
            <a:ext cx="0" cy="37490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83408" y="16002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993136" y="1691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993136" y="205740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ELIZA chatbot by Joseph Weizenbaum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09199" y="3529584"/>
            <a:ext cx="256032" cy="256032"/>
          </a:xfrm>
          <a:prstGeom prst="ellipse">
            <a:avLst/>
          </a:prstGeom>
          <a:solidFill>
            <a:srgbClr val="FF9F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37215" y="3785616"/>
            <a:ext cx="0" cy="28346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9955" y="4069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809683" y="41605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1972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809683" y="452628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is created (Lecture 3)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Highlighted: events directly linked to tools in this course. 1970s: MYCIN and DENDRAL, the first expert systems (Lecture 11).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of AI (2): Winters and Revival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 – today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3657600"/>
            <a:ext cx="9448495" cy="0"/>
          </a:xfrm>
          <a:prstGeom prst="line">
            <a:avLst/>
          </a:prstGeom>
          <a:noFill/>
          <a:ln w="38100">
            <a:solidFill>
              <a:srgbClr val="5B2A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3529584"/>
            <a:ext cx="256032" cy="256032"/>
          </a:xfrm>
          <a:prstGeom prst="ellipse">
            <a:avLst/>
          </a:prstGeom>
          <a:solidFill>
            <a:srgbClr val="FF9F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154680"/>
            <a:ext cx="0" cy="37490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" y="16002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26948" y="1691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1974–80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948" y="205740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Winter: funding cut after early promises failed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3011" y="3529584"/>
            <a:ext cx="256032" cy="256032"/>
          </a:xfrm>
          <a:prstGeom prst="ellipse">
            <a:avLst/>
          </a:prstGeom>
          <a:solidFill>
            <a:srgbClr val="FF9F1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71027" y="3785616"/>
            <a:ext cx="0" cy="28346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33767" y="4069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543495" y="41605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1987–93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543495" y="452628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AI Winter: expert systems too costly to maintain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59558" y="3529584"/>
            <a:ext cx="256032" cy="256032"/>
          </a:xfrm>
          <a:prstGeom prst="ellipse">
            <a:avLst/>
          </a:prstGeom>
          <a:solidFill>
            <a:srgbClr val="5B2A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87574" y="3154680"/>
            <a:ext cx="0" cy="37490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0314" y="16002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360042" y="1691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360042" y="205740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Deep Blue defeats chess champion Kasparov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76105" y="3529584"/>
            <a:ext cx="256032" cy="256032"/>
          </a:xfrm>
          <a:prstGeom prst="ellipse">
            <a:avLst/>
          </a:prstGeom>
          <a:solidFill>
            <a:srgbClr val="5B2A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4121" y="3785616"/>
            <a:ext cx="0" cy="28346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6861" y="4069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176589" y="41605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176589" y="452628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breakthrough in image recognition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92652" y="3529584"/>
            <a:ext cx="256032" cy="256032"/>
          </a:xfrm>
          <a:prstGeom prst="ellipse">
            <a:avLst/>
          </a:prstGeom>
          <a:solidFill>
            <a:srgbClr val="5B2A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0668" y="3154680"/>
            <a:ext cx="0" cy="37490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83408" y="160020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7993136" y="16916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993136" y="205740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defeats Go champion Lee Sedol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09199" y="3529584"/>
            <a:ext cx="256032" cy="256032"/>
          </a:xfrm>
          <a:prstGeom prst="ellipse">
            <a:avLst/>
          </a:prstGeom>
          <a:solidFill>
            <a:srgbClr val="5B2A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37215" y="3785616"/>
            <a:ext cx="0" cy="283464"/>
          </a:xfrm>
          <a:prstGeom prst="line">
            <a:avLst/>
          </a:prstGeom>
          <a:noFill/>
          <a:ln w="19050">
            <a:solidFill>
              <a:srgbClr val="CFC6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99955" y="4069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9809683" y="41605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2022+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809683" y="452628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and Large Language Models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52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AI has cycles of excitement and disappointment. Classical techniques (search, logic, rules) are still used inside modern systems.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Agents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2344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perceives its environment through sensors and acts on it through actuators.
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 agent: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action expected to maximize its performance measure.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11094415" cy="3611880"/>
          </a:xfrm>
          <a:prstGeom prst="roundRect">
            <a:avLst>
              <a:gd name="adj" fmla="val 2532"/>
            </a:avLst>
          </a:prstGeom>
          <a:solidFill>
            <a:srgbClr val="E3F6F3"/>
          </a:solidFill>
          <a:ln w="19050">
            <a:solidFill>
              <a:srgbClr val="1FA898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754880" y="384048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38404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PROGRAM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(decides action)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686800" y="39319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0" y="3931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11880" y="4389120"/>
            <a:ext cx="109728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4389120"/>
            <a:ext cx="1097280" cy="0"/>
          </a:xfrm>
          <a:prstGeom prst="line">
            <a:avLst/>
          </a:prstGeom>
          <a:noFill/>
          <a:ln w="25400">
            <a:solidFill>
              <a:srgbClr val="1A1333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10058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percepts ↑ from the world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↓ change the world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321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 →  THINK  →  ACT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Agents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88920"/>
                <a:gridCol w="2788920"/>
                <a:gridCol w="27706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Actuators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Eyes, ears, skin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Hands, legs, voice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world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 vacuum cleaner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Dirt sensor, bump sensor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Wheels, suction motor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 of a house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Self-driving car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Cameras, GPS, radar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Steering, brakes, accelerator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Roads and traffic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 filter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Incoming emails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to inbox / spam folder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502920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sensors, actuators and environment of (a) a chess-playing program and (b) a traffic-signal controller.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The Vacuum-Cleaner World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194560" cy="2194560"/>
          </a:xfrm>
          <a:prstGeom prst="rect">
            <a:avLst/>
          </a:prstGeom>
          <a:solidFill>
            <a:srgbClr val="FFF4E3"/>
          </a:solidFill>
          <a:ln w="25400">
            <a:solidFill>
              <a:srgbClr val="1A1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219456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3291840"/>
            <a:ext cx="164592" cy="164592"/>
          </a:xfrm>
          <a:prstGeom prst="ellipse">
            <a:avLst/>
          </a:prstGeom>
          <a:solidFill>
            <a:srgbClr val="7A5C3E"/>
          </a:solidFill>
          <a:ln w="12700">
            <a:solidFill>
              <a:srgbClr val="7A5C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566160"/>
            <a:ext cx="164592" cy="164592"/>
          </a:xfrm>
          <a:prstGeom prst="ellipse">
            <a:avLst/>
          </a:prstGeom>
          <a:solidFill>
            <a:srgbClr val="7A5C3E"/>
          </a:solidFill>
          <a:ln w="12700">
            <a:solidFill>
              <a:srgbClr val="7A5C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3749040"/>
            <a:ext cx="164592" cy="164592"/>
          </a:xfrm>
          <a:prstGeom prst="ellipse">
            <a:avLst/>
          </a:prstGeom>
          <a:solidFill>
            <a:srgbClr val="7A5C3E"/>
          </a:solidFill>
          <a:ln w="12700">
            <a:solidFill>
              <a:srgbClr val="7A5C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3383280"/>
            <a:ext cx="164592" cy="164592"/>
          </a:xfrm>
          <a:prstGeom prst="ellipse">
            <a:avLst/>
          </a:prstGeom>
          <a:solidFill>
            <a:srgbClr val="7A5C3E"/>
          </a:solidFill>
          <a:ln w="12700">
            <a:solidFill>
              <a:srgbClr val="7A5C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3657600"/>
            <a:ext cx="164592" cy="164592"/>
          </a:xfrm>
          <a:prstGeom prst="ellipse">
            <a:avLst/>
          </a:prstGeom>
          <a:solidFill>
            <a:srgbClr val="7A5C3E"/>
          </a:solidFill>
          <a:ln w="12700">
            <a:solidFill>
              <a:srgbClr val="7A5C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2468880"/>
            <a:ext cx="731520" cy="73152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605" y="2644445"/>
            <a:ext cx="380390" cy="38039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31520" y="42976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[location, status], e.g. [A, Dirty]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Suck, Left, Right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for each clean square per time step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852160" y="1463040"/>
            <a:ext cx="5790895" cy="4617720"/>
          </a:xfrm>
          <a:prstGeom prst="roundRect">
            <a:avLst>
              <a:gd name="adj" fmla="val 1980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126480" y="1645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Reflex Agent (condition–action rules)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22402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status = Dirty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Suck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location = 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move Right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location = B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move Left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126480" y="47548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reacts only to the current percept. It has no memory, so it keeps moving even after both squares are clean.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CS4305_Lab01.ipynb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4708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8973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4708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1: Mini ELIZA chatbot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78608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and pronoun reflection. Shows "acting humanly" and the Chinese Room idea.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338218" y="164592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4708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8973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4708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2: Vacuum-world agent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78608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reflex agent vs random agent, compared by performance score.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127797" y="1645920"/>
            <a:ext cx="3515258" cy="2743200"/>
          </a:xfrm>
          <a:prstGeom prst="roundRect">
            <a:avLst>
              <a:gd name="adj" fmla="val 333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4708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8973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4708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3: AI history timeline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78608"/>
            <a:ext cx="30580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the milestones of AI with Matplotlib.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8640" y="475488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22960" y="475488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tip: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colab.research.google.com → File → Upload notebook → run each cell with Shift + Enter, from top to bottom.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reason, learn, solve problems, perceive, and use language and knowledge.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machines that perform tasks requiring human intelligence (McCarthy; Rich &amp; Knight).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approaches: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humanly, thinking rationally, acting humanly (Turing Test), acting rationally (rational agents).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Test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by behaviour; the Chinese Room argues behaviour ≠ understanding.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today; General AI does not yet; Super AI is hypothetical.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1956, LISP 1958, Prolog 1972, two AI winters, modern deep learning.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perceives through sensors, acts through actuators; a rational agent maximizes performance.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intelligence. List any four of its components with an example of each.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definitions of AI by McCarthy and by Rich &amp; Knight. Why is Rich &amp; Knight's definition time-dependent?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explain the 2×2 table of the four approaches to AI.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Turing Test with a diagram. Which four capabilities must a machine have to pass it?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Chinese Room argument? What does it criticize?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(a) strong and weak AI, (b) narrow and general AI.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AI system a machine learning system? Justify with an example.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agent and a rational agent. Give the sensors, actuators and environment of a self-driving car.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 of Artificial Intelligence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Neural Networks · NLP · Computer Vision · Robotics · Expert Systems · Fuzzy Logic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1 - Introduction to AI</dc:title>
  <dc:subject>PptxGenJS Presentation</dc:subject>
  <dc:creator>CS4305 Artificial Intelligence</dc:creator>
  <cp:lastModifiedBy>CS4305 Artificial Intelligence</cp:lastModifiedBy>
  <cp:revision>1</cp:revision>
  <dcterms:created xsi:type="dcterms:W3CDTF">2026-09-11T09:00:30Z</dcterms:created>
  <dcterms:modified xsi:type="dcterms:W3CDTF">2026-09-11T09:00:30Z</dcterms:modified>
</cp:coreProperties>
</file>