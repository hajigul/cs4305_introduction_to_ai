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333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1333"/>
                </a:solidFill>
                <a:latin typeface="Arial"/>
              </a:rPr>
              <a:t>Degree of membership vs temperature (°C)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Cold</c:v>
                </c:pt>
              </c:strCache>
            </c:strRef>
          </c:tx>
          <c:spPr>
            <a:solidFill>
              <a:srgbClr val="2E86DE"/>
            </a:solidFill>
            <a:ln w="38100" cap="flat">
              <a:solidFill>
                <a:srgbClr val="2E86D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86DE"/>
              </a:solidFill>
              <a:ln w="9525" cap="flat">
                <a:solidFill>
                  <a:srgbClr val="2E86D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2.5</c:v>
                  </c:pt>
                  <c:pt idx="2">
                    <c:v>5</c:v>
                  </c:pt>
                  <c:pt idx="3">
                    <c:v>7.5</c:v>
                  </c:pt>
                  <c:pt idx="4">
                    <c:v>10</c:v>
                  </c:pt>
                  <c:pt idx="5">
                    <c:v>12.5</c:v>
                  </c:pt>
                  <c:pt idx="6">
                    <c:v>15</c:v>
                  </c:pt>
                  <c:pt idx="7">
                    <c:v>17.5</c:v>
                  </c:pt>
                  <c:pt idx="8">
                    <c:v>20</c:v>
                  </c:pt>
                  <c:pt idx="9">
                    <c:v>22.5</c:v>
                  </c:pt>
                  <c:pt idx="10">
                    <c:v>25</c:v>
                  </c:pt>
                  <c:pt idx="11">
                    <c:v>27.5</c:v>
                  </c:pt>
                  <c:pt idx="12">
                    <c:v>30</c:v>
                  </c:pt>
                  <c:pt idx="13">
                    <c:v>32.5</c:v>
                  </c:pt>
                  <c:pt idx="14">
                    <c:v>35</c:v>
                  </c:pt>
                  <c:pt idx="15">
                    <c:v>37.5</c:v>
                  </c:pt>
                  <c:pt idx="16">
                    <c:v>40</c:v>
                  </c:pt>
                  <c:pt idx="17">
                    <c:v>42.5</c:v>
                  </c:pt>
                  <c:pt idx="18">
                    <c:v>45</c:v>
                  </c:pt>
                  <c:pt idx="19">
                    <c:v>47.5</c:v>
                  </c:pt>
                  <c:pt idx="20">
                    <c:v>50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</c:v>
                </c:pt>
                <c:pt idx="1">
                  <c:v>0.88</c:v>
                </c:pt>
                <c:pt idx="2">
                  <c:v>0.75</c:v>
                </c:pt>
                <c:pt idx="3">
                  <c:v>0.63</c:v>
                </c:pt>
                <c:pt idx="4">
                  <c:v>0.5</c:v>
                </c:pt>
                <c:pt idx="5">
                  <c:v>0.38</c:v>
                </c:pt>
                <c:pt idx="6">
                  <c:v>0.25</c:v>
                </c:pt>
                <c:pt idx="7">
                  <c:v>0.13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Warm</c:v>
                </c:pt>
              </c:strCache>
            </c:strRef>
          </c:tx>
          <c:spPr>
            <a:solidFill>
              <a:srgbClr val="FF9F1C"/>
            </a:solidFill>
            <a:ln w="38100" cap="flat">
              <a:solidFill>
                <a:srgbClr val="FF9F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9F1C"/>
              </a:solidFill>
              <a:ln w="9525" cap="flat">
                <a:solidFill>
                  <a:srgbClr val="FF9F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2.5</c:v>
                  </c:pt>
                  <c:pt idx="2">
                    <c:v>5</c:v>
                  </c:pt>
                  <c:pt idx="3">
                    <c:v>7.5</c:v>
                  </c:pt>
                  <c:pt idx="4">
                    <c:v>10</c:v>
                  </c:pt>
                  <c:pt idx="5">
                    <c:v>12.5</c:v>
                  </c:pt>
                  <c:pt idx="6">
                    <c:v>15</c:v>
                  </c:pt>
                  <c:pt idx="7">
                    <c:v>17.5</c:v>
                  </c:pt>
                  <c:pt idx="8">
                    <c:v>20</c:v>
                  </c:pt>
                  <c:pt idx="9">
                    <c:v>22.5</c:v>
                  </c:pt>
                  <c:pt idx="10">
                    <c:v>25</c:v>
                  </c:pt>
                  <c:pt idx="11">
                    <c:v>27.5</c:v>
                  </c:pt>
                  <c:pt idx="12">
                    <c:v>30</c:v>
                  </c:pt>
                  <c:pt idx="13">
                    <c:v>32.5</c:v>
                  </c:pt>
                  <c:pt idx="14">
                    <c:v>35</c:v>
                  </c:pt>
                  <c:pt idx="15">
                    <c:v>37.5</c:v>
                  </c:pt>
                  <c:pt idx="16">
                    <c:v>40</c:v>
                  </c:pt>
                  <c:pt idx="17">
                    <c:v>42.5</c:v>
                  </c:pt>
                  <c:pt idx="18">
                    <c:v>45</c:v>
                  </c:pt>
                  <c:pt idx="19">
                    <c:v>47.5</c:v>
                  </c:pt>
                  <c:pt idx="20">
                    <c:v>50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0.17</c:v>
                </c:pt>
                <c:pt idx="6">
                  <c:v>0.33</c:v>
                </c:pt>
                <c:pt idx="7">
                  <c:v>0.5</c:v>
                </c:pt>
                <c:pt idx="8">
                  <c:v>0.67</c:v>
                </c:pt>
                <c:pt idx="9">
                  <c:v>0.83</c:v>
                </c:pt>
                <c:pt idx="10">
                  <c:v>1</c:v>
                </c:pt>
                <c:pt idx="11">
                  <c:v>0.83</c:v>
                </c:pt>
                <c:pt idx="12">
                  <c:v>0.67</c:v>
                </c:pt>
                <c:pt idx="13">
                  <c:v>0.5</c:v>
                </c:pt>
                <c:pt idx="14">
                  <c:v>0.33</c:v>
                </c:pt>
                <c:pt idx="15">
                  <c:v>0.17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Hot</c:v>
                </c:pt>
              </c:strCache>
            </c:strRef>
          </c:tx>
          <c:spPr>
            <a:solidFill>
              <a:srgbClr val="D1495B"/>
            </a:solidFill>
            <a:ln w="38100" cap="flat">
              <a:solidFill>
                <a:srgbClr val="D149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1495B"/>
              </a:solidFill>
              <a:ln w="9525" cap="flat">
                <a:solidFill>
                  <a:srgbClr val="D149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2.5</c:v>
                  </c:pt>
                  <c:pt idx="2">
                    <c:v>5</c:v>
                  </c:pt>
                  <c:pt idx="3">
                    <c:v>7.5</c:v>
                  </c:pt>
                  <c:pt idx="4">
                    <c:v>10</c:v>
                  </c:pt>
                  <c:pt idx="5">
                    <c:v>12.5</c:v>
                  </c:pt>
                  <c:pt idx="6">
                    <c:v>15</c:v>
                  </c:pt>
                  <c:pt idx="7">
                    <c:v>17.5</c:v>
                  </c:pt>
                  <c:pt idx="8">
                    <c:v>20</c:v>
                  </c:pt>
                  <c:pt idx="9">
                    <c:v>22.5</c:v>
                  </c:pt>
                  <c:pt idx="10">
                    <c:v>25</c:v>
                  </c:pt>
                  <c:pt idx="11">
                    <c:v>27.5</c:v>
                  </c:pt>
                  <c:pt idx="12">
                    <c:v>30</c:v>
                  </c:pt>
                  <c:pt idx="13">
                    <c:v>32.5</c:v>
                  </c:pt>
                  <c:pt idx="14">
                    <c:v>35</c:v>
                  </c:pt>
                  <c:pt idx="15">
                    <c:v>37.5</c:v>
                  </c:pt>
                  <c:pt idx="16">
                    <c:v>40</c:v>
                  </c:pt>
                  <c:pt idx="17">
                    <c:v>42.5</c:v>
                  </c:pt>
                  <c:pt idx="18">
                    <c:v>45</c:v>
                  </c:pt>
                  <c:pt idx="19">
                    <c:v>47.5</c:v>
                  </c:pt>
                  <c:pt idx="20">
                    <c:v>50</c:v>
                  </c:pt>
                </c:lvl>
              </c:multiLvlStrCache>
            </c:multiLvl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0.13</c:v>
                </c:pt>
                <c:pt idx="14">
                  <c:v>0.25</c:v>
                </c:pt>
                <c:pt idx="15">
                  <c:v>0.38</c:v>
                </c:pt>
                <c:pt idx="16">
                  <c:v>0.5</c:v>
                </c:pt>
                <c:pt idx="17">
                  <c:v>0.63</c:v>
                </c:pt>
                <c:pt idx="18">
                  <c:v>0.75</c:v>
                </c:pt>
                <c:pt idx="19">
                  <c:v>0.88</c:v>
                </c:pt>
                <c:pt idx="2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1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Practical: Colab Lab 2, Demo 1 trains a decision tree on the Iris flower dataset (supervised learning).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 ·  ARTIFICIAL INTELLIGENCE  ·  LECTURE 2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Branches of Artificial Intelligence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reproduces each part of human intelligence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Today's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206240" cy="4800600"/>
          </a:xfrm>
          <a:prstGeom prst="roundRect">
            <a:avLst>
              <a:gd name="adj" fmla="val 2174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lecture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3657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and its components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of AI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approaches and the Turing Test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and history of AI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agents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32588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 be able to: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92024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define the major branches of AI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real-world example of each branch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basic idea behind ML, neural networks, NLP, computer vision, expert systems and fuzzy logic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branches a given AI application uses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Family Tree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270248" y="123444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70248" y="12344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94460" y="2377440"/>
            <a:ext cx="9402775" cy="0"/>
          </a:xfrm>
          <a:prstGeom prst="line">
            <a:avLst/>
          </a:prstGeom>
          <a:noFill/>
          <a:ln w="25400">
            <a:solidFill>
              <a:srgbClr val="6B67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305" y="1965960"/>
            <a:ext cx="0" cy="411480"/>
          </a:xfrm>
          <a:prstGeom prst="line">
            <a:avLst/>
          </a:prstGeom>
          <a:noFill/>
          <a:ln w="25400">
            <a:solidFill>
              <a:srgbClr val="6B67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94460" y="2377440"/>
            <a:ext cx="0" cy="365760"/>
          </a:xfrm>
          <a:prstGeom prst="line">
            <a:avLst/>
          </a:prstGeom>
          <a:noFill/>
          <a:ln w="25400">
            <a:solidFill>
              <a:srgbClr val="6B67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432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743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75015" y="2377440"/>
            <a:ext cx="0" cy="365760"/>
          </a:xfrm>
          <a:prstGeom prst="line">
            <a:avLst/>
          </a:prstGeom>
          <a:noFill/>
          <a:ln w="25400">
            <a:solidFill>
              <a:srgbClr val="6B67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9195" y="27432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29195" y="2743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55570" y="2377440"/>
            <a:ext cx="0" cy="365760"/>
          </a:xfrm>
          <a:prstGeom prst="line">
            <a:avLst/>
          </a:prstGeom>
          <a:noFill/>
          <a:ln w="25400">
            <a:solidFill>
              <a:srgbClr val="6B67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9750" y="27432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09750" y="2743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036125" y="2377440"/>
            <a:ext cx="0" cy="365760"/>
          </a:xfrm>
          <a:prstGeom prst="line">
            <a:avLst/>
          </a:prstGeom>
          <a:noFill/>
          <a:ln w="25400">
            <a:solidFill>
              <a:srgbClr val="6B67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0305" y="27432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90305" y="2743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16680" y="2377440"/>
            <a:ext cx="0" cy="365760"/>
          </a:xfrm>
          <a:prstGeom prst="line">
            <a:avLst/>
          </a:prstGeom>
          <a:noFill/>
          <a:ln w="25400">
            <a:solidFill>
              <a:srgbClr val="6B67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70860" y="27432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70860" y="2743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797235" y="2377440"/>
            <a:ext cx="0" cy="365760"/>
          </a:xfrm>
          <a:prstGeom prst="line">
            <a:avLst/>
          </a:prstGeom>
          <a:noFill/>
          <a:ln w="25400">
            <a:solidFill>
              <a:srgbClr val="6B67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51415" y="27432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51415" y="2743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749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429195" y="3749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94415" cy="1325880"/>
          </a:xfrm>
          <a:prstGeom prst="roundRect">
            <a:avLst>
              <a:gd name="adj" fmla="val 689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22960" y="48006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techniques used by ALL branches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21208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PLANNING   +   KNOWLEDGE REPRESENTATION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Branch Imitates a Part of Intelligence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339535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of Intelligence (Lecture 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of AI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Learning, Neural Networks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understanding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Language Processing, Speech Recognition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Acting / movement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Robotics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reasoning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Systems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with vague values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Fuzzy Logic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solving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and Planning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/ memory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Representation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(ML)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23444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Samuel (1959): </a:t>
            </a: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of study that gives computers the ability to learn without being explicitly programmed.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45352" y="123444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19672" y="123444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Mitchell (1997): </a:t>
            </a: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learns from experience E for task T and performance P, if its performance at T, measured by P, improves with E.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email spam filter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515258" cy="2651760"/>
          </a:xfrm>
          <a:prstGeom prst="roundRect">
            <a:avLst>
              <a:gd name="adj" fmla="val 34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6301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3772814"/>
            <a:ext cx="309067" cy="30906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554480" y="36301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(T)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361688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email as spam or not spam.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338218" y="3429000"/>
            <a:ext cx="3515258" cy="2651760"/>
          </a:xfrm>
          <a:prstGeom prst="roundRect">
            <a:avLst>
              <a:gd name="adj" fmla="val 34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66818" y="36301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3772814"/>
            <a:ext cx="309067" cy="30906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344058" y="36301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(E)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4566818" y="4361688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emails already labelled by users.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8127797" y="3429000"/>
            <a:ext cx="3515258" cy="2651760"/>
          </a:xfrm>
          <a:prstGeom prst="roundRect">
            <a:avLst>
              <a:gd name="adj" fmla="val 34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56397" y="36301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3772814"/>
            <a:ext cx="309067" cy="30906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133637" y="36301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(P)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8356397" y="4361688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emails classified correctly.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Programming vs Machine Learning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programming: a human writes the rules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9202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0" y="1920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532120" y="2377440"/>
            <a:ext cx="82296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46520" y="1920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6B6780"/>
          </a:solidFill>
          <a:ln w="12700">
            <a:solidFill>
              <a:srgbClr val="6B67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778240" y="2377440"/>
            <a:ext cx="82296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92640" y="1920240"/>
            <a:ext cx="1947672" cy="914400"/>
          </a:xfrm>
          <a:prstGeom prst="roundRect">
            <a:avLst>
              <a:gd name="adj" fmla="val 80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0" y="1920240"/>
            <a:ext cx="1947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the computer discovers the rules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36576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3200400" y="36576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0040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532120" y="4114800"/>
            <a:ext cx="82296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46520" y="36576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778240" y="4114800"/>
            <a:ext cx="82296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92640" y="3657600"/>
            <a:ext cx="1947672" cy="914400"/>
          </a:xfrm>
          <a:prstGeom prst="roundRect">
            <a:avLst>
              <a:gd name="adj" fmla="val 80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92640" y="3657600"/>
            <a:ext cx="1947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model)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ML: YouTube recommendations, bank fraud detection, face unlock, price prediction.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Machine Learning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15258" cy="4709160"/>
          </a:xfrm>
          <a:prstGeom prst="roundRect">
            <a:avLst>
              <a:gd name="adj" fmla="val 260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03349" y="1645920"/>
            <a:ext cx="1005840" cy="10058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751" y="188732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78892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429000"/>
            <a:ext cx="28751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labelled examples (input + correct answer).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57200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5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detection, house-price prediction, flower classification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8218" y="1371600"/>
            <a:ext cx="3515258" cy="4709160"/>
          </a:xfrm>
          <a:prstGeom prst="roundRect">
            <a:avLst>
              <a:gd name="adj" fmla="val 260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92928" y="1645920"/>
            <a:ext cx="1005840" cy="100584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329" y="1887322"/>
            <a:ext cx="523037" cy="52303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21098" y="278892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658258" y="3429000"/>
            <a:ext cx="28751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patterns and groups in unlabelled data.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658258" y="457200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5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customers with similar shopping habits (clustering)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8127797" y="1371600"/>
            <a:ext cx="3515258" cy="4709160"/>
          </a:xfrm>
          <a:prstGeom prst="roundRect">
            <a:avLst>
              <a:gd name="adj" fmla="val 260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382506" y="1645920"/>
            <a:ext cx="1005840" cy="10058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908" y="1887322"/>
            <a:ext cx="523037" cy="52303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10677" y="2788920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8447837" y="3429000"/>
            <a:ext cx="28751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trial and error using rewards and punishments.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447837" y="4572000"/>
            <a:ext cx="28751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5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learning a video game; AlphaGo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 and Deep Learning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1887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Network: </a:t>
            </a: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computing model inspired by the brain, made of connected units called neurons arranged in layers. </a:t>
            </a:r>
            <a:r>
              <a:rPr lang="en-US" sz="17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</a:t>
            </a: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networks with many hidden layers.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731520" cy="73152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389120"/>
            <a:ext cx="731520" cy="73152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389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00200" y="3383280"/>
            <a:ext cx="1463040" cy="59436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1600200" y="4160520"/>
            <a:ext cx="1463040" cy="59436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103120" y="3291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4526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108960" y="3520440"/>
            <a:ext cx="1097280" cy="10972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08960" y="35204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bias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51960" y="4069080"/>
            <a:ext cx="59436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92040" y="361188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3611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26480" y="4069080"/>
            <a:ext cx="54864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720840" y="3840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349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artificial neuron (perceptron)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0" y="2468880"/>
            <a:ext cx="3870655" cy="3611880"/>
          </a:xfrm>
          <a:prstGeom prst="roundRect">
            <a:avLst>
              <a:gd name="adj" fmla="val 253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046720" y="2606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310896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input by a weight (its importance)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them up, plus a bias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 decides the output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= adjusting weights when wrong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Perceptron Learns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rule:  new weight = old weight + learning rate × error × input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12064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389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 2 the perceptron learns AND by itself in 4 epochs, starting from weights of zero.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35040" y="1645920"/>
            <a:ext cx="5608015" cy="1920240"/>
          </a:xfrm>
          <a:prstGeom prst="roundRect">
            <a:avLst>
              <a:gd name="adj" fmla="val 4762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1645920"/>
            <a:ext cx="50593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deciding whether to attend class. "Is there a quiz?" has a high weight; "Is it raining?" has a negative weight. Over time the student learns which factors really matter.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035040" y="3794760"/>
            <a:ext cx="5608015" cy="2286000"/>
          </a:xfrm>
          <a:prstGeom prst="roundRect">
            <a:avLst>
              <a:gd name="adj" fmla="val 40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309360" y="3931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XOR problem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4389120"/>
            <a:ext cx="505937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perceptron can learn AND and OR, but never XOR. Minsky &amp; Papert showed this in 1969; it contributed to the first AI winter. The solution is multi-layer networks, which led to deep learning.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Processing (NLP)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1887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</a:t>
            </a: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computers to understand, interpret and generate human (natural) languages such as English or Urdu.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410048" cy="1920240"/>
          </a:xfrm>
          <a:prstGeom prst="roundRect">
            <a:avLst>
              <a:gd name="adj" fmla="val 476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5786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721254"/>
            <a:ext cx="309067" cy="30906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54480" y="257860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NLU: Understanding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310128"/>
            <a:ext cx="495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meaning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understanding "Book a flight to Karachi tomorrow."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33008" y="2377440"/>
            <a:ext cx="5410048" cy="1920240"/>
          </a:xfrm>
          <a:prstGeom prst="roundRect">
            <a:avLst>
              <a:gd name="adj" fmla="val 476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61608" y="257860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2721254"/>
            <a:ext cx="309067" cy="30906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238848" y="257860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NLG: Generation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6461608" y="3310128"/>
            <a:ext cx="495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→ text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writing a weather report from temperature data.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48640" y="4572000"/>
            <a:ext cx="11094415" cy="1508760"/>
          </a:xfrm>
          <a:prstGeom prst="roundRect">
            <a:avLst>
              <a:gd name="adj" fmla="val 6061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822960" y="4572000"/>
            <a:ext cx="1054577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NLP is hard: ambiguity
</a:t>
            </a: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saw a man on the hill with a telescope."  Who has the telescope, me or the man? Humans use context; computers struggle.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NLP Tasks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detail in Lecture 12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44014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3288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love AI." → [I, love, AI, .]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338218" y="160020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6818" y="18013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44014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4058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53288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→ Urdu (Google Translate)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127797" y="160020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6397" y="18013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44014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33637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253288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food was terrible" → Negative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417880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321454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41788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91032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→ text (Siri, Google Assistant)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4338218" y="397764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66818" y="417880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4321454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44058" y="41788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/ Q&amp;A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4566818" y="491032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ELIZA, ChatGPT, customer-service bots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8127797" y="397764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56397" y="41788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4321454"/>
            <a:ext cx="309067" cy="30906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33637" y="41788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&amp; Grammar Check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8356397" y="491032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Word, Grammarly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 (CV)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1887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</a:t>
            </a: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computers to see, analyse and understand images and videos, similar to human vision.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658368" cy="658368"/>
          </a:xfrm>
          <a:prstGeom prst="rect">
            <a:avLst/>
          </a:prstGeom>
          <a:solidFill>
            <a:srgbClr val="0C0C0C"/>
          </a:solidFill>
          <a:ln w="9525">
            <a:solidFill>
              <a:srgbClr val="CFC6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81328" y="2514600"/>
            <a:ext cx="658368" cy="658368"/>
          </a:xfrm>
          <a:prstGeom prst="rect">
            <a:avLst/>
          </a:prstGeom>
          <a:solidFill>
            <a:srgbClr val="282828"/>
          </a:solidFill>
          <a:ln w="9525">
            <a:solidFill>
              <a:srgbClr val="CFC6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81328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39696" y="2514600"/>
            <a:ext cx="658368" cy="658368"/>
          </a:xfrm>
          <a:prstGeom prst="rect">
            <a:avLst/>
          </a:prstGeom>
          <a:solidFill>
            <a:srgbClr val="C8C8C8"/>
          </a:solidFill>
          <a:ln w="9525">
            <a:solidFill>
              <a:srgbClr val="CFC6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9696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98064" y="2514600"/>
            <a:ext cx="658368" cy="658368"/>
          </a:xfrm>
          <a:prstGeom prst="rect">
            <a:avLst/>
          </a:prstGeom>
          <a:solidFill>
            <a:srgbClr val="D2D2D2"/>
          </a:solidFill>
          <a:ln w="9525">
            <a:solidFill>
              <a:srgbClr val="CFC6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98064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172968"/>
            <a:ext cx="658368" cy="658368"/>
          </a:xfrm>
          <a:prstGeom prst="rect">
            <a:avLst/>
          </a:prstGeom>
          <a:solidFill>
            <a:srgbClr val="121212"/>
          </a:solidFill>
          <a:ln w="9525">
            <a:solidFill>
              <a:srgbClr val="CFC6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1729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81328" y="3172968"/>
            <a:ext cx="658368" cy="658368"/>
          </a:xfrm>
          <a:prstGeom prst="rect">
            <a:avLst/>
          </a:prstGeom>
          <a:solidFill>
            <a:srgbClr val="3C3C3C"/>
          </a:solidFill>
          <a:ln w="9525">
            <a:solidFill>
              <a:srgbClr val="CFC6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481328" y="31729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39696" y="3172968"/>
            <a:ext cx="658368" cy="658368"/>
          </a:xfrm>
          <a:prstGeom prst="rect">
            <a:avLst/>
          </a:prstGeom>
          <a:solidFill>
            <a:srgbClr val="DCDCDC"/>
          </a:solidFill>
          <a:ln w="9525">
            <a:solidFill>
              <a:srgbClr val="CFC6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39696" y="31729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98064" y="3172968"/>
            <a:ext cx="658368" cy="658368"/>
          </a:xfrm>
          <a:prstGeom prst="rect">
            <a:avLst/>
          </a:prstGeom>
          <a:solidFill>
            <a:srgbClr val="EBEBEB"/>
          </a:solidFill>
          <a:ln w="9525">
            <a:solidFill>
              <a:srgbClr val="CFC6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98064" y="31729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3831336"/>
            <a:ext cx="658368" cy="658368"/>
          </a:xfrm>
          <a:prstGeom prst="rect">
            <a:avLst/>
          </a:prstGeom>
          <a:solidFill>
            <a:srgbClr val="191919"/>
          </a:solidFill>
          <a:ln w="9525">
            <a:solidFill>
              <a:srgbClr val="CFC6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831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481328" y="3831336"/>
            <a:ext cx="658368" cy="658368"/>
          </a:xfrm>
          <a:prstGeom prst="rect">
            <a:avLst/>
          </a:prstGeom>
          <a:solidFill>
            <a:srgbClr val="5A5A5A"/>
          </a:solidFill>
          <a:ln w="9525">
            <a:solidFill>
              <a:srgbClr val="CFC6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481328" y="3831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39696" y="3831336"/>
            <a:ext cx="658368" cy="658368"/>
          </a:xfrm>
          <a:prstGeom prst="rect">
            <a:avLst/>
          </a:prstGeom>
          <a:solidFill>
            <a:srgbClr val="F0F0F0"/>
          </a:solidFill>
          <a:ln w="9525">
            <a:solidFill>
              <a:srgbClr val="CFC6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139696" y="3831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98064" y="3831336"/>
            <a:ext cx="658368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CFC6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98064" y="3831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" y="4489704"/>
            <a:ext cx="658368" cy="658368"/>
          </a:xfrm>
          <a:prstGeom prst="rect">
            <a:avLst/>
          </a:prstGeom>
          <a:solidFill>
            <a:srgbClr val="1E1E1E"/>
          </a:solidFill>
          <a:ln w="9525">
            <a:solidFill>
              <a:srgbClr val="CFC6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44897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481328" y="4489704"/>
            <a:ext cx="658368" cy="658368"/>
          </a:xfrm>
          <a:prstGeom prst="rect">
            <a:avLst/>
          </a:prstGeom>
          <a:solidFill>
            <a:srgbClr val="787878"/>
          </a:solidFill>
          <a:ln w="9525">
            <a:solidFill>
              <a:srgbClr val="CFC6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481328" y="44897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139696" y="4489704"/>
            <a:ext cx="658368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CFC6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139696" y="44897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98064" y="4489704"/>
            <a:ext cx="6583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FC6E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798064" y="44897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3749040" y="251460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computer, an image is a grid of numbers (pixels, 0 = black … 255 = white).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colour image stores 3 numbers per pixel: Red, Green, Blue.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675120" y="2377440"/>
            <a:ext cx="4967935" cy="3703320"/>
          </a:xfrm>
          <a:prstGeom prst="roundRect">
            <a:avLst>
              <a:gd name="adj" fmla="val 2469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949440" y="2514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CV tasks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3017520"/>
            <a:ext cx="44192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or dog?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cars and pedestrians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unlock, biometric verification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text from scans or number plates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disease in X-rays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4406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 Acquire image → Pre-process → Extract features (edges, shapes) → Recognize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1887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</a:t>
            </a: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with designing and programming robots: physical machines that sense their environment, decide, and act in the physical world.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51560" y="2468880"/>
            <a:ext cx="1097280" cy="10972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907" y="2732227"/>
            <a:ext cx="570586" cy="57058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3657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069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cameras, sensors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286000" y="3017520"/>
            <a:ext cx="96012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383280" y="2468880"/>
            <a:ext cx="1097280" cy="10972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627" y="2732227"/>
            <a:ext cx="570586" cy="57058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63240" y="3657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3063240" y="4069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plan and decide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617720" y="3017520"/>
            <a:ext cx="96012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715000" y="2468880"/>
            <a:ext cx="1097280" cy="10972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347" y="2732227"/>
            <a:ext cx="570586" cy="57058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3657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5394960" y="4069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motors, arms, wheels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4846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the cycle repeats continuously — the agent model from Lecture 1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635240" y="2377440"/>
            <a:ext cx="4007815" cy="3703320"/>
          </a:xfrm>
          <a:prstGeom prst="roundRect">
            <a:avLst>
              <a:gd name="adj" fmla="val 2469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790956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7909560" y="3017520"/>
            <a:ext cx="345917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robot arms (welding, painting cars)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vacuum cleaners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rovers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robots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drones, warehouse robots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Systems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1887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System: </a:t>
            </a: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that uses knowledge and inference rules obtained from human experts to solve problems in a specific domain at the level of a human expert.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6B6780"/>
          </a:solidFill>
          <a:ln w="12700">
            <a:solidFill>
              <a:srgbClr val="6B67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0" y="384048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3840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77840" y="37490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7840" y="3749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(applies rules)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0" y="24231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24231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(facts + IF-THEN rules)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0" y="51663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5166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Facility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("why?"  "how?")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148840" y="4251960"/>
            <a:ext cx="54864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92040" y="4251960"/>
            <a:ext cx="64008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6766560" y="3383280"/>
            <a:ext cx="0" cy="32004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766560" y="4800600"/>
            <a:ext cx="0" cy="32004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95360" y="2423160"/>
            <a:ext cx="3047695" cy="3657600"/>
          </a:xfrm>
          <a:prstGeom prst="roundRect">
            <a:avLst>
              <a:gd name="adj" fmla="val 3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82396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examples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823960" y="3017520"/>
            <a:ext cx="25904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MYCIN: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blood infections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DENDRAL: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chemical structures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XCON: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computer systems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System Shells  ·  Expert Systems vs ML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1143000"/>
          </a:xfrm>
          <a:prstGeom prst="roundRect">
            <a:avLst>
              <a:gd name="adj" fmla="val 80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28016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 Shell: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expert system with an empty knowledge base. The inference engine and interface are ready; you only add rules for your domain (e.g. CLIPS, Jess). Covered in Lectures 4, 9 and 11.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95928"/>
                <a:gridCol w="3986784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System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rules come from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by a human expert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automatically from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explain its answer?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"because of fever, headache..."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difficult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large data?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Brittle: knows nothing outside its rules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lots of good-quality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 Logic (Lotfi Zadeh, 1965)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1887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Logic: </a:t>
            </a: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values can be any number between 0 and 1, not just true (1) or false (0). It lets computers reason with vague concepts like "hot", "tall" or "fast".</a:t>
            </a:r>
            <a:endParaRPr lang="en-US" sz="1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377440"/>
          <a:ext cx="61264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423160"/>
          <a:ext cx="46936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23134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Crisp logic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Fuzzy logic (chart)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°C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0.25, Warm 0.33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°C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1.00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°C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 0.33, Hot 0.25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949440" y="4389120"/>
            <a:ext cx="46936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logic puts each value in exactly one set and jumps suddenly at the boundary. In fuzzy logic a value can partly belong to two sets at once, so outputs change smoothly.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washing machines, air conditioners, camera autofocus, anti-lock brakes.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Techniques: Search and Knowledge Representation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94960" cy="4800600"/>
          </a:xfrm>
          <a:prstGeom prst="roundRect">
            <a:avLst>
              <a:gd name="adj" fmla="val 1905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08760"/>
            <a:ext cx="731520" cy="73152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684325"/>
            <a:ext cx="380390" cy="3803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508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Planning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423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sequence of actions from an initial state to a goal state.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004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Maps: shortest route Islamabad → Murree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programs looking ahead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8-puzzle, Rubik's cube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timetable scheduling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532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5, 6, 7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45352" y="1280160"/>
            <a:ext cx="5394960" cy="4800600"/>
          </a:xfrm>
          <a:prstGeom prst="roundRect">
            <a:avLst>
              <a:gd name="adj" fmla="val 1905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19672" y="1508760"/>
            <a:ext cx="731520" cy="73152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237" y="168432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34072" y="15087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Representation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6519672" y="2423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 — "a sparrow is a bird, and birds can fly" — four ways: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519672" y="32004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Logic:   bird(sparrow)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∀x bird(x) → canFly(x)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   IF X is bird THEN X can fly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Net:     sparrow -is-a-&gt; bird -can-&gt; fly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Frame:   Sparrow | is-a: Bird | can: Fly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519672" y="5532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 8, 9, 10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Applications Combine Several Branches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817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Branches involved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Self-driving car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Vision, Machine Learning, Search &amp; Planning, Robotics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assistant (Siri, Google Assistant)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 Recognition, NLP, Machine Learning, Knowledge Representation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Maps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(shortest route), Machine Learning (traffic prediction)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diagnosis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Systems, Knowledge Representation, Machine Learning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washing machine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Fuzzy Logic, sensors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unlock on a phone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Vision, Deep Learning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7784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557784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branches would a chatbot for a university admission office need?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Colab Lab 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CS4305_Lab02.ipynb in Google Colab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44014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1: Decision tree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3288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on the Iris flowers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38218" y="160020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6818" y="18013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44014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4058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2: Perceptron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53288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neuron learns the AND gate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127797" y="160020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6397" y="18013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44014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33637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3: NLP with NLTK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253288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stop words, stemming, sentiment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417880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321454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41788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4: Computer vision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91032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detection with OpenCV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4338218" y="397764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66818" y="417880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4321454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44058" y="41788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5: Expert system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4566818" y="491032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medical diagnosis with explanations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8127797" y="397764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56397" y="41788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4321454"/>
            <a:ext cx="309067" cy="30906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33637" y="41788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6: Fuzzy logic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8356397" y="491032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Temperature-based fan-speed controller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learn rules from data (supervised, unsupervised, reinforcement).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brain-inspired neurons that learn by adjusting weights.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and generating human language; ambiguity makes it hard.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images, which are grids of pixel numbers.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→ Think → Act in the physical world.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human-written rules + inference engine + explanation facility.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Logic: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truth between 0 and 1 for vague concepts.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Knowledge Representation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core techniques beneath all branches.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ML using Tom Mitchell's definition. Identify T, E and P for a system that predicts whether a student will pass.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supervised, unsupervised and reinforcement learning with one example each.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perceptron and explain how it learns. Why can't a single perceptron learn XOR?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NLP. Differentiate NLU and NLG. Why is ambiguity a problem?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computer "see" an image? List four computer vision tasks.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architecture of an expert system. What is an expert system shell?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fuzzy logic? How is it different from crisp logic? Give two applications.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branches of AI used in a self-driving car.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 I: The Prolog Language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· Rules · Queries · Unification · Backtracking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CS4305 Lecture 2 - Branches of AI</dc:title>
  <dc:subject>PptxGenJS Presentation</dc:subject>
  <dc:creator>CS4305 Artificial Intelligence</dc:creator>
  <cp:lastModifiedBy>CS4305 Artificial Intelligence</cp:lastModifiedBy>
  <cp:revision>1</cp:revision>
  <dcterms:created xsi:type="dcterms:W3CDTF">2026-09-11T09:03:38Z</dcterms:created>
  <dcterms:modified xsi:type="dcterms:W3CDTF">2026-09-11T09:03:38Z</dcterms:modified>
</cp:coreProperties>
</file>