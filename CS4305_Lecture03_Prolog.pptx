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LECTURE 3  ·  AI TOOLS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Prolog: Programming in Logic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computer WHAT is true — let it work out the answers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Today's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of AI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use rules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 is a core technique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 learn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of programming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660904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1518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rules and questions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344728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015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Prolog finds answers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4233672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1879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and lists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5020056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743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expert system in Prolog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Program a Computer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46304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6166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463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HOW (Python, C++)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every step, like giving a taxi driver turn-by-turn directions.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3108960"/>
            <a:ext cx="4846320" cy="1463040"/>
          </a:xfrm>
          <a:prstGeom prst="roundRect">
            <a:avLst>
              <a:gd name="adj" fmla="val 6250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097280" y="32918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people: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p.parent == 'ahmed':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print(p.name)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imperative programming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45352" y="12801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9672" y="146304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1" y="161665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42632" y="1463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WHAT (Prolog)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519672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facts, like just telling the driver the address. The computer finds the way.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519672" y="3108960"/>
            <a:ext cx="4846320" cy="1463040"/>
          </a:xfrm>
          <a:prstGeom prst="roundRect">
            <a:avLst>
              <a:gd name="adj" fmla="val 6250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793992" y="32918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parent(ahmed, bilal).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parent(ahmed, X).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6519672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declarative (logic) programming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Prolog?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70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PROgramming in LOGic. A language where a program is a set of facts and rules, and running the program means asking questions.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76148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90413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76148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in 1972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493008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Alain Colmerauer in France.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390824" y="256032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19424" y="276148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070" y="290413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396664" y="276148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AI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619424" y="3493008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expert systems, understanding language.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233008" y="256032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1608" y="276148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2904134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276148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search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61608" y="3493008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searches for answers by itself — no loops needed.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9075191" y="256032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03791" y="276148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438" y="2904134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081031" y="276148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used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303791" y="3493008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SWI-Prolog is free; parts of IBM Watson used Prolog.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Prolog Program Has Only 3 Things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15258" cy="4343400"/>
          </a:xfrm>
          <a:prstGeom prst="roundRect">
            <a:avLst>
              <a:gd name="adj" fmla="val 260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49069" y="1554480"/>
            <a:ext cx="914400" cy="91440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525" y="1773936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60604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are simply true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3840480"/>
            <a:ext cx="3058058" cy="1600200"/>
          </a:xfrm>
          <a:prstGeom prst="roundRect">
            <a:avLst>
              <a:gd name="adj" fmla="val 5714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051560" y="4023360"/>
            <a:ext cx="2509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parent(ahmed, bilal).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38218" y="1325880"/>
            <a:ext cx="3515258" cy="4343400"/>
          </a:xfrm>
          <a:prstGeom prst="roundRect">
            <a:avLst>
              <a:gd name="adj" fmla="val 260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38648" y="1554480"/>
            <a:ext cx="914400" cy="91440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104" y="177393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38218" y="260604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4521098" y="310896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knowledge made from facts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566818" y="3840480"/>
            <a:ext cx="3058058" cy="1600200"/>
          </a:xfrm>
          <a:prstGeom prst="roundRect">
            <a:avLst>
              <a:gd name="adj" fmla="val 5714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841138" y="4023360"/>
            <a:ext cx="2509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grandparent(X,Z) :-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parent(X,Y),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parent(Y,Z).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127797" y="1325880"/>
            <a:ext cx="3515258" cy="4343400"/>
          </a:xfrm>
          <a:prstGeom prst="roundRect">
            <a:avLst>
              <a:gd name="adj" fmla="val 260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428226" y="1554480"/>
            <a:ext cx="914400" cy="9144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682" y="1773936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27797" y="260604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8310677" y="310896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 ask Prolog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356397" y="3840480"/>
            <a:ext cx="3058058" cy="1600200"/>
          </a:xfrm>
          <a:prstGeom prst="roundRect">
            <a:avLst>
              <a:gd name="adj" fmla="val 5714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8630717" y="4023360"/>
            <a:ext cx="2509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parent(ahmed, X).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bilal 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ayesha.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Facts: Writing Down What Is True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457200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male(ahmed).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female(fatima).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parent(ahmed, bilal).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parent(fatima, bilal).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likes(sara, mangoes).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25880"/>
          <a:ext cx="569945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04769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Prolog fact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it 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male(ahmed).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 is male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parent(ahmed, bilal).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 is a parent of Bilal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likes(sara, mangoes).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 likes mangoes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434840"/>
            <a:ext cx="11094415" cy="1645920"/>
          </a:xfrm>
          <a:prstGeom prst="roundRect">
            <a:avLst>
              <a:gd name="adj" fmla="val 5556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spelling rules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93776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predicate(arguments)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relation name comes first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letters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names of things: ahmed, bilal, mangoes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stop .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every fact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Example: A Family Tree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one parent fact. This is our knowledge base.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img/fig_family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40" y="1463040"/>
            <a:ext cx="861021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Questions (Queries)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questions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48463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parent(ahmed, bilal).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parent(bilal, ahmed).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"Who...?" questions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1892808"/>
            <a:ext cx="48463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parent(ahmed, X).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bilal 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ayesha.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female(W).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fatima ; W = ayesha ; ...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4359859"/>
            <a:ext cx="332842" cy="33284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45920" y="3977640"/>
            <a:ext cx="9768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start with a CAPITAL letter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Who, Child). Prolog fills them in with every value that makes the question true. Typing ; asks for the next answer.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Closed-world rule: if Prolog cannot find it in the facts, the answer is false.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Rules: Making New Knowledge from Facts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grandparent(X, Z)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77640" y="1600200"/>
            <a:ext cx="822960" cy="914400"/>
          </a:xfrm>
          <a:prstGeom prst="roundRect">
            <a:avLst>
              <a:gd name="adj" fmla="val 888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77640" y="1600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:-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937760" y="16002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600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parent(X, Y)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26680" y="1600200"/>
            <a:ext cx="640080" cy="914400"/>
          </a:xfrm>
          <a:prstGeom prst="roundRect">
            <a:avLst>
              <a:gd name="adj" fmla="val 114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26680" y="16002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503920" y="16002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1600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parent(Y, Z)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201400" y="160020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(conclusion)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606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606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(conditions)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38328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3536899"/>
            <a:ext cx="332842" cy="3328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645920" y="3246120"/>
            <a:ext cx="9768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a grandparent of Z  IF  X is a parent of Y  AND  Y is a parent of Z.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94415" cy="914400"/>
        </p:xfrm>
        <a:graphic>
          <a:graphicData uri="http://schemas.openxmlformats.org/drawingml/2006/table">
            <a:tbl>
              <a:tblPr/>
              <a:tblGrid>
                <a:gridCol w="1947672"/>
                <a:gridCol w="22860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:-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\+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with OR:   parent(X, Y) :- father(X, Y) ; mother(X, Y).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Rules for Our Family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father(X, Y)  :- parent(X, Y), male(X).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mother(X, Y)  :- parent(X, Y), female(X).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sibling(X, Y) :- parent(P, X), parent(P, Y), X \= Y.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simple English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father(X, 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is the father of Y if X is a parent of Y and X is male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mother(X, 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is the mother of Y if X is a parent of Y and X is female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sibling(X, 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and Y are siblings if they share a parent P and are not the same person (\= means not equal)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5486400"/>
            <a:ext cx="502920" cy="50292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560710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534924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rule grandmother(X, Z). Which facts and rules will it use?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Prolog Answers (1): Matching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compares the question with each fact. This matching is called UNIFICATION.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1645920"/>
                <a:gridCol w="34134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parent(ahmed, 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parent(ahmed, bilal)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bilal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parent(ahmed, 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parent(bilal, usman)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 ≠ bilal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parent(P, usman)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parent(bilal, usman)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bilal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male(sara)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male(ahmed)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 ≠ ahmed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177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498348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1370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4617720"/>
            <a:ext cx="9768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rules: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 name and number of arguments must be the same; two names must be identical; a variable can match anything (and then keeps that value).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Prolog Answers (2): Backtracking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?- grandparent(ahmed, G).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img/fig_backtr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598" y="1417320"/>
            <a:ext cx="8912500" cy="4069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= going back to the last choice and trying the next option. This is a built-in DEPTH-FIRST SEARCH (Lecture 6).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Recursion: A Rule That Uses Itself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img/fig_ancestor_recur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7320" y="1280160"/>
            <a:ext cx="6877055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6908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42519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ancestor(X, Y) :- parent(X, Y).                   % base case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ancestor(X, Y) :- parent(X, Z), ancestor(Z, Y).  % recursive case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ancestor(A, zainab).   →   A = ayesha ; A = ahmed ; A = fatima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in Prolog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5" name="Image 0" descr="img/fig_list_head_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4549"/>
            <a:ext cx="5852160" cy="18172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280160"/>
            <a:ext cx="4967935" cy="2651760"/>
          </a:xfrm>
          <a:prstGeom prst="roundRect">
            <a:avLst>
              <a:gd name="adj" fmla="val 3448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949440" y="141732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X in the list?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847088"/>
            <a:ext cx="4419295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my_member(X, [X|_]).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my_member(X, [_|T]) :- my_member(X, T).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my_member(sara, [ali, sara]).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3515258" cy="1874520"/>
          </a:xfrm>
          <a:prstGeom prst="roundRect">
            <a:avLst>
              <a:gd name="adj" fmla="val 487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440740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455005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44074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5138928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the Head → found it!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338218" y="4206240"/>
            <a:ext cx="3515258" cy="1874520"/>
          </a:xfrm>
          <a:prstGeom prst="roundRect">
            <a:avLst>
              <a:gd name="adj" fmla="val 487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66818" y="44074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455005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44058" y="44074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66818" y="5138928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look for X in the Tail.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127797" y="4206240"/>
            <a:ext cx="3515258" cy="1874520"/>
          </a:xfrm>
          <a:prstGeom prst="roundRect">
            <a:avLst>
              <a:gd name="adj" fmla="val 487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56397" y="440740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4550054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33637" y="44074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 (underscore)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356397" y="5138928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"I don't care about this value".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Arithmetic: Use "is"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035040" cy="4206240"/>
          </a:xfrm>
          <a:prstGeom prst="roundRect">
            <a:avLst>
              <a:gd name="adj" fmla="val 2174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5486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X is 7 * 6 + 2.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44.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factorial(0, 1).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factorial(N, F) :- N &gt; 0, N1 is N - 1,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factorial(N1, F1),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F is N * F1.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factorial(5, F).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120.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25880"/>
          <a:ext cx="47850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767535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write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Prolog gives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2 + 3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2+3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only matches shapes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is 2 + 3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calculates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&gt;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0" y="4114800"/>
            <a:ext cx="4785055" cy="1097280"/>
          </a:xfrm>
          <a:prstGeom prst="roundRect">
            <a:avLst>
              <a:gd name="adj" fmla="val 833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86600" y="4343400"/>
            <a:ext cx="640080" cy="6400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0219" y="44970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55280" y="4114800"/>
            <a:ext cx="34591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writing </a:t>
            </a: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 + 3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expecting 5.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Prolog as a Tiny Expert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61264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observations (facts)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has(pingu, feathers).  lays(pingu, eggs).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lives(pingu, water).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expert rules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class(X, bird) :- has(X, feathers), lays(X, eggs).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animal(X, penguin) :- class(X, bird),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\+ can(X, fly), lives(X, water).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animal(pingu, T).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penguin.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0" y="1325880"/>
            <a:ext cx="4144975" cy="1402080"/>
          </a:xfrm>
          <a:prstGeom prst="roundRect">
            <a:avLst>
              <a:gd name="adj" fmla="val 652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26680" y="152704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9326" y="1669694"/>
            <a:ext cx="309067" cy="3090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03920" y="1527048"/>
            <a:ext cx="295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258568"/>
            <a:ext cx="3687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 and rules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98080" y="3002280"/>
            <a:ext cx="4144975" cy="1402080"/>
          </a:xfrm>
          <a:prstGeom prst="roundRect">
            <a:avLst>
              <a:gd name="adj" fmla="val 652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26680" y="320344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326" y="3346094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503920" y="3203448"/>
            <a:ext cx="295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726680" y="3934968"/>
            <a:ext cx="3687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Prolog's matching + backtracking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498080" y="4678680"/>
            <a:ext cx="4144975" cy="1402080"/>
          </a:xfrm>
          <a:prstGeom prst="roundRect">
            <a:avLst>
              <a:gd name="adj" fmla="val 652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26680" y="487984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326" y="5022494"/>
            <a:ext cx="309067" cy="30906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03920" y="4879848"/>
            <a:ext cx="295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726680" y="5611368"/>
            <a:ext cx="3687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?- question prompt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3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CS4305_Lab03_Prolog.ipynb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SWI-Prolog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Colab in about 30 seconds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tree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rules and questions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Prolog find all grandchildren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37216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642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ancestor rule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338218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37216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642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arithmetic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length, sum, factorial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127797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3721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38642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animals with rules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starts with a 📊 picture that explains the idea, then the 💻 code, then 📝 lab tasks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declarative: you describe WHAT is true, not HOW to compute it.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simple truths; </a:t>
            </a: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knowledge; </a:t>
            </a: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:-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IF, </a:t>
            </a: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AND. Variables start with a capital letter.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Unification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question with facts; </a:t>
            </a: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all answers.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base case and a recursive case; lists use [Head | Tail].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works like an expert system: knowledge base + inference engine.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imperative and declarative programming with an example.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facts, rules and queries in Prolog? Give one example of each.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facts for a family of 3 generations and a rule for grandmother(X, Y).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unification? Show whether parent(P, sara) matches parent(bilal, sara).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backtracking using ?- grandparent(ahmed, G).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recursive Prolog rule to find the length of a list.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X = 2 + 3 and X is 2 + 3?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LISP and Expert System Shells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list-processing language of AI, and ready-made expert systems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3 - Prolog</dc:title>
  <dc:subject>PptxGenJS Presentation</dc:subject>
  <dc:creator>CS4305 Artificial Intelligence</dc:creator>
  <cp:lastModifiedBy>CS4305 Artificial Intelligence</cp:lastModifiedBy>
  <cp:revision>1</cp:revision>
  <dcterms:created xsi:type="dcterms:W3CDTF">2026-09-11T14:00:33Z</dcterms:created>
  <dcterms:modified xsi:type="dcterms:W3CDTF">2026-09-11T14:00:33Z</dcterms:modified>
</cp:coreProperties>
</file>