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 ·  LECTURE 4  ·  AI TOOLS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LISP and Expert System Shells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list-processing language of AI, and ready-made expert systems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and Today's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lecture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Prolog: facts, rules, queries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and backtracking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as an expert system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3258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will learn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37760" y="1874520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828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LISP is and why AI used it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37760" y="2660904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2660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61518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prefix notation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37760" y="3447288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40156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conditions, recursion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4233672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418795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expert system shell is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37760" y="5020056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5020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97433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shells: CLIPS and others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LISP?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709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LISP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LISt Processing. Created by John McCarthy in 1958 — the same person who named "Artificial Intelligence". It was the main AI language for about 30 years.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2567864" cy="301752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7157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858414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715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old, still alive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447288"/>
            <a:ext cx="2110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second-oldest high-level language still used (after FORTRAN).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390824" y="2514600"/>
            <a:ext cx="2567864" cy="301752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19424" y="27157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070" y="2858414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396664" y="2715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 list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3619424" y="3447288"/>
            <a:ext cx="2110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 and programs are written as lists in brackets.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233008" y="2514600"/>
            <a:ext cx="2567864" cy="301752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1608" y="27157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2858414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8848" y="2715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 dialects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461608" y="3447288"/>
            <a:ext cx="2110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Lisp, Scheme, Clojure. The Emacs editor also uses LISP.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9075191" y="2514600"/>
            <a:ext cx="2567864" cy="301752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303791" y="271576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6438" y="2858414"/>
            <a:ext cx="309067" cy="30906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081031" y="2715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us new ideas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9303791" y="3447288"/>
            <a:ext cx="2110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collection, if-then-else and the interactive prompt (REPL) came from LISP.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an Atom or a List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are called S-expressions (symbolic expressions)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86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thing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17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30175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3017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519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91840" y="425196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42519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"hello"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45352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19672" y="1783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2331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inside brackets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519672" y="30175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3017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(1 2 3)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988552" y="30175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88552" y="3017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(apple mango)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19672" y="425196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42519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(+ 2 3)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988552" y="425196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88552" y="42519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(b c) d)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Prefix Notation: The Operator Comes First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5" name="Image 0" descr="img/fig_expr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0655"/>
            <a:ext cx="6766560" cy="2619409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371600"/>
          <a:ext cx="405353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4185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+ 3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(+ 2 3)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 + 3) × 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(* (+ 2 3) 4)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10 − 4 − 1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(- 10 4 1)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of 7, 21, 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(max 7 21 3)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84632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77240" y="507492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522853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45920" y="4846320"/>
            <a:ext cx="9768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operator  value  value ... ). LISP always works out the innermost brackets first — just like BODMAS.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Quote ' : Data or Program?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quote: RUN it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38528"/>
            <a:ext cx="48463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(+ 1 2)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3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45352" y="13716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19672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quote: keep it as DATA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1938528"/>
            <a:ext cx="48463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'(+ 1 2)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(+ 1 2)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70332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3856939"/>
            <a:ext cx="332842" cy="33284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45920" y="3429000"/>
            <a:ext cx="9768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AI: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is just a list, so an AI program can build a new list (a new program) and then run it. This is called "code is data".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22960" y="502920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(defparameter expr '(+ 10 20 30))   ; store a program as data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(car expr)    → +                   ; look inside 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(eval expr)   → 60                  ; now run it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Lists: car, cdr, cons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img/fig_cons_cel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522" y="1234440"/>
            <a:ext cx="8560651" cy="228600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  <a:gridCol w="4023360"/>
                <a:gridCol w="277337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element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(car '(apple mango banana))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except the first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(cdr '(apple mango banana))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(MANGO BANANA)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to the front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(cons 'orange '(apple mango))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(ORANGE APPLE MANGO)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a list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(list 1 2 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(1 2 3)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Your Own Functions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(defun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48840" y="14630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14630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06240" y="14630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6240" y="14630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715000" y="146304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14630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(* x x))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71500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(the answer)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12480" y="1371600"/>
            <a:ext cx="3230575" cy="1371600"/>
          </a:xfrm>
          <a:prstGeom prst="roundRect">
            <a:avLst>
              <a:gd name="adj" fmla="val 6667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0" y="1554480"/>
            <a:ext cx="2681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(square 7)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49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inputs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675888"/>
            <a:ext cx="48463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(defun average (a b)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(/ (+ a b) 2))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(average 70 90)   → 80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45352" y="310896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519672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519672" y="3675888"/>
            <a:ext cx="48463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(defparameter marks 78)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(setq marks 85)   ; change 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            → 85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Decisions: if and cond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two choices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92808"/>
            <a:ext cx="484632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(defun pass-or-fail (marks)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(if (&gt;= marks 50)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"Pass"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"Fail"))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(pass-or-fail 45) → "Fail"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5352" y="132588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19672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cond: many choices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1892808"/>
            <a:ext cx="484632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(defun grade (marks)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(cond ((&gt;= marks 85) 'A)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((&gt;= marks 70) 'B)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((&gt;= marks 50) 'C)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(t 'F)))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(grade 78) → 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98348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5137099"/>
            <a:ext cx="332842" cy="33284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45920" y="4709160"/>
            <a:ext cx="9768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test then else)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one of two.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tests from top to bottom and stops at the first true one;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"otherwise".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 in LISP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5" name="Image 0" descr="img/fig_factorial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30315"/>
            <a:ext cx="6675120" cy="22487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280160"/>
            <a:ext cx="4236415" cy="2926080"/>
          </a:xfrm>
          <a:prstGeom prst="roundRect">
            <a:avLst>
              <a:gd name="adj" fmla="val 3125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680960" y="1463040"/>
            <a:ext cx="368777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(defun factorial (n)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(if (= n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(* n (factorial (- n 1)))))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(factorial 5) → 120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06640" y="4389120"/>
            <a:ext cx="4236415" cy="1463040"/>
          </a:xfrm>
          <a:prstGeom prst="roundRect">
            <a:avLst>
              <a:gd name="adj" fmla="val 6250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80960" y="4572000"/>
            <a:ext cx="3687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(defun my-length (lst)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(if (null lst)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(+ 1 (my-length (cdr lst)))))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2120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stops the recursion. Recursive case makes the problem smaller.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Was LISP the Language of AI?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10048" cy="2217420"/>
          </a:xfrm>
          <a:prstGeom prst="roundRect">
            <a:avLst>
              <a:gd name="adj" fmla="val 412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727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15414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57276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Symbols, not just numbers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04288"/>
            <a:ext cx="495284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 with ideas like (bird can fly). LISP handles symbols easily.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33008" y="1371600"/>
            <a:ext cx="5410048" cy="2217420"/>
          </a:xfrm>
          <a:prstGeom prst="roundRect">
            <a:avLst>
              <a:gd name="adj" fmla="val 412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61608" y="15727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54" y="1715414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38848" y="157276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are natural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461608" y="2304288"/>
            <a:ext cx="495284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Sentences, rules, trees and plans can all be written as lists.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48640" y="3863340"/>
            <a:ext cx="5410048" cy="2217420"/>
          </a:xfrm>
          <a:prstGeom prst="roundRect">
            <a:avLst>
              <a:gd name="adj" fmla="val 412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406450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207154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54480" y="406450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data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796028"/>
            <a:ext cx="495284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can create and change other programs — useful for learning systems.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233008" y="3863340"/>
            <a:ext cx="5410048" cy="2217420"/>
          </a:xfrm>
          <a:prstGeom prst="roundRect">
            <a:avLst>
              <a:gd name="adj" fmla="val 412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61608" y="406450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4207154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38848" y="406450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6461608" y="4796028"/>
            <a:ext cx="495284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 expression, see the answer immediately (REPL). Great for experiments.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LISP vs Prolog vs Python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  <a:gridCol w="3017520"/>
                <a:gridCol w="2956255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Prolog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(functions &amp; lists)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(facts &amp; rules)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imperative (steps)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idea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is a list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questions, get answers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read, huge libraries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built in?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(backtracking)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 for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AI, symbolic reasoning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systems, language rules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AI, machine learning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(+ 2 3)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is 2 + 3.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2 + 3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System Shells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an expert system without writing the engine yourself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Expert System Shell?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5" name="Image 0" descr="img/fig_s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74829"/>
            <a:ext cx="6766560" cy="25025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371600"/>
            <a:ext cx="4144975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26680" y="210312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299" y="225673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95360" y="1371600"/>
            <a:ext cx="28190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an expert system with an EMPTY knowledge base. The inference engine and user interface are already built. You only add the rules.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498080" y="3657600"/>
            <a:ext cx="4144975" cy="1645920"/>
          </a:xfrm>
          <a:prstGeom prst="roundRect">
            <a:avLst>
              <a:gd name="adj" fmla="val 5556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26680" y="416052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299" y="431413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595360" y="3657600"/>
            <a:ext cx="28190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shell is like an empty exam paper template — the format is ready, the teacher only adds the questions.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 = Knowledge Base + Inference Engine + User Interface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a Shell?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7864" cy="292608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727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15414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build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04288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program the reasoning engine again for every project.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90824" y="1371600"/>
            <a:ext cx="2567864" cy="292608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9424" y="15727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715414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96664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can add rules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19424" y="2304288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or engineers write IF-THEN rules, not complex code.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233008" y="1371600"/>
            <a:ext cx="2567864" cy="292608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1608" y="15727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715414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38848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update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61608" y="2304288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rule without touching the engine.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9075191" y="1371600"/>
            <a:ext cx="2567864" cy="292608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03791" y="157276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715414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081031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shell, many uses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303791" y="2304288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shell can hold medical, car-repair or loan rules.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548640" y="4572000"/>
            <a:ext cx="11094415" cy="1508760"/>
          </a:xfrm>
          <a:prstGeom prst="roundRect">
            <a:avLst>
              <a:gd name="adj" fmla="val 60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0"/>
          <p:cNvSpPr txBox="1"/>
          <p:nvPr/>
        </p:nvSpPr>
        <p:spPr>
          <a:xfrm>
            <a:off x="822960" y="4572000"/>
            <a:ext cx="1054577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after MYCIN (medical expert system, 1970s) was built, its doctors' rules were removed. The empty engine that remained was called EMYCIN ("Empty MYCIN") — one of the first shells.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Well-Known Expert System Shells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5608015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Made by / year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EMYCIN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Stanford, 1970s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MYCIN with the medical knowledge removed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NASA, 1985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fast, still used; we use it in Lab 4 (clipspy)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Sandia National Labs, 1995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CLIPS-like shell written in Java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Drools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Hat (open source)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rules in banking and insurance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e2gLite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eXpertise2Go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shell for building web expert systems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Rule in CLIPS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669280" cy="3566160"/>
          </a:xfrm>
          <a:prstGeom prst="roundRect">
            <a:avLst>
              <a:gd name="adj" fmla="val 2564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92808"/>
            <a:ext cx="5120640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(defrule dengue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(symptom fever)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(symptom joint_pain)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(symptom rash)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(assert (diagnosis dengue)))</a:t>
            </a:r>
            <a:endParaRPr lang="en-US" sz="1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325880"/>
          <a:ext cx="51508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7337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defrule dengue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a rule called dengue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(symptom fever) ...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these facts are all true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=&gt;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(assert ...)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new fact to memory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528066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54342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5120640"/>
            <a:ext cx="9768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add the facts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fever, joint_pain, rash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CLIPS engine fires this rule automatically and concludes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dengue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 Expert System with a Shell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89699" cy="1188720"/>
          </a:xfrm>
          <a:prstGeom prst="roundRect">
            <a:avLst>
              <a:gd name="adj" fmla="val 6154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18896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Choose a small problem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84059" y="2423160"/>
            <a:ext cx="32004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49819" y="1828800"/>
            <a:ext cx="1889699" cy="1188720"/>
          </a:xfrm>
          <a:prstGeom prst="roundRect">
            <a:avLst>
              <a:gd name="adj" fmla="val 6154"/>
            </a:avLst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49819" y="1828800"/>
            <a:ext cx="18896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Interview the expert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85238" y="2423160"/>
            <a:ext cx="32004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50998" y="1828800"/>
            <a:ext cx="1889699" cy="1188720"/>
          </a:xfrm>
          <a:prstGeom prst="roundRect">
            <a:avLst>
              <a:gd name="adj" fmla="val 6154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0998" y="1828800"/>
            <a:ext cx="18896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Write IF-THEN rules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086417" y="2423160"/>
            <a:ext cx="32004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177" y="1828800"/>
            <a:ext cx="1889699" cy="1188720"/>
          </a:xfrm>
          <a:prstGeom prst="roundRect">
            <a:avLst>
              <a:gd name="adj" fmla="val 6154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52177" y="1828800"/>
            <a:ext cx="18896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Load rules in the shell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387596" y="2423160"/>
            <a:ext cx="32004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53356" y="1828800"/>
            <a:ext cx="1889699" cy="1188720"/>
          </a:xfrm>
          <a:prstGeom prst="roundRect">
            <a:avLst>
              <a:gd name="adj" fmla="val 6154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53356" y="1828800"/>
            <a:ext cx="18896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Test and improve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3515258" cy="2560320"/>
          </a:xfrm>
          <a:prstGeom prst="roundRect">
            <a:avLst>
              <a:gd name="adj" fmla="val 357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7216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3864254"/>
            <a:ext cx="309067" cy="309067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554480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453128"/>
            <a:ext cx="30580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who talks to the expert and turns their knowledge into rules.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338218" y="3520440"/>
            <a:ext cx="3515258" cy="2560320"/>
          </a:xfrm>
          <a:prstGeom prst="roundRect">
            <a:avLst>
              <a:gd name="adj" fmla="val 357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66818" y="372160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3864254"/>
            <a:ext cx="309067" cy="309067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344058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4566818" y="4453128"/>
            <a:ext cx="30580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doctor, mechanic or teacher who knows the subject.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8127797" y="3520440"/>
            <a:ext cx="3515258" cy="2560320"/>
          </a:xfrm>
          <a:prstGeom prst="roundRect">
            <a:avLst>
              <a:gd name="adj" fmla="val 357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356397" y="372160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3864254"/>
            <a:ext cx="309067" cy="309067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9133637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8356397" y="4453128"/>
            <a:ext cx="30580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real cases. If an answer is wrong, fix or add a rule.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Colab Lab 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CS4305_Lab04_LISP_and_Shells.ipynb in Google Colab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013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44014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notation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LISP (SBCL) inside Colab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8218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6818" y="18013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44014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4058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car, cdr, cons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with lists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27797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6397" y="18013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44014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33637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recursion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defun, if, cond, factorial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372160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3864254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data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and a tiny knowledge base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338218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66818" y="3721608"/>
            <a:ext cx="594360" cy="59436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3864254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44058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shell in Python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66818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two experts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127797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56397" y="37216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3864254"/>
            <a:ext cx="309067" cy="30906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33637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56397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NASA shell with rules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822960" y="5349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notebook: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starts with a 📊 picture that explains the idea, then the 💻 code, then 📝 lab tasks at the end.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LISP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(1958, McCarthy) = LISt Processing; everything is an atom or a list.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notation: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(operator values...), innermost brackets first.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first, </a:t>
            </a: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rest, </a:t>
            </a: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add to front; the quote ' keeps a list as data.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defun, if, cond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recursion are the main tools for writing LISP programs.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expert system with an empty knowledge base; experts only add rules.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EMYCIN, CLIPS (NASA), Jess, Drools.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LISP stand for? Who created it and when?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an atom and a list with two examples of each.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LISP: (a) (8 − 3) × 2   (b) average of 4, 6 and 8.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result: (car (cdr '(red green blue)))  and  (cons 'a '(b c)).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LISP function (is-even n) using if.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LISP popular for AI? Give three reasons.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expert system shell? How is it different from a complete expert system?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CLIPS rule for 'if the engine won't start and the lights are dim, the battery is weak'.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Solving as Search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States, actions, goals — and how a computer explores them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CS4305 Lecture 4 - LISP and Expert System Shells</dc:title>
  <dc:subject>PptxGenJS Presentation</dc:subject>
  <dc:creator>CS4305 Artificial Intelligence</dc:creator>
  <cp:lastModifiedBy>CS4305 Artificial Intelligence</cp:lastModifiedBy>
  <cp:revision>1</cp:revision>
  <dcterms:created xsi:type="dcterms:W3CDTF">2026-09-11T14:08:24Z</dcterms:created>
  <dcterms:modified xsi:type="dcterms:W3CDTF">2026-09-11T14:08:24Z</dcterms:modified>
</cp:coreProperties>
</file>