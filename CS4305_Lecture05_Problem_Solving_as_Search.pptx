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463040"/>
            <a:ext cx="3108960" cy="31089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24028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 ·  LECTURE 5  ·  TECHNIQUES: SEARCHING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Solving as Search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States, actions, goals — and how a computer explores them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and Today's Plan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023360" cy="4206240"/>
          </a:xfrm>
          <a:prstGeom prst="roundRect">
            <a:avLst>
              <a:gd name="adj" fmla="val 2273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lecture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 and LISP: classic AI tools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 shells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 finds answers by searching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3258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will learn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937760" y="1874520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18288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agent solves a problem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937760" y="2660904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2660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261518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parts of a problem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37760" y="3447288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340156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route, 8-puzzle, water jug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937760" y="4233672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37760" y="4233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0" y="418795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state space to search tree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937760" y="5020056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37760" y="5020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4974336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judge a search algorithm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Already Solve Problems by Searching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417320"/>
            <a:ext cx="640080" cy="64008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57093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234440"/>
            <a:ext cx="9768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in Peshawar and must reach Multan. You think about the roads you could take, compare them, choose a route, and then drive.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5603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problem-solving agent does the same 4 steps: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548640" y="3154680"/>
            <a:ext cx="2464994" cy="1371600"/>
          </a:xfrm>
          <a:prstGeom prst="roundRect">
            <a:avLst>
              <a:gd name="adj" fmla="val 5333"/>
            </a:avLst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154680"/>
            <a:ext cx="246499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Set the GOAL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"reach Multan"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059354" y="3840480"/>
            <a:ext cx="320040" cy="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425114" y="3154680"/>
            <a:ext cx="2464994" cy="1371600"/>
          </a:xfrm>
          <a:prstGeom prst="roundRect">
            <a:avLst>
              <a:gd name="adj" fmla="val 5333"/>
            </a:avLst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25114" y="3154680"/>
            <a:ext cx="246499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Describe the PROBLEM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&amp; actions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935828" y="3840480"/>
            <a:ext cx="320040" cy="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301588" y="3154680"/>
            <a:ext cx="2464994" cy="1371600"/>
          </a:xfrm>
          <a:prstGeom prst="roundRect">
            <a:avLst>
              <a:gd name="adj" fmla="val 5333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01588" y="3154680"/>
            <a:ext cx="246499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SEARCH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sequence of actions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812301" y="3840480"/>
            <a:ext cx="320040" cy="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9178061" y="3154680"/>
            <a:ext cx="2464994" cy="1371600"/>
          </a:xfrm>
          <a:prstGeom prst="roundRect">
            <a:avLst>
              <a:gd name="adj" fmla="val 5333"/>
            </a:avLst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78061" y="3154680"/>
            <a:ext cx="246499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EXECUTE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plan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029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= trying out different sequences of actions (in the computer's memory) to find one that reaches the goal.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5 Parts of Every Search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2704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669694"/>
            <a:ext cx="309067" cy="30906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152704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Initial state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58568"/>
            <a:ext cx="30580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start.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in Peshawar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38218" y="132588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66818" y="152704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669694"/>
            <a:ext cx="309067" cy="30906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44058" y="152704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Actions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66818" y="2258568"/>
            <a:ext cx="30580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do in a state.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drive to a neighbouring city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127797" y="132588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56397" y="152704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669694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133637" y="152704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Result (transition)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356397" y="2258568"/>
            <a:ext cx="30580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an action takes us.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drive to Kohat → now in Kohat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548640" y="384048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4041648"/>
            <a:ext cx="594360" cy="5943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4184294"/>
            <a:ext cx="309067" cy="30906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554480" y="404164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Goal test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777240" y="4773168"/>
            <a:ext cx="30580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we reached the goal?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are we in Multan?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4338218" y="384048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66818" y="4041648"/>
            <a:ext cx="594360" cy="594360"/>
          </a:xfrm>
          <a:prstGeom prst="ellipse">
            <a:avLst/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465" y="4184294"/>
            <a:ext cx="309067" cy="309067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344058" y="404164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Path cost</a:t>
            </a:r>
            <a:endParaRPr lang="en-US" sz="1800" dirty="0"/>
          </a:p>
        </p:txBody>
      </p:sp>
      <p:sp>
        <p:nvSpPr>
          <p:cNvPr id="29" name="Text 22"/>
          <p:cNvSpPr txBox="1"/>
          <p:nvPr/>
        </p:nvSpPr>
        <p:spPr>
          <a:xfrm>
            <a:off x="4566818" y="4773168"/>
            <a:ext cx="30580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expensive a path is.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total kilometres</a:t>
            </a:r>
            <a:endParaRPr lang="en-US" sz="1600" dirty="0"/>
          </a:p>
        </p:txBody>
      </p:sp>
      <p:sp>
        <p:nvSpPr>
          <p:cNvPr id="30" name="Shape 23"/>
          <p:cNvSpPr/>
          <p:nvPr/>
        </p:nvSpPr>
        <p:spPr>
          <a:xfrm>
            <a:off x="8127797" y="384048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56397" y="404164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9043" y="4184294"/>
            <a:ext cx="309067" cy="309067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133637" y="404164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800" dirty="0"/>
          </a:p>
        </p:txBody>
      </p:sp>
      <p:sp>
        <p:nvSpPr>
          <p:cNvPr id="34" name="Text 26"/>
          <p:cNvSpPr txBox="1"/>
          <p:nvPr/>
        </p:nvSpPr>
        <p:spPr>
          <a:xfrm>
            <a:off x="8356397" y="4773168"/>
            <a:ext cx="30580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of actions from the initial state to a goal. The cheapest one is the optimal solution.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1: Route Finding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5" name="Image 0" descr="img/fig_city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863268" cy="493776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371600"/>
          <a:ext cx="505937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30575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problem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state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Peshawar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 a road to a neighbour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arrive in that city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test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= Multan?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cost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road km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583680" y="4937760"/>
            <a:ext cx="5059375" cy="1097280"/>
          </a:xfrm>
          <a:prstGeom prst="roundRect">
            <a:avLst>
              <a:gd name="adj" fmla="val 8333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812280" y="5166360"/>
            <a:ext cx="640080" cy="64008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899" y="5319979"/>
            <a:ext cx="332842" cy="33284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680960" y="4937760"/>
            <a:ext cx="37334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possible routes cost </a:t>
            </a: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735 km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Which is optimal?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State Space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417320"/>
            <a:ext cx="640080" cy="64008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57093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234440"/>
            <a:ext cx="9768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all the states you can reach from the initial state, and the actions that connect them. We draw it as a graph: circles = states, lines = actions.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  <a:gridCol w="478505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the route problem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situation of the world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being in Lahore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space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reachable states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11 cities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sequence of states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Peshawar → Islamabad → Lahore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path that reaches the goal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path ending in Multan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solution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solution with lowest cost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735 km route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2: The 8-Puzzle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5" name="Image 0" descr="img/fig_8puzz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6032"/>
            <a:ext cx="6583680" cy="2742896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371600"/>
          <a:ext cx="4236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77337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8-puzzle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of the 8 tiles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blank Up / Down / Left / Right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test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the goal picture?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cost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per move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434840"/>
            <a:ext cx="541004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77240" y="463600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4778654"/>
            <a:ext cx="309067" cy="309067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54480" y="4636008"/>
            <a:ext cx="422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9! = 362,880 arrangements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777240" y="5367528"/>
            <a:ext cx="495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them can be reached from any start state.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6233008" y="4434840"/>
            <a:ext cx="541004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6461608" y="4636008"/>
            <a:ext cx="594360" cy="5943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254" y="4778654"/>
            <a:ext cx="309067" cy="30906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238848" y="4636008"/>
            <a:ext cx="422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versions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6461608" y="5367528"/>
            <a:ext cx="495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15-puzzle: about 10 trillion states — too many to try one by one.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3: The Water Jug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394460"/>
            <a:ext cx="640080" cy="64008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54807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234440"/>
            <a:ext cx="9768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</a:t>
            </a: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4-litre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jug and a </a:t>
            </a: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3-litre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jug with no markings, and a tap. How can you get </a:t>
            </a: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2 litres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4-litre jug?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377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(x, y): </a:t>
            </a: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litres in 4L jug, y = litres in 3L jug.   </a:t>
            </a:r>
            <a:r>
              <a:rPr lang="en-US" sz="17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</a:t>
            </a: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(0, 0)   </a:t>
            </a:r>
            <a:r>
              <a:rPr lang="en-US" sz="17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 any)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303520"/>
                <a:gridCol w="2194560"/>
                <a:gridCol w="3047695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(action)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 the 4L jug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(x, y), x &lt; 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(4, y)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 the 3L jug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(x, y), y &lt; 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(x, 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the 4L jug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(x, y), x &gt;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y)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the 3L jug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(x, y), y &gt;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Pour 3L into 4L until 4L is full or 3L is empty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(x, y), y &gt;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(min(4, x+y), leftover)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Pour 4L into 3L until 3L is full or 4L is empty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(x, y), x &gt;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(leftover, min(3, x+y))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Jug: One Solution (6 steps)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picture is one state. Each arrow is one action.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6" name="Image 0" descr="img/fig_water_j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00399"/>
            <a:ext cx="11094415" cy="260000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507492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5234940"/>
            <a:ext cx="640080" cy="64008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" y="538855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5074920"/>
            <a:ext cx="9768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</a:t>
            </a: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states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be reached. The computer can try them systematically — that is search. Lab 5 finds this solution automatically.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Toy Problems vs Real-World Problems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508760"/>
            <a:ext cx="640080" cy="64008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66237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5087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problems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2860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exact — perfect for learning and comparing algorithms.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06324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8-puzzle and 15-puzzle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jug problem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8-queens (place 8 queens safely)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Vacuum-cleaner world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Missionaries and cannibals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245352" y="132588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19672" y="1508760"/>
            <a:ext cx="640080" cy="64008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291" y="166237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342632" y="15087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problems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6519672" y="22860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and messy — people actually care about the answer.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519672" y="306324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finding (Google Maps)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timetabling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navigation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travel planning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computer chips (VLSI layout)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State Space to Search Tree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5" name="Image 0" descr="img/fig_search_tree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801" y="1188720"/>
            <a:ext cx="9884093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846320"/>
            <a:ext cx="5410048" cy="1280160"/>
          </a:xfrm>
          <a:prstGeom prst="roundRect">
            <a:avLst>
              <a:gd name="adj" fmla="val 7143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5047488"/>
            <a:ext cx="457200" cy="45720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5157216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504748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5641848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the children of a node by applying every action.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233008" y="4846320"/>
            <a:ext cx="5410048" cy="1280160"/>
          </a:xfrm>
          <a:prstGeom prst="roundRect">
            <a:avLst>
              <a:gd name="adj" fmla="val 7143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61608" y="5047488"/>
            <a:ext cx="457200" cy="45720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336" y="515721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01688" y="504748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states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6461608" y="5641848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nodes: going back to Peshawar wastes time. Keep an explored list.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Tree Vocabulary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5" name="Image 0" descr="img/fig_tree_ter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95425"/>
            <a:ext cx="6949440" cy="2627069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396209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950415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initial state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Frontier (open list)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 waiting to be expanded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Explored (closed list)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 already expanded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steps from the root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branching factor: children per node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 of the shallowest goal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General Search Algorithm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173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initial state in the FRONTIER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974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empty?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9776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one node out of the frontier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25780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52578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the goal?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60320" y="2286000"/>
            <a:ext cx="0" cy="36576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560320" y="3566160"/>
            <a:ext cx="0" cy="36576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560320" y="4846320"/>
            <a:ext cx="0" cy="36576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303520" y="269748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0" y="2697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FAIL: no solution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17720" y="3108960"/>
            <a:ext cx="640080" cy="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4709160" y="2743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03520" y="525780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03520" y="52578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return the path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617720" y="5669280"/>
            <a:ext cx="640080" cy="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663440" y="5303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303520" y="397764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303520" y="3977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it: add its children to the frontier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 flipV="1">
            <a:off x="4389120" y="4846320"/>
            <a:ext cx="1188720" cy="36576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5074920" y="5029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 flipH="1" flipV="1">
            <a:off x="4389120" y="3566160"/>
            <a:ext cx="868680" cy="54864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4846320" y="3611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686800" y="1417320"/>
            <a:ext cx="2956255" cy="4663440"/>
          </a:xfrm>
          <a:prstGeom prst="roundRect">
            <a:avLst>
              <a:gd name="adj" fmla="val 3093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915400" y="1600200"/>
            <a:ext cx="2499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question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915400" y="2103120"/>
            <a:ext cx="2499055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node do we take out of the frontier next?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single choice is the ONLY difference between BFS, DFS, UCS, Greedy and A*.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Judge a Search Algorithm?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7864" cy="2651760"/>
          </a:xfrm>
          <a:prstGeom prst="roundRect">
            <a:avLst>
              <a:gd name="adj" fmla="val 356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7276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715414"/>
            <a:ext cx="309067" cy="30906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157276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04288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solution exists, is it guaranteed to find one?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90824" y="1371600"/>
            <a:ext cx="2567864" cy="2651760"/>
          </a:xfrm>
          <a:prstGeom prst="roundRect">
            <a:avLst>
              <a:gd name="adj" fmla="val 356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19424" y="157276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070" y="1715414"/>
            <a:ext cx="309067" cy="30906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96664" y="157276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Optimality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619424" y="2304288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find the cheapest (best) solution?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233008" y="1371600"/>
            <a:ext cx="2567864" cy="2651760"/>
          </a:xfrm>
          <a:prstGeom prst="roundRect">
            <a:avLst>
              <a:gd name="adj" fmla="val 356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1608" y="157276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254" y="1715414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238848" y="157276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461608" y="2304288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does it take? (number of nodes generated)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9075191" y="1371600"/>
            <a:ext cx="2567864" cy="2651760"/>
          </a:xfrm>
          <a:prstGeom prst="roundRect">
            <a:avLst>
              <a:gd name="adj" fmla="val 356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03791" y="1572768"/>
            <a:ext cx="594360" cy="5943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438" y="1715414"/>
            <a:ext cx="309067" cy="30906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081031" y="157276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9303791" y="2304288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memory does it need? (nodes stored at once)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43400"/>
          <a:ext cx="1109441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00400"/>
                <a:gridCol w="3200400"/>
                <a:gridCol w="313913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branching factor (children per node)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 of the shallowest goal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depth of the tree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Need Clever Search: The Explosion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with b = 10 has 10^d nodes at depth d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9494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651760"/>
                <a:gridCol w="28346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 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 (b = 10)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at 1 million nodes/second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 seconds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 seconds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1,000,000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second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100,000,000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2 minutes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10,000,000,000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3 hours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1,000,000,000,000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12 days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1600200"/>
            <a:ext cx="3870655" cy="2011680"/>
          </a:xfrm>
          <a:prstGeom prst="roundRect">
            <a:avLst>
              <a:gd name="adj" fmla="val 4545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01000" y="2286000"/>
            <a:ext cx="640080" cy="64008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4619" y="243961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869680" y="1600200"/>
            <a:ext cx="254477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 everything becomes impossible very quickly. Good algorithms decide cleverly which nodes to explore first.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772400" y="3840480"/>
            <a:ext cx="3870655" cy="1828800"/>
          </a:xfrm>
          <a:prstGeom prst="roundRect">
            <a:avLst>
              <a:gd name="adj" fmla="val 5000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001000" y="4434840"/>
            <a:ext cx="640080" cy="64008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4619" y="4588459"/>
            <a:ext cx="332842" cy="33284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869680" y="3840480"/>
            <a:ext cx="254477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two lectures: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search (no hints) and knowledge-directed search (uses hints called heuristics).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Practical: Colab Lab 5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CS4305_Lab05_Problem_Solving_as_Search.ipynb in Google Colab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0136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44014"/>
            <a:ext cx="309067" cy="30906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map in Python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53288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and roads as a dictionary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38218" y="160020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6818" y="180136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44014"/>
            <a:ext cx="309067" cy="30906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44058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parts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566818" y="253288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Actions, result, goal test, path cost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127797" y="160020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56397" y="180136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44014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33637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a tree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56397" y="253288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explode and repeat states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48640" y="352044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77240" y="3721608"/>
            <a:ext cx="594360" cy="5943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3864254"/>
            <a:ext cx="309067" cy="30906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54480" y="37216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jug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445312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state space and a solution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4338218" y="352044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66818" y="3721608"/>
            <a:ext cx="594360" cy="594360"/>
          </a:xfrm>
          <a:prstGeom prst="ellipse">
            <a:avLst/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465" y="3864254"/>
            <a:ext cx="309067" cy="30906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44058" y="37216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8-puzzle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566818" y="445312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States, moves and solving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8127797" y="352044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56397" y="372160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9043" y="3864254"/>
            <a:ext cx="309067" cy="309067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33637" y="37216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tasks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56397" y="445312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cities, new goals, new problems</a:t>
            </a:r>
            <a:endParaRPr lang="en-US" sz="1500" dirty="0"/>
          </a:p>
        </p:txBody>
      </p:sp>
      <p:sp>
        <p:nvSpPr>
          <p:cNvPr id="36" name="Shape 28"/>
          <p:cNvSpPr/>
          <p:nvPr/>
        </p:nvSpPr>
        <p:spPr>
          <a:xfrm>
            <a:off x="548640" y="534924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Text 29"/>
          <p:cNvSpPr txBox="1"/>
          <p:nvPr/>
        </p:nvSpPr>
        <p:spPr>
          <a:xfrm>
            <a:off x="822960" y="5349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notebook: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 starts with a 📊 picture that explains the idea, then the 💻 code, then 📝 lab tasks at the end.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agent: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→ problem → search → execute.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parts: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state, actions, result, goal test, path cost.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all reachable states; a solution is a path to a goal; optimal = cheapest.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finding, 8-puzzle, water jug (toy) and timetabling, robots (real).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tree: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root, frontier (open list), explored (closed list), depth, b and d.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algorithms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completeness, optimality, time and space.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Questions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4 steps of a problem-solving agent.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5 parts of the problem for the 8-puzzle.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the water jug problem by hand and show each state (x, y).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between state space and search tree.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frontier, explored list, branching factor and depth.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completeness, optimality, time and space complexity.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two toy problems and two real-world search problems.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463040"/>
            <a:ext cx="3108960" cy="31089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24028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LECTURE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Blind (Uninformed) Search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· DFS · Uniform-Cost · Depth-Limited · Iterative Deepening · Bidirectional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CS4305 Lecture 5 - Problem Solving as Search</dc:title>
  <dc:subject>PptxGenJS Presentation</dc:subject>
  <dc:creator>CS4305 Artificial Intelligence</dc:creator>
  <cp:lastModifiedBy>CS4305 Artificial Intelligence</cp:lastModifiedBy>
  <cp:revision>1</cp:revision>
  <dcterms:created xsi:type="dcterms:W3CDTF">2026-09-11T14:10:09Z</dcterms:created>
  <dcterms:modified xsi:type="dcterms:W3CDTF">2026-09-11T14:10:09Z</dcterms:modified>
</cp:coreProperties>
</file>