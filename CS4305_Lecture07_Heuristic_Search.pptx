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A1333"/>
                </a:solidFill>
                <a:latin typeface="Arial"/>
              </a:defRPr>
            </a:pPr>
            <a:r>
              <a:rPr sz="1500" b="0" i="0" u="none" strike="noStrike">
                <a:solidFill>
                  <a:srgbClr val="1A1333"/>
                </a:solidFill>
                <a:latin typeface="Arial"/>
              </a:rPr>
              <a:t>States expanded (lower is better)</a:t>
            </a:r>
          </a:p>
        </c:rich>
      </c:tx>
      <c:layout/>
      <c:overlay val="0"/>
    </c:title>
    <c:autoTitleDeleted val="0"/>
    <c:plotArea>
      <c:layout/>
      <c:barChart>
        <c:barDir val="col"/>
        <c:grouping val="clustered"/>
        <c:varyColors val="0"/>
        <c:ser>
          <c:idx val="0"/>
          <c:order val="0"/>
          <c:tx>
            <c:strRef>
              <c:f>Sheet1!$B$1</c:f>
              <c:strCache>
                <c:ptCount val="1"/>
                <c:pt idx="0">
                  <c:v>States expanded</c:v>
                </c:pt>
              </c:strCache>
            </c:strRef>
          </c:tx>
          <c:spPr>
            <a:solidFill>
              <a:srgbClr val="5B2A86"/>
            </a:solidFill>
            <a:effectLst/>
          </c:spPr>
          <c:invertIfNegative val="0"/>
          <c:dLbls>
            <c:numFmt formatCode="#,##0" sourceLinked="0"/>
            <c:txPr>
              <a:bodyPr/>
              <a:lstStyle/>
              <a:p>
                <a:pPr>
                  <a:defRPr b="0" i="0" strike="noStrike" sz="1400" u="none">
                    <a:solidFill>
                      <a:srgbClr val="1A1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No heuristic (h = 0)</c:v>
                  </c:pt>
                  <c:pt idx="1">
                    <c:v>h1 misplaced tiles</c:v>
                  </c:pt>
                  <c:pt idx="2">
                    <c:v>h2 Manhattan</c:v>
                  </c:pt>
                </c:lvl>
              </c:multiLvlStrCache>
            </c:multiLvlStrRef>
          </c:cat>
          <c:val>
            <c:numRef>
              <c:f>Sheet1!$B$2:$B$4</c:f>
              <c:numCache>
                <c:formatCode>General</c:formatCode>
                <c:ptCount val="3"/>
                <c:pt idx="0">
                  <c:v>2289</c:v>
                </c:pt>
                <c:pt idx="1">
                  <c:v>209</c:v>
                </c:pt>
                <c:pt idx="2">
                  <c:v>95</c:v>
                </c:pt>
              </c:numCache>
            </c:numRef>
          </c:val>
        </c:ser>
        <c:dLbls>
          <c:numFmt formatCode="#,##0" sourceLinked="0"/>
          <c:txPr>
            <a:bodyPr/>
            <a:lstStyle/>
            <a:p>
              <a:pPr>
                <a:defRPr b="0" i="0" strike="noStrike" sz="1400" u="none">
                  <a:solidFill>
                    <a:srgbClr val="1A1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3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1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7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333"/>
        </a:solidFill>
      </p:bgPr>
    </p:bg>
    <p:spTree>
      <p:nvGrpSpPr>
        <p:cNvPr id="1" name=""/>
        <p:cNvGrpSpPr/>
        <p:nvPr/>
      </p:nvGrpSpPr>
      <p:grpSpPr>
        <a:xfrm>
          <a:off x="0" y="0"/>
          <a:ext cx="0" cy="0"/>
          <a:chOff x="0" y="0"/>
          <a:chExt cx="0" cy="0"/>
        </a:xfrm>
      </p:grpSpPr>
      <p:sp>
        <p:nvSpPr>
          <p:cNvPr id="2" name="Shape 0"/>
          <p:cNvSpPr/>
          <p:nvPr/>
        </p:nvSpPr>
        <p:spPr>
          <a:xfrm>
            <a:off x="8503920" y="1463040"/>
            <a:ext cx="3108960" cy="3108960"/>
          </a:xfrm>
          <a:prstGeom prst="ellipse">
            <a:avLst/>
          </a:prstGeom>
          <a:solidFill>
            <a:srgbClr val="5B2A86"/>
          </a:solidFill>
          <a:ln w="12700">
            <a:solidFill>
              <a:srgbClr val="5B2A86"/>
            </a:solidFill>
            <a:prstDash val="solid"/>
          </a:ln>
        </p:spPr>
      </p:sp>
      <p:pic>
        <p:nvPicPr>
          <p:cNvPr id="3" name="Image 0" descr="preencoded.png">    </p:cNvPr>
          <p:cNvPicPr>
            <a:picLocks noChangeAspect="1"/>
          </p:cNvPicPr>
          <p:nvPr/>
        </p:nvPicPr>
        <p:blipFill>
          <a:blip r:embed="rId1"/>
          <a:stretch>
            <a:fillRect/>
          </a:stretch>
        </p:blipFill>
        <p:spPr>
          <a:xfrm>
            <a:off x="9281160" y="2240280"/>
            <a:ext cx="1554480" cy="1554480"/>
          </a:xfrm>
          <a:prstGeom prst="rect">
            <a:avLst/>
          </a:prstGeom>
        </p:spPr>
      </p:pic>
      <p:sp>
        <p:nvSpPr>
          <p:cNvPr id="4" name="Text 1"/>
          <p:cNvSpPr txBox="1"/>
          <p:nvPr/>
        </p:nvSpPr>
        <p:spPr>
          <a:xfrm>
            <a:off x="548640" y="1371600"/>
            <a:ext cx="7589520" cy="457200"/>
          </a:xfrm>
          <a:prstGeom prst="rect">
            <a:avLst/>
          </a:prstGeom>
          <a:noFill/>
          <a:ln/>
        </p:spPr>
        <p:txBody>
          <a:bodyPr wrap="square" lIns="0" tIns="0" rIns="0" bIns="0" rtlCol="0" anchor="t"/>
          <a:lstStyle/>
          <a:p>
            <a:pPr indent="0" marL="0">
              <a:buNone/>
            </a:pPr>
            <a:r>
              <a:rPr lang="en-US" sz="1800" b="1" spc="200" kern="0" dirty="0">
                <a:solidFill>
                  <a:srgbClr val="FF9F1C"/>
                </a:solidFill>
                <a:latin typeface="Calibri" pitchFamily="34" charset="0"/>
                <a:ea typeface="Calibri" pitchFamily="34" charset="-122"/>
                <a:cs typeface="Calibri" pitchFamily="34" charset="-120"/>
              </a:rPr>
              <a:t>CS4305  ·  LECTURE 7  ·  TECHNIQUES: SEARCHING</a:t>
            </a:r>
            <a:endParaRPr lang="en-US" sz="1800" dirty="0"/>
          </a:p>
        </p:txBody>
      </p:sp>
      <p:sp>
        <p:nvSpPr>
          <p:cNvPr id="5" name="Text 2"/>
          <p:cNvSpPr txBox="1"/>
          <p:nvPr/>
        </p:nvSpPr>
        <p:spPr>
          <a:xfrm>
            <a:off x="548640" y="1920240"/>
            <a:ext cx="7680960" cy="21945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Knowledge-Directed (Heuristic) Search</a:t>
            </a:r>
            <a:endParaRPr lang="en-US" sz="4400" dirty="0"/>
          </a:p>
        </p:txBody>
      </p:sp>
      <p:sp>
        <p:nvSpPr>
          <p:cNvPr id="6" name="Text 3"/>
          <p:cNvSpPr txBox="1"/>
          <p:nvPr/>
        </p:nvSpPr>
        <p:spPr>
          <a:xfrm>
            <a:off x="548640" y="4297680"/>
            <a:ext cx="7589520" cy="1280160"/>
          </a:xfrm>
          <a:prstGeom prst="rect">
            <a:avLst/>
          </a:prstGeom>
          <a:noFill/>
          <a:ln/>
        </p:spPr>
        <p:txBody>
          <a:bodyPr wrap="square" lIns="0" tIns="0" rIns="0" bIns="0" rtlCol="0" anchor="t"/>
          <a:lstStyle/>
          <a:p>
            <a:pPr indent="0" marL="0">
              <a:buNone/>
            </a:pPr>
            <a:r>
              <a:rPr lang="en-US" sz="1800" dirty="0">
                <a:solidFill>
                  <a:srgbClr val="CFC6E0"/>
                </a:solidFill>
                <a:latin typeface="Calibri" pitchFamily="34" charset="0"/>
                <a:ea typeface="Calibri" pitchFamily="34" charset="-122"/>
                <a:cs typeface="Calibri" pitchFamily="34" charset="-120"/>
              </a:rPr>
              <a:t>Using a smart guess to reach the goal faster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Recap and Today's Plan</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371600"/>
            <a:ext cx="4023360" cy="4206240"/>
          </a:xfrm>
          <a:prstGeom prst="roundRect">
            <a:avLst>
              <a:gd name="adj" fmla="val 2273"/>
            </a:avLst>
          </a:prstGeom>
          <a:solidFill>
            <a:srgbClr val="1A1333"/>
          </a:solidFill>
          <a:ln w="12700">
            <a:solidFill>
              <a:srgbClr val="1A1333"/>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1554480"/>
            <a:ext cx="3474720" cy="457200"/>
          </a:xfrm>
          <a:prstGeom prst="rect">
            <a:avLst/>
          </a:prstGeom>
          <a:noFill/>
          <a:ln/>
        </p:spPr>
        <p:txBody>
          <a:bodyPr wrap="square" lIns="0" tIns="0" rIns="0" bIns="0" rtlCol="0" anchor="t"/>
          <a:lstStyle/>
          <a:p>
            <a:pPr indent="0" marL="0">
              <a:buNone/>
            </a:pPr>
            <a:r>
              <a:rPr lang="en-US" sz="2000" b="1" dirty="0">
                <a:solidFill>
                  <a:srgbClr val="FF9F1C"/>
                </a:solidFill>
                <a:latin typeface="Calibri" pitchFamily="34" charset="0"/>
                <a:ea typeface="Calibri" pitchFamily="34" charset="-122"/>
                <a:cs typeface="Calibri" pitchFamily="34" charset="-120"/>
              </a:rPr>
              <a:t>Last lecture</a:t>
            </a:r>
            <a:endParaRPr lang="en-US" sz="2000" dirty="0"/>
          </a:p>
        </p:txBody>
      </p:sp>
      <p:sp>
        <p:nvSpPr>
          <p:cNvPr id="7" name="Text 5"/>
          <p:cNvSpPr txBox="1"/>
          <p:nvPr/>
        </p:nvSpPr>
        <p:spPr>
          <a:xfrm>
            <a:off x="822960" y="2148840"/>
            <a:ext cx="347472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BFS, DFS, Uniform-Cost</a:t>
            </a:r>
            <a:endParaRPr lang="en-US" sz="1700" dirty="0"/>
          </a:p>
          <a:p>
            <a:pPr marL="342900" indent="-3429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Depth-limited and iterative deepening</a:t>
            </a:r>
            <a:endParaRPr lang="en-US" sz="1700" dirty="0"/>
          </a:p>
          <a:p>
            <a:pPr marL="342900" indent="-3429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Blind search wastes time exploring everywhere</a:t>
            </a:r>
            <a:endParaRPr lang="en-US" sz="1700" dirty="0"/>
          </a:p>
        </p:txBody>
      </p:sp>
      <p:sp>
        <p:nvSpPr>
          <p:cNvPr id="8" name="Text 6"/>
          <p:cNvSpPr txBox="1"/>
          <p:nvPr/>
        </p:nvSpPr>
        <p:spPr>
          <a:xfrm>
            <a:off x="4937760" y="1325880"/>
            <a:ext cx="6675120" cy="411480"/>
          </a:xfrm>
          <a:prstGeom prst="rect">
            <a:avLst/>
          </a:prstGeom>
          <a:noFill/>
          <a:ln/>
        </p:spPr>
        <p:txBody>
          <a:bodyPr wrap="square" lIns="0" tIns="0" rIns="0" bIns="0" rtlCol="0" anchor="t"/>
          <a:lstStyle/>
          <a:p>
            <a:pPr indent="0" marL="0">
              <a:buNone/>
            </a:pPr>
            <a:r>
              <a:rPr lang="en-US" sz="2000" b="1" dirty="0">
                <a:solidFill>
                  <a:srgbClr val="1A1333"/>
                </a:solidFill>
                <a:latin typeface="Calibri" pitchFamily="34" charset="0"/>
                <a:ea typeface="Calibri" pitchFamily="34" charset="-122"/>
                <a:cs typeface="Calibri" pitchFamily="34" charset="-120"/>
              </a:rPr>
              <a:t>Today we will learn</a:t>
            </a:r>
            <a:endParaRPr lang="en-US" sz="2000" dirty="0"/>
          </a:p>
        </p:txBody>
      </p:sp>
      <p:sp>
        <p:nvSpPr>
          <p:cNvPr id="9" name="Shape 7"/>
          <p:cNvSpPr/>
          <p:nvPr/>
        </p:nvSpPr>
        <p:spPr>
          <a:xfrm>
            <a:off x="4937760" y="1874520"/>
            <a:ext cx="548640" cy="548640"/>
          </a:xfrm>
          <a:prstGeom prst="ellipse">
            <a:avLst/>
          </a:prstGeom>
          <a:solidFill>
            <a:srgbClr val="5B2A86"/>
          </a:solidFill>
          <a:ln w="12700">
            <a:solidFill>
              <a:srgbClr val="5B2A86"/>
            </a:solidFill>
            <a:prstDash val="solid"/>
          </a:ln>
        </p:spPr>
      </p:sp>
      <p:sp>
        <p:nvSpPr>
          <p:cNvPr id="10" name="Text 8"/>
          <p:cNvSpPr txBox="1"/>
          <p:nvPr/>
        </p:nvSpPr>
        <p:spPr>
          <a:xfrm>
            <a:off x="4937760" y="18745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9"/>
          <p:cNvSpPr txBox="1"/>
          <p:nvPr/>
        </p:nvSpPr>
        <p:spPr>
          <a:xfrm>
            <a:off x="5669280" y="1828800"/>
            <a:ext cx="5943600" cy="640080"/>
          </a:xfrm>
          <a:prstGeom prst="rect">
            <a:avLst/>
          </a:prstGeom>
          <a:noFill/>
          <a:ln/>
        </p:spPr>
        <p:txBody>
          <a:bodyPr wrap="square" lIns="0" tIns="0" rIns="0" bIns="0" rtlCol="0" anchor="ctr"/>
          <a:lstStyle/>
          <a:p>
            <a:pPr indent="0" marL="0">
              <a:buNone/>
            </a:pPr>
            <a:r>
              <a:rPr lang="en-US" sz="1800" dirty="0">
                <a:solidFill>
                  <a:srgbClr val="1F1A2E"/>
                </a:solidFill>
                <a:latin typeface="Calibri" pitchFamily="34" charset="0"/>
                <a:ea typeface="Calibri" pitchFamily="34" charset="-122"/>
                <a:cs typeface="Calibri" pitchFamily="34" charset="-120"/>
              </a:rPr>
              <a:t>What a heuristic is</a:t>
            </a:r>
            <a:endParaRPr lang="en-US" sz="1800" dirty="0"/>
          </a:p>
        </p:txBody>
      </p:sp>
      <p:sp>
        <p:nvSpPr>
          <p:cNvPr id="12" name="Shape 10"/>
          <p:cNvSpPr/>
          <p:nvPr/>
        </p:nvSpPr>
        <p:spPr>
          <a:xfrm>
            <a:off x="4937760" y="2660904"/>
            <a:ext cx="548640" cy="548640"/>
          </a:xfrm>
          <a:prstGeom prst="ellipse">
            <a:avLst/>
          </a:prstGeom>
          <a:solidFill>
            <a:srgbClr val="5B2A86"/>
          </a:solidFill>
          <a:ln w="12700">
            <a:solidFill>
              <a:srgbClr val="5B2A86"/>
            </a:solidFill>
            <a:prstDash val="solid"/>
          </a:ln>
        </p:spPr>
      </p:sp>
      <p:sp>
        <p:nvSpPr>
          <p:cNvPr id="13" name="Text 11"/>
          <p:cNvSpPr txBox="1"/>
          <p:nvPr/>
        </p:nvSpPr>
        <p:spPr>
          <a:xfrm>
            <a:off x="4937760" y="266090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txBox="1"/>
          <p:nvPr/>
        </p:nvSpPr>
        <p:spPr>
          <a:xfrm>
            <a:off x="5669280" y="2615184"/>
            <a:ext cx="5943600" cy="640080"/>
          </a:xfrm>
          <a:prstGeom prst="rect">
            <a:avLst/>
          </a:prstGeom>
          <a:noFill/>
          <a:ln/>
        </p:spPr>
        <p:txBody>
          <a:bodyPr wrap="square" lIns="0" tIns="0" rIns="0" bIns="0" rtlCol="0" anchor="ctr"/>
          <a:lstStyle/>
          <a:p>
            <a:pPr indent="0" marL="0">
              <a:buNone/>
            </a:pPr>
            <a:r>
              <a:rPr lang="en-US" sz="1800" dirty="0">
                <a:solidFill>
                  <a:srgbClr val="1F1A2E"/>
                </a:solidFill>
                <a:latin typeface="Calibri" pitchFamily="34" charset="0"/>
                <a:ea typeface="Calibri" pitchFamily="34" charset="-122"/>
                <a:cs typeface="Calibri" pitchFamily="34" charset="-120"/>
              </a:rPr>
              <a:t>Greedy Best-First Search</a:t>
            </a:r>
            <a:endParaRPr lang="en-US" sz="1800" dirty="0"/>
          </a:p>
        </p:txBody>
      </p:sp>
      <p:sp>
        <p:nvSpPr>
          <p:cNvPr id="15" name="Shape 13"/>
          <p:cNvSpPr/>
          <p:nvPr/>
        </p:nvSpPr>
        <p:spPr>
          <a:xfrm>
            <a:off x="4937760" y="3447288"/>
            <a:ext cx="548640" cy="548640"/>
          </a:xfrm>
          <a:prstGeom prst="ellipse">
            <a:avLst/>
          </a:prstGeom>
          <a:solidFill>
            <a:srgbClr val="5B2A86"/>
          </a:solidFill>
          <a:ln w="12700">
            <a:solidFill>
              <a:srgbClr val="5B2A86"/>
            </a:solidFill>
            <a:prstDash val="solid"/>
          </a:ln>
        </p:spPr>
      </p:sp>
      <p:sp>
        <p:nvSpPr>
          <p:cNvPr id="16" name="Text 14"/>
          <p:cNvSpPr txBox="1"/>
          <p:nvPr/>
        </p:nvSpPr>
        <p:spPr>
          <a:xfrm>
            <a:off x="4937760" y="344728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txBox="1"/>
          <p:nvPr/>
        </p:nvSpPr>
        <p:spPr>
          <a:xfrm>
            <a:off x="5669280" y="3401568"/>
            <a:ext cx="5943600" cy="640080"/>
          </a:xfrm>
          <a:prstGeom prst="rect">
            <a:avLst/>
          </a:prstGeom>
          <a:noFill/>
          <a:ln/>
        </p:spPr>
        <p:txBody>
          <a:bodyPr wrap="square" lIns="0" tIns="0" rIns="0" bIns="0" rtlCol="0" anchor="ctr"/>
          <a:lstStyle/>
          <a:p>
            <a:pPr indent="0" marL="0">
              <a:buNone/>
            </a:pPr>
            <a:r>
              <a:rPr lang="en-US" sz="1800" dirty="0">
                <a:solidFill>
                  <a:srgbClr val="1F1A2E"/>
                </a:solidFill>
                <a:latin typeface="Calibri" pitchFamily="34" charset="0"/>
                <a:ea typeface="Calibri" pitchFamily="34" charset="-122"/>
                <a:cs typeface="Calibri" pitchFamily="34" charset="-120"/>
              </a:rPr>
              <a:t>A* Search and admissible heuristics</a:t>
            </a:r>
            <a:endParaRPr lang="en-US" sz="1800" dirty="0"/>
          </a:p>
        </p:txBody>
      </p:sp>
      <p:sp>
        <p:nvSpPr>
          <p:cNvPr id="18" name="Shape 16"/>
          <p:cNvSpPr/>
          <p:nvPr/>
        </p:nvSpPr>
        <p:spPr>
          <a:xfrm>
            <a:off x="4937760" y="4233672"/>
            <a:ext cx="548640" cy="548640"/>
          </a:xfrm>
          <a:prstGeom prst="ellipse">
            <a:avLst/>
          </a:prstGeom>
          <a:solidFill>
            <a:srgbClr val="5B2A86"/>
          </a:solidFill>
          <a:ln w="12700">
            <a:solidFill>
              <a:srgbClr val="5B2A86"/>
            </a:solidFill>
            <a:prstDash val="solid"/>
          </a:ln>
        </p:spPr>
      </p:sp>
      <p:sp>
        <p:nvSpPr>
          <p:cNvPr id="19" name="Text 17"/>
          <p:cNvSpPr txBox="1"/>
          <p:nvPr/>
        </p:nvSpPr>
        <p:spPr>
          <a:xfrm>
            <a:off x="4937760" y="423367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0" name="Text 18"/>
          <p:cNvSpPr txBox="1"/>
          <p:nvPr/>
        </p:nvSpPr>
        <p:spPr>
          <a:xfrm>
            <a:off x="5669280" y="4187952"/>
            <a:ext cx="5943600" cy="640080"/>
          </a:xfrm>
          <a:prstGeom prst="rect">
            <a:avLst/>
          </a:prstGeom>
          <a:noFill/>
          <a:ln/>
        </p:spPr>
        <p:txBody>
          <a:bodyPr wrap="square" lIns="0" tIns="0" rIns="0" bIns="0" rtlCol="0" anchor="ctr"/>
          <a:lstStyle/>
          <a:p>
            <a:pPr indent="0" marL="0">
              <a:buNone/>
            </a:pPr>
            <a:r>
              <a:rPr lang="en-US" sz="1800" dirty="0">
                <a:solidFill>
                  <a:srgbClr val="1F1A2E"/>
                </a:solidFill>
                <a:latin typeface="Calibri" pitchFamily="34" charset="0"/>
                <a:ea typeface="Calibri" pitchFamily="34" charset="-122"/>
                <a:cs typeface="Calibri" pitchFamily="34" charset="-120"/>
              </a:rPr>
              <a:t>Hill Climbing and its problems</a:t>
            </a:r>
            <a:endParaRPr lang="en-US" sz="1800" dirty="0"/>
          </a:p>
        </p:txBody>
      </p:sp>
      <p:sp>
        <p:nvSpPr>
          <p:cNvPr id="21" name="Shape 19"/>
          <p:cNvSpPr/>
          <p:nvPr/>
        </p:nvSpPr>
        <p:spPr>
          <a:xfrm>
            <a:off x="4937760" y="5020056"/>
            <a:ext cx="548640" cy="548640"/>
          </a:xfrm>
          <a:prstGeom prst="ellipse">
            <a:avLst/>
          </a:prstGeom>
          <a:solidFill>
            <a:srgbClr val="5B2A86"/>
          </a:solidFill>
          <a:ln w="12700">
            <a:solidFill>
              <a:srgbClr val="5B2A86"/>
            </a:solidFill>
            <a:prstDash val="solid"/>
          </a:ln>
        </p:spPr>
      </p:sp>
      <p:sp>
        <p:nvSpPr>
          <p:cNvPr id="22" name="Text 20"/>
          <p:cNvSpPr txBox="1"/>
          <p:nvPr/>
        </p:nvSpPr>
        <p:spPr>
          <a:xfrm>
            <a:off x="4937760" y="5020056"/>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txBox="1"/>
          <p:nvPr/>
        </p:nvSpPr>
        <p:spPr>
          <a:xfrm>
            <a:off x="5669280" y="4974336"/>
            <a:ext cx="5943600" cy="640080"/>
          </a:xfrm>
          <a:prstGeom prst="rect">
            <a:avLst/>
          </a:prstGeom>
          <a:noFill/>
          <a:ln/>
        </p:spPr>
        <p:txBody>
          <a:bodyPr wrap="square" lIns="0" tIns="0" rIns="0" bIns="0" rtlCol="0" anchor="ctr"/>
          <a:lstStyle/>
          <a:p>
            <a:pPr indent="0" marL="0">
              <a:buNone/>
            </a:pPr>
            <a:r>
              <a:rPr lang="en-US" sz="1800" dirty="0">
                <a:solidFill>
                  <a:srgbClr val="1F1A2E"/>
                </a:solidFill>
                <a:latin typeface="Calibri" pitchFamily="34" charset="0"/>
                <a:ea typeface="Calibri" pitchFamily="34" charset="-122"/>
                <a:cs typeface="Calibri" pitchFamily="34" charset="-120"/>
              </a:rPr>
              <a:t>A first look at game search (Minimax)</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Blind vs Informed: An Everyday Example</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325880"/>
            <a:ext cx="5394960" cy="3749040"/>
          </a:xfrm>
          <a:prstGeom prst="roundRect">
            <a:avLst>
              <a:gd name="adj" fmla="val 2439"/>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822960" y="1508760"/>
            <a:ext cx="685800" cy="685800"/>
          </a:xfrm>
          <a:prstGeom prst="ellipse">
            <a:avLst/>
          </a:prstGeom>
          <a:solidFill>
            <a:srgbClr val="6B6780"/>
          </a:solidFill>
          <a:ln w="12700">
            <a:solidFill>
              <a:srgbClr val="6B6780"/>
            </a:solidFill>
            <a:prstDash val="solid"/>
          </a:ln>
        </p:spPr>
      </p:sp>
      <p:pic>
        <p:nvPicPr>
          <p:cNvPr id="7" name="Image 0" descr="preencoded.png">    </p:cNvPr>
          <p:cNvPicPr>
            <a:picLocks noChangeAspect="1"/>
          </p:cNvPicPr>
          <p:nvPr/>
        </p:nvPicPr>
        <p:blipFill>
          <a:blip r:embed="rId1"/>
          <a:stretch>
            <a:fillRect/>
          </a:stretch>
        </p:blipFill>
        <p:spPr>
          <a:xfrm>
            <a:off x="987552" y="1673352"/>
            <a:ext cx="356616" cy="356616"/>
          </a:xfrm>
          <a:prstGeom prst="rect">
            <a:avLst/>
          </a:prstGeom>
        </p:spPr>
      </p:pic>
      <p:sp>
        <p:nvSpPr>
          <p:cNvPr id="8" name="Text 5"/>
          <p:cNvSpPr txBox="1"/>
          <p:nvPr/>
        </p:nvSpPr>
        <p:spPr>
          <a:xfrm>
            <a:off x="1691640" y="1508760"/>
            <a:ext cx="4023360" cy="685800"/>
          </a:xfrm>
          <a:prstGeom prst="rect">
            <a:avLst/>
          </a:prstGeom>
          <a:noFill/>
          <a:ln/>
        </p:spPr>
        <p:txBody>
          <a:bodyPr wrap="square" lIns="0" tIns="0" rIns="0" bIns="0" rtlCol="0" anchor="ctr"/>
          <a:lstStyle/>
          <a:p>
            <a:pPr indent="0" marL="0">
              <a:buNone/>
            </a:pPr>
            <a:r>
              <a:rPr lang="en-US" sz="2000" b="1" dirty="0">
                <a:solidFill>
                  <a:srgbClr val="1A1333"/>
                </a:solidFill>
                <a:latin typeface="Calibri" pitchFamily="34" charset="0"/>
                <a:ea typeface="Calibri" pitchFamily="34" charset="-122"/>
                <a:cs typeface="Calibri" pitchFamily="34" charset="-120"/>
              </a:rPr>
              <a:t>Without a hint (blind)</a:t>
            </a:r>
            <a:endParaRPr lang="en-US" sz="2000" dirty="0"/>
          </a:p>
        </p:txBody>
      </p:sp>
      <p:sp>
        <p:nvSpPr>
          <p:cNvPr id="9" name="Text 6"/>
          <p:cNvSpPr txBox="1"/>
          <p:nvPr/>
        </p:nvSpPr>
        <p:spPr>
          <a:xfrm>
            <a:off x="822960" y="2377440"/>
            <a:ext cx="4846320" cy="2468880"/>
          </a:xfrm>
          <a:prstGeom prst="rect">
            <a:avLst/>
          </a:prstGeom>
          <a:noFill/>
          <a:ln/>
        </p:spPr>
        <p:txBody>
          <a:bodyPr wrap="square" lIns="0" tIns="0" rIns="0" bIns="0" rtlCol="0" anchor="t"/>
          <a:lstStyle/>
          <a:p>
            <a:pPr indent="0" marL="0">
              <a:buNone/>
            </a:pPr>
            <a:r>
              <a:rPr lang="en-US" sz="1700" dirty="0">
                <a:solidFill>
                  <a:srgbClr val="1F1A2E"/>
                </a:solidFill>
                <a:latin typeface="Calibri" pitchFamily="34" charset="0"/>
                <a:ea typeface="Calibri" pitchFamily="34" charset="-122"/>
                <a:cs typeface="Calibri" pitchFamily="34" charset="-120"/>
              </a:rPr>
              <a:t>You are new in a city and looking for a famous mosque. You walk down every street one by one until you find it.</a:t>
            </a:r>
            <a:endParaRPr lang="en-US" sz="1700" dirty="0"/>
          </a:p>
        </p:txBody>
      </p:sp>
      <p:sp>
        <p:nvSpPr>
          <p:cNvPr id="10" name="Shape 7"/>
          <p:cNvSpPr/>
          <p:nvPr/>
        </p:nvSpPr>
        <p:spPr>
          <a:xfrm>
            <a:off x="6245352" y="1325880"/>
            <a:ext cx="5394960" cy="3749040"/>
          </a:xfrm>
          <a:prstGeom prst="roundRect">
            <a:avLst>
              <a:gd name="adj" fmla="val 2439"/>
            </a:avLst>
          </a:prstGeom>
          <a:solidFill>
            <a:srgbClr val="FFF4E3"/>
          </a:solidFill>
          <a:ln w="12700">
            <a:solidFill>
              <a:srgbClr val="FFF4E3"/>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6519672" y="1508760"/>
            <a:ext cx="685800" cy="685800"/>
          </a:xfrm>
          <a:prstGeom prst="ellipse">
            <a:avLst/>
          </a:prstGeom>
          <a:solidFill>
            <a:srgbClr val="FF9F1C"/>
          </a:solidFill>
          <a:ln w="12700">
            <a:solidFill>
              <a:srgbClr val="FF9F1C"/>
            </a:solidFill>
            <a:prstDash val="solid"/>
          </a:ln>
        </p:spPr>
      </p:sp>
      <p:pic>
        <p:nvPicPr>
          <p:cNvPr id="12" name="Image 1" descr="preencoded.png">    </p:cNvPr>
          <p:cNvPicPr>
            <a:picLocks noChangeAspect="1"/>
          </p:cNvPicPr>
          <p:nvPr/>
        </p:nvPicPr>
        <p:blipFill>
          <a:blip r:embed="rId2"/>
          <a:stretch>
            <a:fillRect/>
          </a:stretch>
        </p:blipFill>
        <p:spPr>
          <a:xfrm>
            <a:off x="6684264" y="1673352"/>
            <a:ext cx="356616" cy="356616"/>
          </a:xfrm>
          <a:prstGeom prst="rect">
            <a:avLst/>
          </a:prstGeom>
        </p:spPr>
      </p:pic>
      <p:sp>
        <p:nvSpPr>
          <p:cNvPr id="13" name="Text 9"/>
          <p:cNvSpPr txBox="1"/>
          <p:nvPr/>
        </p:nvSpPr>
        <p:spPr>
          <a:xfrm>
            <a:off x="7388352" y="1508760"/>
            <a:ext cx="4023360" cy="685800"/>
          </a:xfrm>
          <a:prstGeom prst="rect">
            <a:avLst/>
          </a:prstGeom>
          <a:noFill/>
          <a:ln/>
        </p:spPr>
        <p:txBody>
          <a:bodyPr wrap="square" lIns="0" tIns="0" rIns="0" bIns="0" rtlCol="0" anchor="ctr"/>
          <a:lstStyle/>
          <a:p>
            <a:pPr indent="0" marL="0">
              <a:buNone/>
            </a:pPr>
            <a:r>
              <a:rPr lang="en-US" sz="2000" b="1" dirty="0">
                <a:solidFill>
                  <a:srgbClr val="1A1333"/>
                </a:solidFill>
                <a:latin typeface="Calibri" pitchFamily="34" charset="0"/>
                <a:ea typeface="Calibri" pitchFamily="34" charset="-122"/>
                <a:cs typeface="Calibri" pitchFamily="34" charset="-120"/>
              </a:rPr>
              <a:t>With a hint (informed)</a:t>
            </a:r>
            <a:endParaRPr lang="en-US" sz="2000" dirty="0"/>
          </a:p>
        </p:txBody>
      </p:sp>
      <p:sp>
        <p:nvSpPr>
          <p:cNvPr id="14" name="Text 10"/>
          <p:cNvSpPr txBox="1"/>
          <p:nvPr/>
        </p:nvSpPr>
        <p:spPr>
          <a:xfrm>
            <a:off x="6519672" y="2377440"/>
            <a:ext cx="4846320" cy="2468880"/>
          </a:xfrm>
          <a:prstGeom prst="rect">
            <a:avLst/>
          </a:prstGeom>
          <a:noFill/>
          <a:ln/>
        </p:spPr>
        <p:txBody>
          <a:bodyPr wrap="square" lIns="0" tIns="0" rIns="0" bIns="0" rtlCol="0" anchor="t"/>
          <a:lstStyle/>
          <a:p>
            <a:pPr indent="0" marL="0">
              <a:buNone/>
            </a:pPr>
            <a:r>
              <a:rPr lang="en-US" sz="1700" dirty="0">
                <a:solidFill>
                  <a:srgbClr val="1F1A2E"/>
                </a:solidFill>
                <a:latin typeface="Calibri" pitchFamily="34" charset="0"/>
                <a:ea typeface="Calibri" pitchFamily="34" charset="-122"/>
                <a:cs typeface="Calibri" pitchFamily="34" charset="-120"/>
              </a:rPr>
              <a:t>You can see the tall minaret above the buildings. You choose the streets that go towards it. You arrive much faster.</a:t>
            </a:r>
            <a:endParaRPr lang="en-US" sz="1700" dirty="0"/>
          </a:p>
        </p:txBody>
      </p:sp>
      <p:sp>
        <p:nvSpPr>
          <p:cNvPr id="15" name="Text 11"/>
          <p:cNvSpPr txBox="1"/>
          <p:nvPr/>
        </p:nvSpPr>
        <p:spPr>
          <a:xfrm>
            <a:off x="548640" y="5349240"/>
            <a:ext cx="11094415" cy="640080"/>
          </a:xfrm>
          <a:prstGeom prst="rect">
            <a:avLst/>
          </a:prstGeom>
          <a:noFill/>
          <a:ln/>
        </p:spPr>
        <p:txBody>
          <a:bodyPr wrap="square" lIns="0" tIns="0" rIns="0" bIns="0" rtlCol="0" anchor="t"/>
          <a:lstStyle/>
          <a:p>
            <a:pPr algn="ctr" indent="0" marL="0">
              <a:buNone/>
            </a:pPr>
            <a:r>
              <a:rPr lang="en-US" sz="1800" b="1" dirty="0">
                <a:solidFill>
                  <a:srgbClr val="5B2A86"/>
                </a:solidFill>
                <a:latin typeface="Calibri" pitchFamily="34" charset="0"/>
                <a:ea typeface="Calibri" pitchFamily="34" charset="-122"/>
                <a:cs typeface="Calibri" pitchFamily="34" charset="-120"/>
              </a:rPr>
              <a:t>The minaret is a HEURISTIC: extra knowledge that tells you roughly how close you are to the goal.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What is a Heuristic?</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234440"/>
            <a:ext cx="11094415" cy="1005840"/>
          </a:xfrm>
          <a:prstGeom prst="roundRect">
            <a:avLst>
              <a:gd name="adj" fmla="val 9091"/>
            </a:avLst>
          </a:prstGeom>
          <a:solidFill>
            <a:srgbClr val="FFF4E3"/>
          </a:solidFill>
          <a:ln w="12700">
            <a:solidFill>
              <a:srgbClr val="FFF4E3"/>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77240" y="1417320"/>
            <a:ext cx="640080" cy="640080"/>
          </a:xfrm>
          <a:prstGeom prst="ellipse">
            <a:avLst/>
          </a:prstGeom>
          <a:solidFill>
            <a:srgbClr val="FF9F1C"/>
          </a:solidFill>
          <a:ln w="12700">
            <a:solidFill>
              <a:srgbClr val="FF9F1C"/>
            </a:solidFill>
            <a:prstDash val="solid"/>
          </a:ln>
        </p:spPr>
      </p:sp>
      <p:pic>
        <p:nvPicPr>
          <p:cNvPr id="7" name="Image 0" descr="preencoded.png">    </p:cNvPr>
          <p:cNvPicPr>
            <a:picLocks noChangeAspect="1"/>
          </p:cNvPicPr>
          <p:nvPr/>
        </p:nvPicPr>
        <p:blipFill>
          <a:blip r:embed="rId1"/>
          <a:stretch>
            <a:fillRect/>
          </a:stretch>
        </p:blipFill>
        <p:spPr>
          <a:xfrm>
            <a:off x="930859" y="1570939"/>
            <a:ext cx="332842" cy="332842"/>
          </a:xfrm>
          <a:prstGeom prst="rect">
            <a:avLst/>
          </a:prstGeom>
        </p:spPr>
      </p:pic>
      <p:sp>
        <p:nvSpPr>
          <p:cNvPr id="8" name="Text 5"/>
          <p:cNvSpPr txBox="1"/>
          <p:nvPr/>
        </p:nvSpPr>
        <p:spPr>
          <a:xfrm>
            <a:off x="1645920" y="1234440"/>
            <a:ext cx="9768535" cy="100584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Heuristic h(n) </a:t>
            </a:r>
            <a:r>
              <a:rPr lang="en-US" sz="1600" dirty="0">
                <a:solidFill>
                  <a:srgbClr val="1F1A2E"/>
                </a:solidFill>
                <a:latin typeface="Calibri" pitchFamily="34" charset="0"/>
                <a:ea typeface="Calibri" pitchFamily="34" charset="-122"/>
                <a:cs typeface="Calibri" pitchFamily="34" charset="-120"/>
              </a:rPr>
              <a:t>= an estimate of the cost from node n to the goal. It is a smart guess, not the exact answer. At the goal, h = 0.</a:t>
            </a:r>
            <a:endParaRPr lang="en-US" sz="1600" dirty="0"/>
          </a:p>
        </p:txBody>
      </p:sp>
      <p:sp>
        <p:nvSpPr>
          <p:cNvPr id="9" name="Shape 6"/>
          <p:cNvSpPr/>
          <p:nvPr/>
        </p:nvSpPr>
        <p:spPr>
          <a:xfrm>
            <a:off x="548640" y="2514600"/>
            <a:ext cx="2567864" cy="2743200"/>
          </a:xfrm>
          <a:prstGeom prst="roundRect">
            <a:avLst>
              <a:gd name="adj" fmla="val 3561"/>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777240" y="2715768"/>
            <a:ext cx="594360" cy="594360"/>
          </a:xfrm>
          <a:prstGeom prst="ellipse">
            <a:avLst/>
          </a:prstGeom>
          <a:solidFill>
            <a:srgbClr val="5B2A86"/>
          </a:solidFill>
          <a:ln w="12700">
            <a:solidFill>
              <a:srgbClr val="5B2A86"/>
            </a:solidFill>
            <a:prstDash val="solid"/>
          </a:ln>
        </p:spPr>
      </p:sp>
      <p:pic>
        <p:nvPicPr>
          <p:cNvPr id="11" name="Image 1" descr="preencoded.png">    </p:cNvPr>
          <p:cNvPicPr>
            <a:picLocks noChangeAspect="1"/>
          </p:cNvPicPr>
          <p:nvPr/>
        </p:nvPicPr>
        <p:blipFill>
          <a:blip r:embed="rId2"/>
          <a:stretch>
            <a:fillRect/>
          </a:stretch>
        </p:blipFill>
        <p:spPr>
          <a:xfrm>
            <a:off x="919886" y="2858414"/>
            <a:ext cx="309067" cy="309067"/>
          </a:xfrm>
          <a:prstGeom prst="rect">
            <a:avLst/>
          </a:prstGeom>
        </p:spPr>
      </p:pic>
      <p:sp>
        <p:nvSpPr>
          <p:cNvPr id="12" name="Text 8"/>
          <p:cNvSpPr txBox="1"/>
          <p:nvPr/>
        </p:nvSpPr>
        <p:spPr>
          <a:xfrm>
            <a:off x="1554480" y="2715768"/>
            <a:ext cx="1379144"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Route finding</a:t>
            </a:r>
            <a:endParaRPr lang="en-US" sz="1800" dirty="0"/>
          </a:p>
        </p:txBody>
      </p:sp>
      <p:sp>
        <p:nvSpPr>
          <p:cNvPr id="13" name="Text 9"/>
          <p:cNvSpPr txBox="1"/>
          <p:nvPr/>
        </p:nvSpPr>
        <p:spPr>
          <a:xfrm>
            <a:off x="777240" y="3447288"/>
            <a:ext cx="2110664" cy="164592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Straight-line distance to the destination ("as the crow flies").</a:t>
            </a:r>
            <a:endParaRPr lang="en-US" sz="1600" dirty="0"/>
          </a:p>
        </p:txBody>
      </p:sp>
      <p:sp>
        <p:nvSpPr>
          <p:cNvPr id="14" name="Shape 10"/>
          <p:cNvSpPr/>
          <p:nvPr/>
        </p:nvSpPr>
        <p:spPr>
          <a:xfrm>
            <a:off x="3390824" y="2514600"/>
            <a:ext cx="2567864" cy="2743200"/>
          </a:xfrm>
          <a:prstGeom prst="roundRect">
            <a:avLst>
              <a:gd name="adj" fmla="val 3561"/>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3619424" y="2715768"/>
            <a:ext cx="594360" cy="594360"/>
          </a:xfrm>
          <a:prstGeom prst="ellipse">
            <a:avLst/>
          </a:prstGeom>
          <a:solidFill>
            <a:srgbClr val="1FA898"/>
          </a:solidFill>
          <a:ln w="12700">
            <a:solidFill>
              <a:srgbClr val="1FA898"/>
            </a:solidFill>
            <a:prstDash val="solid"/>
          </a:ln>
        </p:spPr>
      </p:sp>
      <p:pic>
        <p:nvPicPr>
          <p:cNvPr id="16" name="Image 2" descr="preencoded.png">    </p:cNvPr>
          <p:cNvPicPr>
            <a:picLocks noChangeAspect="1"/>
          </p:cNvPicPr>
          <p:nvPr/>
        </p:nvPicPr>
        <p:blipFill>
          <a:blip r:embed="rId3"/>
          <a:stretch>
            <a:fillRect/>
          </a:stretch>
        </p:blipFill>
        <p:spPr>
          <a:xfrm>
            <a:off x="3762070" y="2858414"/>
            <a:ext cx="309067" cy="309067"/>
          </a:xfrm>
          <a:prstGeom prst="rect">
            <a:avLst/>
          </a:prstGeom>
        </p:spPr>
      </p:pic>
      <p:sp>
        <p:nvSpPr>
          <p:cNvPr id="17" name="Text 12"/>
          <p:cNvSpPr txBox="1"/>
          <p:nvPr/>
        </p:nvSpPr>
        <p:spPr>
          <a:xfrm>
            <a:off x="4396664" y="2715768"/>
            <a:ext cx="1379144"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8-puzzle (h1)</a:t>
            </a:r>
            <a:endParaRPr lang="en-US" sz="1800" dirty="0"/>
          </a:p>
        </p:txBody>
      </p:sp>
      <p:sp>
        <p:nvSpPr>
          <p:cNvPr id="18" name="Text 13"/>
          <p:cNvSpPr txBox="1"/>
          <p:nvPr/>
        </p:nvSpPr>
        <p:spPr>
          <a:xfrm>
            <a:off x="3619424" y="3447288"/>
            <a:ext cx="2110664" cy="164592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Number of tiles in the wrong place.</a:t>
            </a:r>
            <a:endParaRPr lang="en-US" sz="1600" dirty="0"/>
          </a:p>
        </p:txBody>
      </p:sp>
      <p:sp>
        <p:nvSpPr>
          <p:cNvPr id="19" name="Shape 14"/>
          <p:cNvSpPr/>
          <p:nvPr/>
        </p:nvSpPr>
        <p:spPr>
          <a:xfrm>
            <a:off x="6233008" y="2514600"/>
            <a:ext cx="2567864" cy="2743200"/>
          </a:xfrm>
          <a:prstGeom prst="roundRect">
            <a:avLst>
              <a:gd name="adj" fmla="val 3561"/>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6461608" y="2715768"/>
            <a:ext cx="594360" cy="594360"/>
          </a:xfrm>
          <a:prstGeom prst="ellipse">
            <a:avLst/>
          </a:prstGeom>
          <a:solidFill>
            <a:srgbClr val="FF9F1C"/>
          </a:solidFill>
          <a:ln w="12700">
            <a:solidFill>
              <a:srgbClr val="FF9F1C"/>
            </a:solidFill>
            <a:prstDash val="solid"/>
          </a:ln>
        </p:spPr>
      </p:sp>
      <p:pic>
        <p:nvPicPr>
          <p:cNvPr id="21" name="Image 3" descr="preencoded.png">    </p:cNvPr>
          <p:cNvPicPr>
            <a:picLocks noChangeAspect="1"/>
          </p:cNvPicPr>
          <p:nvPr/>
        </p:nvPicPr>
        <p:blipFill>
          <a:blip r:embed="rId4"/>
          <a:stretch>
            <a:fillRect/>
          </a:stretch>
        </p:blipFill>
        <p:spPr>
          <a:xfrm>
            <a:off x="6604254" y="2858414"/>
            <a:ext cx="309067" cy="309067"/>
          </a:xfrm>
          <a:prstGeom prst="rect">
            <a:avLst/>
          </a:prstGeom>
        </p:spPr>
      </p:pic>
      <p:sp>
        <p:nvSpPr>
          <p:cNvPr id="22" name="Text 16"/>
          <p:cNvSpPr txBox="1"/>
          <p:nvPr/>
        </p:nvSpPr>
        <p:spPr>
          <a:xfrm>
            <a:off x="7238848" y="2715768"/>
            <a:ext cx="1379144"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8-puzzle (h2)</a:t>
            </a:r>
            <a:endParaRPr lang="en-US" sz="1800" dirty="0"/>
          </a:p>
        </p:txBody>
      </p:sp>
      <p:sp>
        <p:nvSpPr>
          <p:cNvPr id="23" name="Text 17"/>
          <p:cNvSpPr txBox="1"/>
          <p:nvPr/>
        </p:nvSpPr>
        <p:spPr>
          <a:xfrm>
            <a:off x="6461608" y="3447288"/>
            <a:ext cx="2110664" cy="164592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Manhattan distance: total up/down + left/right steps each tile needs.</a:t>
            </a:r>
            <a:endParaRPr lang="en-US" sz="1600" dirty="0"/>
          </a:p>
        </p:txBody>
      </p:sp>
      <p:sp>
        <p:nvSpPr>
          <p:cNvPr id="24" name="Shape 18"/>
          <p:cNvSpPr/>
          <p:nvPr/>
        </p:nvSpPr>
        <p:spPr>
          <a:xfrm>
            <a:off x="9075191" y="2514600"/>
            <a:ext cx="2567864" cy="2743200"/>
          </a:xfrm>
          <a:prstGeom prst="roundRect">
            <a:avLst>
              <a:gd name="adj" fmla="val 3561"/>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25" name="Shape 19"/>
          <p:cNvSpPr/>
          <p:nvPr/>
        </p:nvSpPr>
        <p:spPr>
          <a:xfrm>
            <a:off x="9303791" y="2715768"/>
            <a:ext cx="594360" cy="594360"/>
          </a:xfrm>
          <a:prstGeom prst="ellipse">
            <a:avLst/>
          </a:prstGeom>
          <a:solidFill>
            <a:srgbClr val="D1495B"/>
          </a:solidFill>
          <a:ln w="12700">
            <a:solidFill>
              <a:srgbClr val="D1495B"/>
            </a:solidFill>
            <a:prstDash val="solid"/>
          </a:ln>
        </p:spPr>
      </p:sp>
      <p:pic>
        <p:nvPicPr>
          <p:cNvPr id="26" name="Image 4" descr="preencoded.png">    </p:cNvPr>
          <p:cNvPicPr>
            <a:picLocks noChangeAspect="1"/>
          </p:cNvPicPr>
          <p:nvPr/>
        </p:nvPicPr>
        <p:blipFill>
          <a:blip r:embed="rId5"/>
          <a:stretch>
            <a:fillRect/>
          </a:stretch>
        </p:blipFill>
        <p:spPr>
          <a:xfrm>
            <a:off x="9446438" y="2858414"/>
            <a:ext cx="309067" cy="309067"/>
          </a:xfrm>
          <a:prstGeom prst="rect">
            <a:avLst/>
          </a:prstGeom>
        </p:spPr>
      </p:pic>
      <p:sp>
        <p:nvSpPr>
          <p:cNvPr id="27" name="Text 20"/>
          <p:cNvSpPr txBox="1"/>
          <p:nvPr/>
        </p:nvSpPr>
        <p:spPr>
          <a:xfrm>
            <a:off x="10081031" y="2715768"/>
            <a:ext cx="1379144"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Chess</a:t>
            </a:r>
            <a:endParaRPr lang="en-US" sz="1800" dirty="0"/>
          </a:p>
        </p:txBody>
      </p:sp>
      <p:sp>
        <p:nvSpPr>
          <p:cNvPr id="28" name="Text 21"/>
          <p:cNvSpPr txBox="1"/>
          <p:nvPr/>
        </p:nvSpPr>
        <p:spPr>
          <a:xfrm>
            <a:off x="9303791" y="3447288"/>
            <a:ext cx="2110664" cy="164592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Material count: value of my pieces minus value of opponent's pieces.</a:t>
            </a:r>
            <a:endParaRPr lang="en-US" sz="1600" dirty="0"/>
          </a:p>
        </p:txBody>
      </p:sp>
      <p:sp>
        <p:nvSpPr>
          <p:cNvPr id="29" name="Text 22"/>
          <p:cNvSpPr txBox="1"/>
          <p:nvPr/>
        </p:nvSpPr>
        <p:spPr>
          <a:xfrm>
            <a:off x="548640" y="5486400"/>
            <a:ext cx="11094415" cy="548640"/>
          </a:xfrm>
          <a:prstGeom prst="rect">
            <a:avLst/>
          </a:prstGeom>
          <a:noFill/>
          <a:ln/>
        </p:spPr>
        <p:txBody>
          <a:bodyPr wrap="square" lIns="0" tIns="0" rIns="0" bIns="0" rtlCol="0" anchor="t"/>
          <a:lstStyle/>
          <a:p>
            <a:pPr indent="0" marL="0">
              <a:buNone/>
            </a:pPr>
            <a:r>
              <a:rPr lang="en-US" sz="1500" i="1" dirty="0">
                <a:solidFill>
                  <a:srgbClr val="6B6780"/>
                </a:solidFill>
                <a:latin typeface="Calibri" pitchFamily="34" charset="0"/>
                <a:ea typeface="Calibri" pitchFamily="34" charset="-122"/>
                <a:cs typeface="Calibri" pitchFamily="34" charset="-120"/>
              </a:rPr>
              <a:t>Where does the knowledge come from? From understanding the problem — this is why it is called knowledge-directed search.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Heuristic Example: Straight-Line Distance to Multan</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5</a:t>
            </a:r>
            <a:endParaRPr lang="en-US" sz="1000" dirty="0"/>
          </a:p>
        </p:txBody>
      </p:sp>
      <p:pic>
        <p:nvPicPr>
          <p:cNvPr id="5" name="Image 0" descr="img/fig_heuristic_map.png">    </p:cNvPr>
          <p:cNvPicPr>
            <a:picLocks noChangeAspect="1"/>
          </p:cNvPicPr>
          <p:nvPr/>
        </p:nvPicPr>
        <p:blipFill>
          <a:blip r:embed="rId1"/>
          <a:stretch>
            <a:fillRect/>
          </a:stretch>
        </p:blipFill>
        <p:spPr>
          <a:xfrm>
            <a:off x="548640" y="1188720"/>
            <a:ext cx="4799418" cy="4937760"/>
          </a:xfrm>
          <a:prstGeom prst="rect">
            <a:avLst/>
          </a:prstGeom>
        </p:spPr>
      </p:pic>
      <p:sp>
        <p:nvSpPr>
          <p:cNvPr id="6" name="Shape 3"/>
          <p:cNvSpPr/>
          <p:nvPr/>
        </p:nvSpPr>
        <p:spPr>
          <a:xfrm>
            <a:off x="7040880" y="1371600"/>
            <a:ext cx="4602175" cy="2103120"/>
          </a:xfrm>
          <a:prstGeom prst="roundRect">
            <a:avLst>
              <a:gd name="adj" fmla="val 4348"/>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269480" y="2103120"/>
            <a:ext cx="640080" cy="640080"/>
          </a:xfrm>
          <a:prstGeom prst="ellipse">
            <a:avLst/>
          </a:prstGeom>
          <a:solidFill>
            <a:srgbClr val="1FA898"/>
          </a:solidFill>
          <a:ln w="12700">
            <a:solidFill>
              <a:srgbClr val="1FA898"/>
            </a:solidFill>
            <a:prstDash val="solid"/>
          </a:ln>
        </p:spPr>
      </p:sp>
      <p:pic>
        <p:nvPicPr>
          <p:cNvPr id="8" name="Image 1" descr="preencoded.png">    </p:cNvPr>
          <p:cNvPicPr>
            <a:picLocks noChangeAspect="1"/>
          </p:cNvPicPr>
          <p:nvPr/>
        </p:nvPicPr>
        <p:blipFill>
          <a:blip r:embed="rId2"/>
          <a:stretch>
            <a:fillRect/>
          </a:stretch>
        </p:blipFill>
        <p:spPr>
          <a:xfrm>
            <a:off x="7423099" y="2256739"/>
            <a:ext cx="332842" cy="332842"/>
          </a:xfrm>
          <a:prstGeom prst="rect">
            <a:avLst/>
          </a:prstGeom>
        </p:spPr>
      </p:pic>
      <p:sp>
        <p:nvSpPr>
          <p:cNvPr id="9" name="Text 5"/>
          <p:cNvSpPr txBox="1"/>
          <p:nvPr/>
        </p:nvSpPr>
        <p:spPr>
          <a:xfrm>
            <a:off x="8138160" y="1371600"/>
            <a:ext cx="3276295" cy="2103120"/>
          </a:xfrm>
          <a:prstGeom prst="rect">
            <a:avLst/>
          </a:prstGeom>
          <a:noFill/>
          <a:ln/>
        </p:spPr>
        <p:txBody>
          <a:bodyPr wrap="square" lIns="0" tIns="0" rIns="0" bIns="0" rtlCol="0" anchor="ctr"/>
          <a:lstStyle/>
          <a:p>
            <a:pPr indent="0" marL="0">
              <a:buNone/>
            </a:pPr>
            <a:r>
              <a:rPr lang="en-US" sz="1500" dirty="0">
                <a:solidFill>
                  <a:srgbClr val="1F1A2E"/>
                </a:solidFill>
                <a:latin typeface="Calibri" pitchFamily="34" charset="0"/>
                <a:ea typeface="Calibri" pitchFamily="34" charset="-122"/>
                <a:cs typeface="Calibri" pitchFamily="34" charset="-120"/>
              </a:rPr>
              <a:t>From Kohat, the straight-line distance to Multan is </a:t>
            </a:r>
            <a:r>
              <a:rPr lang="en-US" sz="1500" b="1" dirty="0">
                <a:solidFill>
                  <a:srgbClr val="1F1A2E"/>
                </a:solidFill>
                <a:latin typeface="Calibri" pitchFamily="34" charset="0"/>
                <a:ea typeface="Calibri" pitchFamily="34" charset="-122"/>
                <a:cs typeface="Calibri" pitchFamily="34" charset="-120"/>
              </a:rPr>
              <a:t>380 km</a:t>
            </a:r>
            <a:r>
              <a:rPr lang="en-US" sz="1500" dirty="0">
                <a:solidFill>
                  <a:srgbClr val="1F1A2E"/>
                </a:solidFill>
                <a:latin typeface="Calibri" pitchFamily="34" charset="0"/>
                <a:ea typeface="Calibri" pitchFamily="34" charset="-122"/>
                <a:cs typeface="Calibri" pitchFamily="34" charset="-120"/>
              </a:rPr>
              <a:t>. The real road distance is longer, but 380 tells us Kohat is "closer" than Islamabad (417).</a:t>
            </a:r>
            <a:endParaRPr lang="en-US" sz="1500" dirty="0"/>
          </a:p>
        </p:txBody>
      </p:sp>
      <p:sp>
        <p:nvSpPr>
          <p:cNvPr id="10" name="Shape 6"/>
          <p:cNvSpPr/>
          <p:nvPr/>
        </p:nvSpPr>
        <p:spPr>
          <a:xfrm>
            <a:off x="7040880" y="3749040"/>
            <a:ext cx="4602175" cy="1920240"/>
          </a:xfrm>
          <a:prstGeom prst="roundRect">
            <a:avLst>
              <a:gd name="adj" fmla="val 4762"/>
            </a:avLst>
          </a:prstGeom>
          <a:solidFill>
            <a:srgbClr val="FFF4E3"/>
          </a:solidFill>
          <a:ln w="12700">
            <a:solidFill>
              <a:srgbClr val="FFF4E3"/>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7269480" y="4389120"/>
            <a:ext cx="640080" cy="640080"/>
          </a:xfrm>
          <a:prstGeom prst="ellipse">
            <a:avLst/>
          </a:prstGeom>
          <a:solidFill>
            <a:srgbClr val="FF9F1C"/>
          </a:solidFill>
          <a:ln w="12700">
            <a:solidFill>
              <a:srgbClr val="FF9F1C"/>
            </a:solidFill>
            <a:prstDash val="solid"/>
          </a:ln>
        </p:spPr>
      </p:sp>
      <p:pic>
        <p:nvPicPr>
          <p:cNvPr id="12" name="Image 2" descr="preencoded.png">    </p:cNvPr>
          <p:cNvPicPr>
            <a:picLocks noChangeAspect="1"/>
          </p:cNvPicPr>
          <p:nvPr/>
        </p:nvPicPr>
        <p:blipFill>
          <a:blip r:embed="rId3"/>
          <a:stretch>
            <a:fillRect/>
          </a:stretch>
        </p:blipFill>
        <p:spPr>
          <a:xfrm>
            <a:off x="7423099" y="4542739"/>
            <a:ext cx="332842" cy="332842"/>
          </a:xfrm>
          <a:prstGeom prst="rect">
            <a:avLst/>
          </a:prstGeom>
        </p:spPr>
      </p:pic>
      <p:sp>
        <p:nvSpPr>
          <p:cNvPr id="13" name="Text 8"/>
          <p:cNvSpPr txBox="1"/>
          <p:nvPr/>
        </p:nvSpPr>
        <p:spPr>
          <a:xfrm>
            <a:off x="8138160" y="3749040"/>
            <a:ext cx="3276295" cy="192024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Important: </a:t>
            </a:r>
            <a:r>
              <a:rPr lang="en-US" sz="1500" dirty="0">
                <a:solidFill>
                  <a:srgbClr val="1F1A2E"/>
                </a:solidFill>
                <a:latin typeface="Calibri" pitchFamily="34" charset="0"/>
                <a:ea typeface="Calibri" pitchFamily="34" charset="-122"/>
                <a:cs typeface="Calibri" pitchFamily="34" charset="-120"/>
              </a:rPr>
              <a:t>a road can never be shorter than a straight line, so this h never overestimates. Remember this for 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Heuristic Example: The 8-Puzzle</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6</a:t>
            </a:r>
            <a:endParaRPr lang="en-US" sz="1000" dirty="0"/>
          </a:p>
        </p:txBody>
      </p:sp>
      <p:pic>
        <p:nvPicPr>
          <p:cNvPr id="5" name="Image 0" descr="img/fig_manhattan.png">    </p:cNvPr>
          <p:cNvPicPr>
            <a:picLocks noChangeAspect="1"/>
          </p:cNvPicPr>
          <p:nvPr/>
        </p:nvPicPr>
        <p:blipFill>
          <a:blip r:embed="rId1"/>
          <a:stretch>
            <a:fillRect/>
          </a:stretch>
        </p:blipFill>
        <p:spPr>
          <a:xfrm>
            <a:off x="1188433" y="1280160"/>
            <a:ext cx="9814830" cy="3566160"/>
          </a:xfrm>
          <a:prstGeom prst="rect">
            <a:avLst/>
          </a:prstGeom>
        </p:spPr>
      </p:pic>
      <p:sp>
        <p:nvSpPr>
          <p:cNvPr id="6" name="Shape 3"/>
          <p:cNvSpPr/>
          <p:nvPr/>
        </p:nvSpPr>
        <p:spPr>
          <a:xfrm>
            <a:off x="548640" y="5029200"/>
            <a:ext cx="11094415" cy="1005840"/>
          </a:xfrm>
          <a:prstGeom prst="roundRect">
            <a:avLst>
              <a:gd name="adj" fmla="val 9091"/>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77240" y="5212080"/>
            <a:ext cx="640080" cy="640080"/>
          </a:xfrm>
          <a:prstGeom prst="ellipse">
            <a:avLst/>
          </a:prstGeom>
          <a:solidFill>
            <a:srgbClr val="1FA898"/>
          </a:solidFill>
          <a:ln w="12700">
            <a:solidFill>
              <a:srgbClr val="1FA898"/>
            </a:solidFill>
            <a:prstDash val="solid"/>
          </a:ln>
        </p:spPr>
      </p:sp>
      <p:pic>
        <p:nvPicPr>
          <p:cNvPr id="8" name="Image 1" descr="preencoded.png">    </p:cNvPr>
          <p:cNvPicPr>
            <a:picLocks noChangeAspect="1"/>
          </p:cNvPicPr>
          <p:nvPr/>
        </p:nvPicPr>
        <p:blipFill>
          <a:blip r:embed="rId2"/>
          <a:stretch>
            <a:fillRect/>
          </a:stretch>
        </p:blipFill>
        <p:spPr>
          <a:xfrm>
            <a:off x="930859" y="5365699"/>
            <a:ext cx="332842" cy="332842"/>
          </a:xfrm>
          <a:prstGeom prst="rect">
            <a:avLst/>
          </a:prstGeom>
        </p:spPr>
      </p:pic>
      <p:sp>
        <p:nvSpPr>
          <p:cNvPr id="9" name="Text 5"/>
          <p:cNvSpPr txBox="1"/>
          <p:nvPr/>
        </p:nvSpPr>
        <p:spPr>
          <a:xfrm>
            <a:off x="1645920" y="5029200"/>
            <a:ext cx="9768535" cy="1005840"/>
          </a:xfrm>
          <a:prstGeom prst="rect">
            <a:avLst/>
          </a:prstGeom>
          <a:noFill/>
          <a:ln/>
        </p:spPr>
        <p:txBody>
          <a:bodyPr wrap="square" lIns="0" tIns="0" rIns="0" bIns="0" rtlCol="0" anchor="ctr"/>
          <a:lstStyle/>
          <a:p>
            <a:pPr indent="0" marL="0">
              <a:buNone/>
            </a:pPr>
            <a:r>
              <a:rPr lang="en-US" sz="1600" dirty="0">
                <a:solidFill>
                  <a:srgbClr val="1F1A2E"/>
                </a:solidFill>
                <a:latin typeface="Calibri" pitchFamily="34" charset="0"/>
                <a:ea typeface="Calibri" pitchFamily="34" charset="-122"/>
                <a:cs typeface="Calibri" pitchFamily="34" charset="-120"/>
              </a:rPr>
              <a:t>h1 says "at least 3 moves", h2 says "at least 5 moves". The true answer is 13 moves. </a:t>
            </a:r>
            <a:r>
              <a:rPr lang="en-US" sz="1600" b="1" dirty="0">
                <a:solidFill>
                  <a:srgbClr val="1F1A2E"/>
                </a:solidFill>
                <a:latin typeface="Calibri" pitchFamily="34" charset="0"/>
                <a:ea typeface="Calibri" pitchFamily="34" charset="-122"/>
                <a:cs typeface="Calibri" pitchFamily="34" charset="-120"/>
              </a:rPr>
              <a:t>h2 is closer to the truth, so it is a better heuristic.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Best-First Search: Expand the Most Promising Node</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1280160"/>
            <a:ext cx="11094415" cy="457200"/>
          </a:xfrm>
          <a:prstGeom prst="rect">
            <a:avLst/>
          </a:prstGeom>
          <a:noFill/>
          <a:ln/>
        </p:spPr>
        <p:txBody>
          <a:bodyPr wrap="square" lIns="0" tIns="0" rIns="0" bIns="0" rtlCol="0" anchor="t"/>
          <a:lstStyle/>
          <a:p>
            <a:pPr indent="0" marL="0">
              <a:buNone/>
            </a:pPr>
            <a:r>
              <a:rPr lang="en-US" sz="1900" dirty="0">
                <a:solidFill>
                  <a:srgbClr val="1F1A2E"/>
                </a:solidFill>
                <a:latin typeface="Calibri" pitchFamily="34" charset="0"/>
                <a:ea typeface="Calibri" pitchFamily="34" charset="-122"/>
                <a:cs typeface="Calibri" pitchFamily="34" charset="-120"/>
              </a:rPr>
              <a:t>Every node gets a score f(n). The node with the SMALLEST f is expanded next.</a:t>
            </a:r>
            <a:endParaRPr lang="en-US" sz="1900" dirty="0"/>
          </a:p>
        </p:txBody>
      </p:sp>
      <p:sp>
        <p:nvSpPr>
          <p:cNvPr id="6" name="Shape 4"/>
          <p:cNvSpPr/>
          <p:nvPr/>
        </p:nvSpPr>
        <p:spPr>
          <a:xfrm>
            <a:off x="548640" y="2011680"/>
            <a:ext cx="3515258" cy="3200400"/>
          </a:xfrm>
          <a:prstGeom prst="roundRect">
            <a:avLst>
              <a:gd name="adj" fmla="val 2857"/>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548640" y="2194560"/>
            <a:ext cx="3515258" cy="502920"/>
          </a:xfrm>
          <a:prstGeom prst="rect">
            <a:avLst/>
          </a:prstGeom>
          <a:noFill/>
          <a:ln/>
        </p:spPr>
        <p:txBody>
          <a:bodyPr wrap="square" lIns="0" tIns="0" rIns="0" bIns="0" rtlCol="0" anchor="t"/>
          <a:lstStyle/>
          <a:p>
            <a:pPr algn="ctr" indent="0" marL="0">
              <a:buNone/>
            </a:pPr>
            <a:r>
              <a:rPr lang="en-US" sz="2400" b="1" dirty="0">
                <a:solidFill>
                  <a:srgbClr val="1A1333"/>
                </a:solidFill>
                <a:latin typeface="Cambria" pitchFamily="34" charset="0"/>
                <a:ea typeface="Cambria" pitchFamily="34" charset="-122"/>
                <a:cs typeface="Cambria" pitchFamily="34" charset="-120"/>
              </a:rPr>
              <a:t>Uniform-Cost</a:t>
            </a:r>
            <a:endParaRPr lang="en-US" sz="2400" dirty="0"/>
          </a:p>
        </p:txBody>
      </p:sp>
      <p:sp>
        <p:nvSpPr>
          <p:cNvPr id="8" name="Shape 6"/>
          <p:cNvSpPr/>
          <p:nvPr/>
        </p:nvSpPr>
        <p:spPr>
          <a:xfrm>
            <a:off x="822960" y="2834640"/>
            <a:ext cx="2966618" cy="822960"/>
          </a:xfrm>
          <a:prstGeom prst="roundRect">
            <a:avLst>
              <a:gd name="adj" fmla="val 8889"/>
            </a:avLst>
          </a:prstGeom>
          <a:solidFill>
            <a:srgbClr val="1FA898"/>
          </a:solidFill>
          <a:ln w="12700">
            <a:solidFill>
              <a:srgbClr val="1FA898"/>
            </a:solidFill>
            <a:prstDash val="solid"/>
          </a:ln>
        </p:spPr>
      </p:sp>
      <p:sp>
        <p:nvSpPr>
          <p:cNvPr id="9" name="Text 7"/>
          <p:cNvSpPr txBox="1"/>
          <p:nvPr/>
        </p:nvSpPr>
        <p:spPr>
          <a:xfrm>
            <a:off x="822960" y="2834640"/>
            <a:ext cx="296661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f(n) = g(n)</a:t>
            </a:r>
            <a:endParaRPr lang="en-US" sz="2000" dirty="0"/>
          </a:p>
        </p:txBody>
      </p:sp>
      <p:sp>
        <p:nvSpPr>
          <p:cNvPr id="10" name="Text 8"/>
          <p:cNvSpPr txBox="1"/>
          <p:nvPr/>
        </p:nvSpPr>
        <p:spPr>
          <a:xfrm>
            <a:off x="731520" y="3794760"/>
            <a:ext cx="3149498" cy="457200"/>
          </a:xfrm>
          <a:prstGeom prst="rect">
            <a:avLst/>
          </a:prstGeom>
          <a:noFill/>
          <a:ln/>
        </p:spPr>
        <p:txBody>
          <a:bodyPr wrap="square" lIns="0" tIns="0" rIns="0" bIns="0" rtlCol="0" anchor="t"/>
          <a:lstStyle/>
          <a:p>
            <a:pPr algn="ctr" indent="0" marL="0">
              <a:buNone/>
            </a:pPr>
            <a:r>
              <a:rPr lang="en-US" sz="1600" dirty="0">
                <a:solidFill>
                  <a:srgbClr val="1F1A2E"/>
                </a:solidFill>
                <a:latin typeface="Calibri" pitchFamily="34" charset="0"/>
                <a:ea typeface="Calibri" pitchFamily="34" charset="-122"/>
                <a:cs typeface="Calibri" pitchFamily="34" charset="-120"/>
              </a:rPr>
              <a:t>cost so far only</a:t>
            </a:r>
            <a:endParaRPr lang="en-US" sz="1600" dirty="0"/>
          </a:p>
        </p:txBody>
      </p:sp>
      <p:sp>
        <p:nvSpPr>
          <p:cNvPr id="11" name="Text 9"/>
          <p:cNvSpPr txBox="1"/>
          <p:nvPr/>
        </p:nvSpPr>
        <p:spPr>
          <a:xfrm>
            <a:off x="731520" y="4343400"/>
            <a:ext cx="3149498" cy="457200"/>
          </a:xfrm>
          <a:prstGeom prst="rect">
            <a:avLst/>
          </a:prstGeom>
          <a:noFill/>
          <a:ln/>
        </p:spPr>
        <p:txBody>
          <a:bodyPr wrap="square" lIns="0" tIns="0" rIns="0" bIns="0" rtlCol="0" anchor="t"/>
          <a:lstStyle/>
          <a:p>
            <a:pPr algn="ctr" indent="0" marL="0">
              <a:buNone/>
            </a:pPr>
            <a:r>
              <a:rPr lang="en-US" sz="1500" i="1" dirty="0">
                <a:solidFill>
                  <a:srgbClr val="6B6780"/>
                </a:solidFill>
                <a:latin typeface="Calibri" pitchFamily="34" charset="0"/>
                <a:ea typeface="Calibri" pitchFamily="34" charset="-122"/>
                <a:cs typeface="Calibri" pitchFamily="34" charset="-120"/>
              </a:rPr>
              <a:t>(blind — Lecture 6)</a:t>
            </a:r>
            <a:endParaRPr lang="en-US" sz="1500" dirty="0"/>
          </a:p>
        </p:txBody>
      </p:sp>
      <p:sp>
        <p:nvSpPr>
          <p:cNvPr id="12" name="Shape 10"/>
          <p:cNvSpPr/>
          <p:nvPr/>
        </p:nvSpPr>
        <p:spPr>
          <a:xfrm>
            <a:off x="4338218" y="2011680"/>
            <a:ext cx="3515258" cy="3200400"/>
          </a:xfrm>
          <a:prstGeom prst="roundRect">
            <a:avLst>
              <a:gd name="adj" fmla="val 2857"/>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338218" y="2194560"/>
            <a:ext cx="3515258" cy="502920"/>
          </a:xfrm>
          <a:prstGeom prst="rect">
            <a:avLst/>
          </a:prstGeom>
          <a:noFill/>
          <a:ln/>
        </p:spPr>
        <p:txBody>
          <a:bodyPr wrap="square" lIns="0" tIns="0" rIns="0" bIns="0" rtlCol="0" anchor="t"/>
          <a:lstStyle/>
          <a:p>
            <a:pPr algn="ctr" indent="0" marL="0">
              <a:buNone/>
            </a:pPr>
            <a:r>
              <a:rPr lang="en-US" sz="2400" b="1" dirty="0">
                <a:solidFill>
                  <a:srgbClr val="1A1333"/>
                </a:solidFill>
                <a:latin typeface="Cambria" pitchFamily="34" charset="0"/>
                <a:ea typeface="Cambria" pitchFamily="34" charset="-122"/>
                <a:cs typeface="Cambria" pitchFamily="34" charset="-120"/>
              </a:rPr>
              <a:t>Greedy</a:t>
            </a:r>
            <a:endParaRPr lang="en-US" sz="2400" dirty="0"/>
          </a:p>
        </p:txBody>
      </p:sp>
      <p:sp>
        <p:nvSpPr>
          <p:cNvPr id="14" name="Shape 12"/>
          <p:cNvSpPr/>
          <p:nvPr/>
        </p:nvSpPr>
        <p:spPr>
          <a:xfrm>
            <a:off x="4612538" y="2834640"/>
            <a:ext cx="2966618" cy="822960"/>
          </a:xfrm>
          <a:prstGeom prst="roundRect">
            <a:avLst>
              <a:gd name="adj" fmla="val 8889"/>
            </a:avLst>
          </a:prstGeom>
          <a:solidFill>
            <a:srgbClr val="D1495B"/>
          </a:solidFill>
          <a:ln w="12700">
            <a:solidFill>
              <a:srgbClr val="D1495B"/>
            </a:solidFill>
            <a:prstDash val="solid"/>
          </a:ln>
        </p:spPr>
      </p:sp>
      <p:sp>
        <p:nvSpPr>
          <p:cNvPr id="15" name="Text 13"/>
          <p:cNvSpPr txBox="1"/>
          <p:nvPr/>
        </p:nvSpPr>
        <p:spPr>
          <a:xfrm>
            <a:off x="4612538" y="2834640"/>
            <a:ext cx="296661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f(n) = h(n)</a:t>
            </a:r>
            <a:endParaRPr lang="en-US" sz="2000" dirty="0"/>
          </a:p>
        </p:txBody>
      </p:sp>
      <p:sp>
        <p:nvSpPr>
          <p:cNvPr id="16" name="Text 14"/>
          <p:cNvSpPr txBox="1"/>
          <p:nvPr/>
        </p:nvSpPr>
        <p:spPr>
          <a:xfrm>
            <a:off x="4521098" y="3794760"/>
            <a:ext cx="3149498" cy="457200"/>
          </a:xfrm>
          <a:prstGeom prst="rect">
            <a:avLst/>
          </a:prstGeom>
          <a:noFill/>
          <a:ln/>
        </p:spPr>
        <p:txBody>
          <a:bodyPr wrap="square" lIns="0" tIns="0" rIns="0" bIns="0" rtlCol="0" anchor="t"/>
          <a:lstStyle/>
          <a:p>
            <a:pPr algn="ctr" indent="0" marL="0">
              <a:buNone/>
            </a:pPr>
            <a:r>
              <a:rPr lang="en-US" sz="1600" dirty="0">
                <a:solidFill>
                  <a:srgbClr val="1F1A2E"/>
                </a:solidFill>
                <a:latin typeface="Calibri" pitchFamily="34" charset="0"/>
                <a:ea typeface="Calibri" pitchFamily="34" charset="-122"/>
                <a:cs typeface="Calibri" pitchFamily="34" charset="-120"/>
              </a:rPr>
              <a:t>estimate to goal only</a:t>
            </a:r>
            <a:endParaRPr lang="en-US" sz="1600" dirty="0"/>
          </a:p>
        </p:txBody>
      </p:sp>
      <p:sp>
        <p:nvSpPr>
          <p:cNvPr id="17" name="Text 15"/>
          <p:cNvSpPr txBox="1"/>
          <p:nvPr/>
        </p:nvSpPr>
        <p:spPr>
          <a:xfrm>
            <a:off x="4521098" y="4343400"/>
            <a:ext cx="3149498" cy="457200"/>
          </a:xfrm>
          <a:prstGeom prst="rect">
            <a:avLst/>
          </a:prstGeom>
          <a:noFill/>
          <a:ln/>
        </p:spPr>
        <p:txBody>
          <a:bodyPr wrap="square" lIns="0" tIns="0" rIns="0" bIns="0" rtlCol="0" anchor="t"/>
          <a:lstStyle/>
          <a:p>
            <a:pPr algn="ctr" indent="0" marL="0">
              <a:buNone/>
            </a:pPr>
            <a:r>
              <a:rPr lang="en-US" sz="1500" i="1" dirty="0">
                <a:solidFill>
                  <a:srgbClr val="6B6780"/>
                </a:solidFill>
                <a:latin typeface="Calibri" pitchFamily="34" charset="0"/>
                <a:ea typeface="Calibri" pitchFamily="34" charset="-122"/>
                <a:cs typeface="Calibri" pitchFamily="34" charset="-120"/>
              </a:rPr>
              <a:t>fast, not always best</a:t>
            </a:r>
            <a:endParaRPr lang="en-US" sz="1500" dirty="0"/>
          </a:p>
        </p:txBody>
      </p:sp>
      <p:sp>
        <p:nvSpPr>
          <p:cNvPr id="18" name="Shape 16"/>
          <p:cNvSpPr/>
          <p:nvPr/>
        </p:nvSpPr>
        <p:spPr>
          <a:xfrm>
            <a:off x="8127797" y="2011680"/>
            <a:ext cx="3515258" cy="3200400"/>
          </a:xfrm>
          <a:prstGeom prst="roundRect">
            <a:avLst>
              <a:gd name="adj" fmla="val 2857"/>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8127797" y="2194560"/>
            <a:ext cx="3515258" cy="502920"/>
          </a:xfrm>
          <a:prstGeom prst="rect">
            <a:avLst/>
          </a:prstGeom>
          <a:noFill/>
          <a:ln/>
        </p:spPr>
        <p:txBody>
          <a:bodyPr wrap="square" lIns="0" tIns="0" rIns="0" bIns="0" rtlCol="0" anchor="t"/>
          <a:lstStyle/>
          <a:p>
            <a:pPr algn="ctr" indent="0" marL="0">
              <a:buNone/>
            </a:pPr>
            <a:r>
              <a:rPr lang="en-US" sz="2400" b="1" dirty="0">
                <a:solidFill>
                  <a:srgbClr val="1A1333"/>
                </a:solidFill>
                <a:latin typeface="Cambria" pitchFamily="34" charset="0"/>
                <a:ea typeface="Cambria" pitchFamily="34" charset="-122"/>
                <a:cs typeface="Cambria" pitchFamily="34" charset="-120"/>
              </a:rPr>
              <a:t>A*</a:t>
            </a:r>
            <a:endParaRPr lang="en-US" sz="2400" dirty="0"/>
          </a:p>
        </p:txBody>
      </p:sp>
      <p:sp>
        <p:nvSpPr>
          <p:cNvPr id="20" name="Shape 18"/>
          <p:cNvSpPr/>
          <p:nvPr/>
        </p:nvSpPr>
        <p:spPr>
          <a:xfrm>
            <a:off x="8402117" y="2834640"/>
            <a:ext cx="2966618" cy="822960"/>
          </a:xfrm>
          <a:prstGeom prst="roundRect">
            <a:avLst>
              <a:gd name="adj" fmla="val 8889"/>
            </a:avLst>
          </a:prstGeom>
          <a:solidFill>
            <a:srgbClr val="5B2A86"/>
          </a:solidFill>
          <a:ln w="12700">
            <a:solidFill>
              <a:srgbClr val="5B2A86"/>
            </a:solidFill>
            <a:prstDash val="solid"/>
          </a:ln>
        </p:spPr>
      </p:sp>
      <p:sp>
        <p:nvSpPr>
          <p:cNvPr id="21" name="Text 19"/>
          <p:cNvSpPr txBox="1"/>
          <p:nvPr/>
        </p:nvSpPr>
        <p:spPr>
          <a:xfrm>
            <a:off x="8402117" y="2834640"/>
            <a:ext cx="296661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f(n) = g(n) + h(n)</a:t>
            </a:r>
            <a:endParaRPr lang="en-US" sz="2000" dirty="0"/>
          </a:p>
        </p:txBody>
      </p:sp>
      <p:sp>
        <p:nvSpPr>
          <p:cNvPr id="22" name="Text 20"/>
          <p:cNvSpPr txBox="1"/>
          <p:nvPr/>
        </p:nvSpPr>
        <p:spPr>
          <a:xfrm>
            <a:off x="8310677" y="3794760"/>
            <a:ext cx="3149498" cy="457200"/>
          </a:xfrm>
          <a:prstGeom prst="rect">
            <a:avLst/>
          </a:prstGeom>
          <a:noFill/>
          <a:ln/>
        </p:spPr>
        <p:txBody>
          <a:bodyPr wrap="square" lIns="0" tIns="0" rIns="0" bIns="0" rtlCol="0" anchor="t"/>
          <a:lstStyle/>
          <a:p>
            <a:pPr algn="ctr" indent="0" marL="0">
              <a:buNone/>
            </a:pPr>
            <a:r>
              <a:rPr lang="en-US" sz="1600" dirty="0">
                <a:solidFill>
                  <a:srgbClr val="1F1A2E"/>
                </a:solidFill>
                <a:latin typeface="Calibri" pitchFamily="34" charset="0"/>
                <a:ea typeface="Calibri" pitchFamily="34" charset="-122"/>
                <a:cs typeface="Calibri" pitchFamily="34" charset="-120"/>
              </a:rPr>
              <a:t>cost so far + estimate</a:t>
            </a:r>
            <a:endParaRPr lang="en-US" sz="1600" dirty="0"/>
          </a:p>
        </p:txBody>
      </p:sp>
      <p:sp>
        <p:nvSpPr>
          <p:cNvPr id="23" name="Text 21"/>
          <p:cNvSpPr txBox="1"/>
          <p:nvPr/>
        </p:nvSpPr>
        <p:spPr>
          <a:xfrm>
            <a:off x="8310677" y="4343400"/>
            <a:ext cx="3149498" cy="457200"/>
          </a:xfrm>
          <a:prstGeom prst="rect">
            <a:avLst/>
          </a:prstGeom>
          <a:noFill/>
          <a:ln/>
        </p:spPr>
        <p:txBody>
          <a:bodyPr wrap="square" lIns="0" tIns="0" rIns="0" bIns="0" rtlCol="0" anchor="t"/>
          <a:lstStyle/>
          <a:p>
            <a:pPr algn="ctr" indent="0" marL="0">
              <a:buNone/>
            </a:pPr>
            <a:r>
              <a:rPr lang="en-US" sz="1500" i="1" dirty="0">
                <a:solidFill>
                  <a:srgbClr val="6B6780"/>
                </a:solidFill>
                <a:latin typeface="Calibri" pitchFamily="34" charset="0"/>
                <a:ea typeface="Calibri" pitchFamily="34" charset="-122"/>
                <a:cs typeface="Calibri" pitchFamily="34" charset="-120"/>
              </a:rPr>
              <a:t>fast AND best</a:t>
            </a:r>
            <a:endParaRPr lang="en-US" sz="1500" dirty="0"/>
          </a:p>
        </p:txBody>
      </p:sp>
      <p:sp>
        <p:nvSpPr>
          <p:cNvPr id="24" name="Text 22"/>
          <p:cNvSpPr txBox="1"/>
          <p:nvPr/>
        </p:nvSpPr>
        <p:spPr>
          <a:xfrm>
            <a:off x="548640" y="5486400"/>
            <a:ext cx="11094415" cy="457200"/>
          </a:xfrm>
          <a:prstGeom prst="rect">
            <a:avLst/>
          </a:prstGeom>
          <a:noFill/>
          <a:ln/>
        </p:spPr>
        <p:txBody>
          <a:bodyPr wrap="square" lIns="0" tIns="0" rIns="0" bIns="0" rtlCol="0" anchor="t"/>
          <a:lstStyle/>
          <a:p>
            <a:pPr algn="ctr" indent="0" marL="0">
              <a:buNone/>
            </a:pPr>
            <a:r>
              <a:rPr lang="en-US" sz="1700" b="1" dirty="0">
                <a:solidFill>
                  <a:srgbClr val="5B2A86"/>
                </a:solidFill>
                <a:latin typeface="Calibri" pitchFamily="34" charset="0"/>
                <a:ea typeface="Calibri" pitchFamily="34" charset="-122"/>
                <a:cs typeface="Calibri" pitchFamily="34" charset="-120"/>
              </a:rPr>
              <a:t>g(n) </a:t>
            </a:r>
            <a:r>
              <a:rPr lang="en-US" sz="1700" dirty="0">
                <a:solidFill>
                  <a:srgbClr val="5B2A86"/>
                </a:solidFill>
                <a:latin typeface="Calibri" pitchFamily="34" charset="0"/>
                <a:ea typeface="Calibri" pitchFamily="34" charset="-122"/>
                <a:cs typeface="Calibri" pitchFamily="34" charset="-120"/>
              </a:rPr>
              <a:t>= real cost from the start to n      </a:t>
            </a:r>
            <a:r>
              <a:rPr lang="en-US" sz="1700" b="1" dirty="0">
                <a:solidFill>
                  <a:srgbClr val="5B2A86"/>
                </a:solidFill>
                <a:latin typeface="Calibri" pitchFamily="34" charset="0"/>
                <a:ea typeface="Calibri" pitchFamily="34" charset="-122"/>
                <a:cs typeface="Calibri" pitchFamily="34" charset="-120"/>
              </a:rPr>
              <a:t>h(n) </a:t>
            </a:r>
            <a:r>
              <a:rPr lang="en-US" sz="1700" dirty="0">
                <a:solidFill>
                  <a:srgbClr val="5B2A86"/>
                </a:solidFill>
                <a:latin typeface="Calibri" pitchFamily="34" charset="0"/>
                <a:ea typeface="Calibri" pitchFamily="34" charset="-122"/>
                <a:cs typeface="Calibri" pitchFamily="34" charset="-120"/>
              </a:rPr>
              <a:t>= estimated cost from n to the goal</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Greedy Best-First Search: f(n) = h(n)</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234440"/>
            <a:ext cx="11094415" cy="1005840"/>
          </a:xfrm>
          <a:prstGeom prst="roundRect">
            <a:avLst>
              <a:gd name="adj" fmla="val 9091"/>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77240" y="1417320"/>
            <a:ext cx="640080" cy="640080"/>
          </a:xfrm>
          <a:prstGeom prst="ellipse">
            <a:avLst/>
          </a:prstGeom>
          <a:solidFill>
            <a:srgbClr val="D1495B"/>
          </a:solidFill>
          <a:ln w="12700">
            <a:solidFill>
              <a:srgbClr val="D1495B"/>
            </a:solidFill>
            <a:prstDash val="solid"/>
          </a:ln>
        </p:spPr>
      </p:sp>
      <p:pic>
        <p:nvPicPr>
          <p:cNvPr id="7" name="Image 0" descr="preencoded.png">    </p:cNvPr>
          <p:cNvPicPr>
            <a:picLocks noChangeAspect="1"/>
          </p:cNvPicPr>
          <p:nvPr/>
        </p:nvPicPr>
        <p:blipFill>
          <a:blip r:embed="rId1"/>
          <a:stretch>
            <a:fillRect/>
          </a:stretch>
        </p:blipFill>
        <p:spPr>
          <a:xfrm>
            <a:off x="930859" y="1570939"/>
            <a:ext cx="332842" cy="332842"/>
          </a:xfrm>
          <a:prstGeom prst="rect">
            <a:avLst/>
          </a:prstGeom>
        </p:spPr>
      </p:pic>
      <p:sp>
        <p:nvSpPr>
          <p:cNvPr id="8" name="Text 5"/>
          <p:cNvSpPr txBox="1"/>
          <p:nvPr/>
        </p:nvSpPr>
        <p:spPr>
          <a:xfrm>
            <a:off x="1645920" y="1234440"/>
            <a:ext cx="9768535" cy="100584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Idea: </a:t>
            </a:r>
            <a:r>
              <a:rPr lang="en-US" sz="1600" dirty="0">
                <a:solidFill>
                  <a:srgbClr val="1F1A2E"/>
                </a:solidFill>
                <a:latin typeface="Calibri" pitchFamily="34" charset="0"/>
                <a:ea typeface="Calibri" pitchFamily="34" charset="-122"/>
                <a:cs typeface="Calibri" pitchFamily="34" charset="-120"/>
              </a:rPr>
              <a:t>always go to the node that LOOKS closest to the goal. Like always walking towards the minaret, even if that street is a dead end or very long.</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6583680" cy="914400"/>
        </p:xfrm>
        <a:graphic>
          <a:graphicData uri="http://schemas.openxmlformats.org/drawingml/2006/table">
            <a:tbl>
              <a:tblPr/>
              <a:tblGrid>
                <a:gridCol w="914400"/>
                <a:gridCol w="1463040"/>
                <a:gridCol w="822960"/>
                <a:gridCol w="3383280"/>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Step</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Take out</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Frontier (smallest h first)</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B (h=3), A (h=5)</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C (h=2), A (h=5)</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G (h=0), A (h=5)</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G ✓</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path S → B → C → G</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bl>
          </a:graphicData>
        </a:graphic>
      </p:graphicFrame>
      <p:sp>
        <p:nvSpPr>
          <p:cNvPr id="10" name="Shape 6"/>
          <p:cNvSpPr/>
          <p:nvPr/>
        </p:nvSpPr>
        <p:spPr>
          <a:xfrm>
            <a:off x="7406640" y="2514600"/>
            <a:ext cx="4236415" cy="1280160"/>
          </a:xfrm>
          <a:prstGeom prst="roundRect">
            <a:avLst>
              <a:gd name="adj" fmla="val 7143"/>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7635240" y="2715768"/>
            <a:ext cx="594360" cy="594360"/>
          </a:xfrm>
          <a:prstGeom prst="ellipse">
            <a:avLst/>
          </a:prstGeom>
          <a:solidFill>
            <a:srgbClr val="1FA898"/>
          </a:solidFill>
          <a:ln w="12700">
            <a:solidFill>
              <a:srgbClr val="1FA898"/>
            </a:solidFill>
            <a:prstDash val="solid"/>
          </a:ln>
        </p:spPr>
      </p:sp>
      <p:pic>
        <p:nvPicPr>
          <p:cNvPr id="12" name="Image 1" descr="preencoded.png">    </p:cNvPr>
          <p:cNvPicPr>
            <a:picLocks noChangeAspect="1"/>
          </p:cNvPicPr>
          <p:nvPr/>
        </p:nvPicPr>
        <p:blipFill>
          <a:blip r:embed="rId2"/>
          <a:stretch>
            <a:fillRect/>
          </a:stretch>
        </p:blipFill>
        <p:spPr>
          <a:xfrm>
            <a:off x="7777886" y="2858414"/>
            <a:ext cx="309067" cy="309067"/>
          </a:xfrm>
          <a:prstGeom prst="rect">
            <a:avLst/>
          </a:prstGeom>
        </p:spPr>
      </p:pic>
      <p:sp>
        <p:nvSpPr>
          <p:cNvPr id="13" name="Text 8"/>
          <p:cNvSpPr txBox="1"/>
          <p:nvPr/>
        </p:nvSpPr>
        <p:spPr>
          <a:xfrm>
            <a:off x="8412480" y="2715768"/>
            <a:ext cx="3047695"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Fast</a:t>
            </a:r>
            <a:endParaRPr lang="en-US" sz="1800" dirty="0"/>
          </a:p>
        </p:txBody>
      </p:sp>
      <p:sp>
        <p:nvSpPr>
          <p:cNvPr id="14" name="Text 9"/>
          <p:cNvSpPr txBox="1"/>
          <p:nvPr/>
        </p:nvSpPr>
        <p:spPr>
          <a:xfrm>
            <a:off x="7635240" y="3447288"/>
            <a:ext cx="3779215" cy="18288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Only 4 steps.</a:t>
            </a:r>
            <a:endParaRPr lang="en-US" sz="1600" dirty="0"/>
          </a:p>
        </p:txBody>
      </p:sp>
      <p:sp>
        <p:nvSpPr>
          <p:cNvPr id="15" name="Shape 10"/>
          <p:cNvSpPr/>
          <p:nvPr/>
        </p:nvSpPr>
        <p:spPr>
          <a:xfrm>
            <a:off x="7406640" y="4069080"/>
            <a:ext cx="4236415" cy="1280160"/>
          </a:xfrm>
          <a:prstGeom prst="roundRect">
            <a:avLst>
              <a:gd name="adj" fmla="val 7143"/>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6" name="Shape 11"/>
          <p:cNvSpPr/>
          <p:nvPr/>
        </p:nvSpPr>
        <p:spPr>
          <a:xfrm>
            <a:off x="7635240" y="4270248"/>
            <a:ext cx="594360" cy="594360"/>
          </a:xfrm>
          <a:prstGeom prst="ellipse">
            <a:avLst/>
          </a:prstGeom>
          <a:solidFill>
            <a:srgbClr val="D1495B"/>
          </a:solidFill>
          <a:ln w="12700">
            <a:solidFill>
              <a:srgbClr val="D1495B"/>
            </a:solidFill>
            <a:prstDash val="solid"/>
          </a:ln>
        </p:spPr>
      </p:sp>
      <p:pic>
        <p:nvPicPr>
          <p:cNvPr id="17" name="Image 2" descr="preencoded.png">    </p:cNvPr>
          <p:cNvPicPr>
            <a:picLocks noChangeAspect="1"/>
          </p:cNvPicPr>
          <p:nvPr/>
        </p:nvPicPr>
        <p:blipFill>
          <a:blip r:embed="rId3"/>
          <a:stretch>
            <a:fillRect/>
          </a:stretch>
        </p:blipFill>
        <p:spPr>
          <a:xfrm>
            <a:off x="7777886" y="4412894"/>
            <a:ext cx="309067" cy="309067"/>
          </a:xfrm>
          <a:prstGeom prst="rect">
            <a:avLst/>
          </a:prstGeom>
        </p:spPr>
      </p:pic>
      <p:sp>
        <p:nvSpPr>
          <p:cNvPr id="18" name="Text 12"/>
          <p:cNvSpPr txBox="1"/>
          <p:nvPr/>
        </p:nvSpPr>
        <p:spPr>
          <a:xfrm>
            <a:off x="8412480" y="4270248"/>
            <a:ext cx="3047695"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Not optimal</a:t>
            </a:r>
            <a:endParaRPr lang="en-US" sz="1800" dirty="0"/>
          </a:p>
        </p:txBody>
      </p:sp>
      <p:sp>
        <p:nvSpPr>
          <p:cNvPr id="19" name="Text 13"/>
          <p:cNvSpPr txBox="1"/>
          <p:nvPr/>
        </p:nvSpPr>
        <p:spPr>
          <a:xfrm>
            <a:off x="7635240" y="5001768"/>
            <a:ext cx="3779215" cy="18288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Cost 4 + 2 + 3 = 9, but a path of cost 8 exists!</a:t>
            </a:r>
            <a:endParaRPr lang="en-US" sz="1600" dirty="0"/>
          </a:p>
        </p:txBody>
      </p:sp>
      <p:sp>
        <p:nvSpPr>
          <p:cNvPr id="20" name="Text 14"/>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500" i="1" dirty="0">
                <a:solidFill>
                  <a:srgbClr val="6B6780"/>
                </a:solidFill>
                <a:latin typeface="Calibri" pitchFamily="34" charset="0"/>
                <a:ea typeface="Calibri" pitchFamily="34" charset="-122"/>
                <a:cs typeface="Calibri" pitchFamily="34" charset="-120"/>
              </a:rPr>
              <a:t>Greedy is also not complete: it can get stuck going back and forth between two nodes.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A* Search: f(n) = g(n) + h(n)</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1005840" y="1463040"/>
            <a:ext cx="2011680" cy="1005840"/>
          </a:xfrm>
          <a:prstGeom prst="roundRect">
            <a:avLst>
              <a:gd name="adj" fmla="val 7273"/>
            </a:avLst>
          </a:prstGeom>
          <a:solidFill>
            <a:srgbClr val="1A1333"/>
          </a:solidFill>
          <a:ln w="12700">
            <a:solidFill>
              <a:srgbClr val="1A1333"/>
            </a:solidFill>
            <a:prstDash val="solid"/>
          </a:ln>
        </p:spPr>
      </p:sp>
      <p:sp>
        <p:nvSpPr>
          <p:cNvPr id="6" name="Text 4"/>
          <p:cNvSpPr txBox="1"/>
          <p:nvPr/>
        </p:nvSpPr>
        <p:spPr>
          <a:xfrm>
            <a:off x="1005840" y="1463040"/>
            <a:ext cx="2011680" cy="10058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f(n)</a:t>
            </a:r>
            <a:endParaRPr lang="en-US" sz="2800" dirty="0"/>
          </a:p>
        </p:txBody>
      </p:sp>
      <p:sp>
        <p:nvSpPr>
          <p:cNvPr id="7" name="Text 5"/>
          <p:cNvSpPr txBox="1"/>
          <p:nvPr/>
        </p:nvSpPr>
        <p:spPr>
          <a:xfrm>
            <a:off x="3108960" y="1463040"/>
            <a:ext cx="731520" cy="1005840"/>
          </a:xfrm>
          <a:prstGeom prst="rect">
            <a:avLst/>
          </a:prstGeom>
          <a:noFill/>
          <a:ln/>
        </p:spPr>
        <p:txBody>
          <a:bodyPr wrap="square" lIns="0" tIns="0" rIns="0" bIns="0" rtlCol="0" anchor="ctr"/>
          <a:lstStyle/>
          <a:p>
            <a:pPr algn="ctr" indent="0" marL="0">
              <a:buNone/>
            </a:pPr>
            <a:r>
              <a:rPr lang="en-US" sz="3600" b="1" dirty="0">
                <a:solidFill>
                  <a:srgbClr val="1F1A2E"/>
                </a:solidFill>
                <a:latin typeface="Calibri" pitchFamily="34" charset="0"/>
                <a:ea typeface="Calibri" pitchFamily="34" charset="-122"/>
                <a:cs typeface="Calibri" pitchFamily="34" charset="-120"/>
              </a:rPr>
              <a:t>=</a:t>
            </a:r>
            <a:endParaRPr lang="en-US" sz="3600" dirty="0"/>
          </a:p>
        </p:txBody>
      </p:sp>
      <p:sp>
        <p:nvSpPr>
          <p:cNvPr id="8" name="Shape 6"/>
          <p:cNvSpPr/>
          <p:nvPr/>
        </p:nvSpPr>
        <p:spPr>
          <a:xfrm>
            <a:off x="3931920" y="1463040"/>
            <a:ext cx="2377440" cy="1005840"/>
          </a:xfrm>
          <a:prstGeom prst="roundRect">
            <a:avLst>
              <a:gd name="adj" fmla="val 7273"/>
            </a:avLst>
          </a:prstGeom>
          <a:solidFill>
            <a:srgbClr val="1FA898"/>
          </a:solidFill>
          <a:ln w="12700">
            <a:solidFill>
              <a:srgbClr val="1FA898"/>
            </a:solidFill>
            <a:prstDash val="solid"/>
          </a:ln>
        </p:spPr>
      </p:sp>
      <p:sp>
        <p:nvSpPr>
          <p:cNvPr id="9" name="Text 7"/>
          <p:cNvSpPr txBox="1"/>
          <p:nvPr/>
        </p:nvSpPr>
        <p:spPr>
          <a:xfrm>
            <a:off x="3931920" y="1463040"/>
            <a:ext cx="2377440" cy="10058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g(n)</a:t>
            </a:r>
            <a:endParaRPr lang="en-US" sz="2800" dirty="0"/>
          </a:p>
        </p:txBody>
      </p:sp>
      <p:sp>
        <p:nvSpPr>
          <p:cNvPr id="10" name="Text 8"/>
          <p:cNvSpPr txBox="1"/>
          <p:nvPr/>
        </p:nvSpPr>
        <p:spPr>
          <a:xfrm>
            <a:off x="6400800" y="1463040"/>
            <a:ext cx="731520" cy="1005840"/>
          </a:xfrm>
          <a:prstGeom prst="rect">
            <a:avLst/>
          </a:prstGeom>
          <a:noFill/>
          <a:ln/>
        </p:spPr>
        <p:txBody>
          <a:bodyPr wrap="square" lIns="0" tIns="0" rIns="0" bIns="0" rtlCol="0" anchor="ctr"/>
          <a:lstStyle/>
          <a:p>
            <a:pPr algn="ctr" indent="0" marL="0">
              <a:buNone/>
            </a:pPr>
            <a:r>
              <a:rPr lang="en-US" sz="3600" b="1" dirty="0">
                <a:solidFill>
                  <a:srgbClr val="1F1A2E"/>
                </a:solidFill>
                <a:latin typeface="Calibri" pitchFamily="34" charset="0"/>
                <a:ea typeface="Calibri" pitchFamily="34" charset="-122"/>
                <a:cs typeface="Calibri" pitchFamily="34" charset="-120"/>
              </a:rPr>
              <a:t>+</a:t>
            </a:r>
            <a:endParaRPr lang="en-US" sz="3600" dirty="0"/>
          </a:p>
        </p:txBody>
      </p:sp>
      <p:sp>
        <p:nvSpPr>
          <p:cNvPr id="11" name="Shape 9"/>
          <p:cNvSpPr/>
          <p:nvPr/>
        </p:nvSpPr>
        <p:spPr>
          <a:xfrm>
            <a:off x="7223760" y="1463040"/>
            <a:ext cx="2377440" cy="1005840"/>
          </a:xfrm>
          <a:prstGeom prst="roundRect">
            <a:avLst>
              <a:gd name="adj" fmla="val 7273"/>
            </a:avLst>
          </a:prstGeom>
          <a:solidFill>
            <a:srgbClr val="FF9F1C"/>
          </a:solidFill>
          <a:ln w="12700">
            <a:solidFill>
              <a:srgbClr val="FF9F1C"/>
            </a:solidFill>
            <a:prstDash val="solid"/>
          </a:ln>
        </p:spPr>
      </p:sp>
      <p:sp>
        <p:nvSpPr>
          <p:cNvPr id="12" name="Text 10"/>
          <p:cNvSpPr txBox="1"/>
          <p:nvPr/>
        </p:nvSpPr>
        <p:spPr>
          <a:xfrm>
            <a:off x="7223760" y="1463040"/>
            <a:ext cx="2377440" cy="1005840"/>
          </a:xfrm>
          <a:prstGeom prst="rect">
            <a:avLst/>
          </a:prstGeom>
          <a:noFill/>
          <a:ln/>
        </p:spPr>
        <p:txBody>
          <a:bodyPr wrap="square" lIns="0" tIns="0" rIns="0" bIns="0" rtlCol="0" anchor="ctr"/>
          <a:lstStyle/>
          <a:p>
            <a:pPr algn="ctr" indent="0" marL="0">
              <a:buNone/>
            </a:pPr>
            <a:r>
              <a:rPr lang="en-US" sz="2800" b="1" dirty="0">
                <a:solidFill>
                  <a:srgbClr val="1A1333"/>
                </a:solidFill>
                <a:latin typeface="Calibri" pitchFamily="34" charset="0"/>
                <a:ea typeface="Calibri" pitchFamily="34" charset="-122"/>
                <a:cs typeface="Calibri" pitchFamily="34" charset="-120"/>
              </a:rPr>
              <a:t>h(n)</a:t>
            </a:r>
            <a:endParaRPr lang="en-US" sz="2800" dirty="0"/>
          </a:p>
        </p:txBody>
      </p:sp>
      <p:sp>
        <p:nvSpPr>
          <p:cNvPr id="13" name="Text 11"/>
          <p:cNvSpPr txBox="1"/>
          <p:nvPr/>
        </p:nvSpPr>
        <p:spPr>
          <a:xfrm>
            <a:off x="640080" y="2560320"/>
            <a:ext cx="2743200" cy="640080"/>
          </a:xfrm>
          <a:prstGeom prst="rect">
            <a:avLst/>
          </a:prstGeom>
          <a:noFill/>
          <a:ln/>
        </p:spPr>
        <p:txBody>
          <a:bodyPr wrap="square" lIns="0" tIns="0" rIns="0" bIns="0" rtlCol="0" anchor="t"/>
          <a:lstStyle/>
          <a:p>
            <a:pPr algn="ctr" indent="0" marL="0">
              <a:buNone/>
            </a:pPr>
            <a:r>
              <a:rPr lang="en-US" sz="1400" b="1" dirty="0">
                <a:solidFill>
                  <a:srgbClr val="1A1333"/>
                </a:solidFill>
                <a:latin typeface="Calibri" pitchFamily="34" charset="0"/>
                <a:ea typeface="Calibri" pitchFamily="34" charset="-122"/>
                <a:cs typeface="Calibri" pitchFamily="34" charset="-120"/>
              </a:rPr>
              <a:t>estimated total trip cost through n</a:t>
            </a:r>
            <a:endParaRPr lang="en-US" sz="1400" dirty="0"/>
          </a:p>
        </p:txBody>
      </p:sp>
      <p:sp>
        <p:nvSpPr>
          <p:cNvPr id="14" name="Text 12"/>
          <p:cNvSpPr txBox="1"/>
          <p:nvPr/>
        </p:nvSpPr>
        <p:spPr>
          <a:xfrm>
            <a:off x="3749040" y="2560320"/>
            <a:ext cx="2743200" cy="640080"/>
          </a:xfrm>
          <a:prstGeom prst="rect">
            <a:avLst/>
          </a:prstGeom>
          <a:noFill/>
          <a:ln/>
        </p:spPr>
        <p:txBody>
          <a:bodyPr wrap="square" lIns="0" tIns="0" rIns="0" bIns="0" rtlCol="0" anchor="t"/>
          <a:lstStyle/>
          <a:p>
            <a:pPr algn="ctr" indent="0" marL="0">
              <a:buNone/>
            </a:pPr>
            <a:r>
              <a:rPr lang="en-US" sz="1400" b="1" dirty="0">
                <a:solidFill>
                  <a:srgbClr val="1FA898"/>
                </a:solidFill>
                <a:latin typeface="Calibri" pitchFamily="34" charset="0"/>
                <a:ea typeface="Calibri" pitchFamily="34" charset="-122"/>
                <a:cs typeface="Calibri" pitchFamily="34" charset="-120"/>
              </a:rPr>
              <a:t>distance already travelled (known)</a:t>
            </a:r>
            <a:endParaRPr lang="en-US" sz="1400" dirty="0"/>
          </a:p>
        </p:txBody>
      </p:sp>
      <p:sp>
        <p:nvSpPr>
          <p:cNvPr id="15" name="Text 13"/>
          <p:cNvSpPr txBox="1"/>
          <p:nvPr/>
        </p:nvSpPr>
        <p:spPr>
          <a:xfrm>
            <a:off x="7040880" y="2560320"/>
            <a:ext cx="2743200" cy="640080"/>
          </a:xfrm>
          <a:prstGeom prst="rect">
            <a:avLst/>
          </a:prstGeom>
          <a:noFill/>
          <a:ln/>
        </p:spPr>
        <p:txBody>
          <a:bodyPr wrap="square" lIns="0" tIns="0" rIns="0" bIns="0" rtlCol="0" anchor="t"/>
          <a:lstStyle/>
          <a:p>
            <a:pPr algn="ctr" indent="0" marL="0">
              <a:buNone/>
            </a:pPr>
            <a:r>
              <a:rPr lang="en-US" sz="1400" b="1" dirty="0">
                <a:solidFill>
                  <a:srgbClr val="B86E00"/>
                </a:solidFill>
                <a:latin typeface="Calibri" pitchFamily="34" charset="0"/>
                <a:ea typeface="Calibri" pitchFamily="34" charset="-122"/>
                <a:cs typeface="Calibri" pitchFamily="34" charset="-120"/>
              </a:rPr>
              <a:t>estimated distance still to go (guess)</a:t>
            </a:r>
            <a:endParaRPr lang="en-US" sz="1400" dirty="0"/>
          </a:p>
        </p:txBody>
      </p:sp>
      <p:sp>
        <p:nvSpPr>
          <p:cNvPr id="16" name="Shape 14"/>
          <p:cNvSpPr/>
          <p:nvPr/>
        </p:nvSpPr>
        <p:spPr>
          <a:xfrm>
            <a:off x="548640" y="3611880"/>
            <a:ext cx="11094415" cy="1371600"/>
          </a:xfrm>
          <a:prstGeom prst="roundRect">
            <a:avLst>
              <a:gd name="adj" fmla="val 6667"/>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3977640"/>
            <a:ext cx="640080" cy="640080"/>
          </a:xfrm>
          <a:prstGeom prst="ellipse">
            <a:avLst/>
          </a:prstGeom>
          <a:solidFill>
            <a:srgbClr val="5B2A86"/>
          </a:solidFill>
          <a:ln w="12700">
            <a:solidFill>
              <a:srgbClr val="5B2A86"/>
            </a:solidFill>
            <a:prstDash val="solid"/>
          </a:ln>
        </p:spPr>
      </p:sp>
      <p:pic>
        <p:nvPicPr>
          <p:cNvPr id="18" name="Image 0" descr="preencoded.png">    </p:cNvPr>
          <p:cNvPicPr>
            <a:picLocks noChangeAspect="1"/>
          </p:cNvPicPr>
          <p:nvPr/>
        </p:nvPicPr>
        <p:blipFill>
          <a:blip r:embed="rId1"/>
          <a:stretch>
            <a:fillRect/>
          </a:stretch>
        </p:blipFill>
        <p:spPr>
          <a:xfrm>
            <a:off x="930859" y="4131259"/>
            <a:ext cx="332842" cy="332842"/>
          </a:xfrm>
          <a:prstGeom prst="rect">
            <a:avLst/>
          </a:prstGeom>
        </p:spPr>
      </p:pic>
      <p:sp>
        <p:nvSpPr>
          <p:cNvPr id="19" name="Text 16"/>
          <p:cNvSpPr txBox="1"/>
          <p:nvPr/>
        </p:nvSpPr>
        <p:spPr>
          <a:xfrm>
            <a:off x="1645920" y="3611880"/>
            <a:ext cx="9768535" cy="137160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Analogy: </a:t>
            </a:r>
            <a:r>
              <a:rPr lang="en-US" sz="1600" dirty="0">
                <a:solidFill>
                  <a:srgbClr val="1F1A2E"/>
                </a:solidFill>
                <a:latin typeface="Calibri" pitchFamily="34" charset="0"/>
                <a:ea typeface="Calibri" pitchFamily="34" charset="-122"/>
                <a:cs typeface="Calibri" pitchFamily="34" charset="-120"/>
              </a:rPr>
              <a:t>choosing a bus route. You add the time already spent (g) to the expected time left (h), and pick the route with the smallest total. You don't ignore the past like Greedy, and you don't ignore the future like UCS.</a:t>
            </a:r>
            <a:endParaRPr lang="en-US" sz="1600" dirty="0"/>
          </a:p>
        </p:txBody>
      </p:sp>
      <p:sp>
        <p:nvSpPr>
          <p:cNvPr id="20" name="Text 17"/>
          <p:cNvSpPr txBox="1"/>
          <p:nvPr/>
        </p:nvSpPr>
        <p:spPr>
          <a:xfrm>
            <a:off x="548640" y="5303520"/>
            <a:ext cx="11094415" cy="548640"/>
          </a:xfrm>
          <a:prstGeom prst="rect">
            <a:avLst/>
          </a:prstGeom>
          <a:noFill/>
          <a:ln/>
        </p:spPr>
        <p:txBody>
          <a:bodyPr wrap="square" lIns="0" tIns="0" rIns="0" bIns="0" rtlCol="0" anchor="t"/>
          <a:lstStyle/>
          <a:p>
            <a:pPr algn="ctr" indent="0" marL="0">
              <a:buNone/>
            </a:pPr>
            <a:r>
              <a:rPr lang="en-US" sz="1800" b="1" dirty="0">
                <a:solidFill>
                  <a:srgbClr val="5B2A86"/>
                </a:solidFill>
                <a:latin typeface="Calibri" pitchFamily="34" charset="0"/>
                <a:ea typeface="Calibri" pitchFamily="34" charset="-122"/>
                <a:cs typeface="Calibri" pitchFamily="34" charset="-120"/>
              </a:rPr>
              <a:t>A* is the most famous search algorithm in AI — used in games, robots and map apps.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A* Step by Step (same graph, goal = G)</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822960"/>
                <a:gridCol w="1371600"/>
                <a:gridCol w="731520"/>
                <a:gridCol w="731520"/>
                <a:gridCol w="1463040"/>
                <a:gridCol w="5973775"/>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Step</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Take out</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f = g + h</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Frontier after expanding (f values)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r>
              <a:tr h="566928">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A 6, B 7</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B 6 (cheaper via A), C 8, G 13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r h="566928">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C 7 (cheaper via B), G 13</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G 8 (cheaper via C)</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r h="566928">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G ✓</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path S → A → B → C → G</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983480"/>
            <a:ext cx="11094415" cy="1051560"/>
          </a:xfrm>
          <a:prstGeom prst="roundRect">
            <a:avLst>
              <a:gd name="adj" fmla="val 8696"/>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77240" y="5189220"/>
            <a:ext cx="640080" cy="640080"/>
          </a:xfrm>
          <a:prstGeom prst="ellipse">
            <a:avLst/>
          </a:prstGeom>
          <a:solidFill>
            <a:srgbClr val="1FA898"/>
          </a:solidFill>
          <a:ln w="12700">
            <a:solidFill>
              <a:srgbClr val="1FA898"/>
            </a:solidFill>
            <a:prstDash val="solid"/>
          </a:ln>
        </p:spPr>
      </p:sp>
      <p:pic>
        <p:nvPicPr>
          <p:cNvPr id="8" name="Image 0" descr="preencoded.png">    </p:cNvPr>
          <p:cNvPicPr>
            <a:picLocks noChangeAspect="1"/>
          </p:cNvPicPr>
          <p:nvPr/>
        </p:nvPicPr>
        <p:blipFill>
          <a:blip r:embed="rId1"/>
          <a:stretch>
            <a:fillRect/>
          </a:stretch>
        </p:blipFill>
        <p:spPr>
          <a:xfrm>
            <a:off x="930859" y="5342839"/>
            <a:ext cx="332842" cy="332842"/>
          </a:xfrm>
          <a:prstGeom prst="rect">
            <a:avLst/>
          </a:prstGeom>
        </p:spPr>
      </p:pic>
      <p:sp>
        <p:nvSpPr>
          <p:cNvPr id="9" name="Text 5"/>
          <p:cNvSpPr txBox="1"/>
          <p:nvPr/>
        </p:nvSpPr>
        <p:spPr>
          <a:xfrm>
            <a:off x="1645920" y="4983480"/>
            <a:ext cx="9768535" cy="1051560"/>
          </a:xfrm>
          <a:prstGeom prst="rect">
            <a:avLst/>
          </a:prstGeom>
          <a:noFill/>
          <a:ln/>
        </p:spPr>
        <p:txBody>
          <a:bodyPr wrap="square" lIns="0" tIns="0" rIns="0" bIns="0" rtlCol="0" anchor="ctr"/>
          <a:lstStyle/>
          <a:p>
            <a:pPr indent="0" marL="0">
              <a:buNone/>
            </a:pPr>
            <a:r>
              <a:rPr lang="en-US" sz="1600" dirty="0">
                <a:solidFill>
                  <a:srgbClr val="1F1A2E"/>
                </a:solidFill>
                <a:latin typeface="Calibri" pitchFamily="34" charset="0"/>
                <a:ea typeface="Calibri" pitchFamily="34" charset="-122"/>
                <a:cs typeface="Calibri" pitchFamily="34" charset="-120"/>
              </a:rPr>
              <a:t>A* found the path with cost </a:t>
            </a:r>
            <a:r>
              <a:rPr lang="en-US" sz="1600" b="1" dirty="0">
                <a:solidFill>
                  <a:srgbClr val="1F1A2E"/>
                </a:solidFill>
                <a:latin typeface="Calibri" pitchFamily="34" charset="0"/>
                <a:ea typeface="Calibri" pitchFamily="34" charset="-122"/>
                <a:cs typeface="Calibri" pitchFamily="34" charset="-120"/>
              </a:rPr>
              <a:t>8</a:t>
            </a:r>
            <a:r>
              <a:rPr lang="en-US" sz="1600" dirty="0">
                <a:solidFill>
                  <a:srgbClr val="1F1A2E"/>
                </a:solidFill>
                <a:latin typeface="Calibri" pitchFamily="34" charset="0"/>
                <a:ea typeface="Calibri" pitchFamily="34" charset="-122"/>
                <a:cs typeface="Calibri" pitchFamily="34" charset="-120"/>
              </a:rPr>
              <a:t> — the true best. When a cheaper way to reach a node appears (B, C, G), A* uses the cheaper one.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Greedy vs A* on the Same Graph</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600" i="1" dirty="0">
                <a:solidFill>
                  <a:srgbClr val="6B6780"/>
                </a:solidFill>
                <a:latin typeface="Calibri" pitchFamily="34" charset="0"/>
                <a:ea typeface="Calibri" pitchFamily="34" charset="-122"/>
                <a:cs typeface="Calibri" pitchFamily="34" charset="-120"/>
              </a:rPr>
              <a:t>Orange numbers under each node are the h values</a:t>
            </a:r>
            <a:endParaRPr lang="en-US" sz="1600" dirty="0"/>
          </a:p>
        </p:txBody>
      </p:sp>
      <p:sp>
        <p:nvSpPr>
          <p:cNvPr id="4" name="Text 2"/>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5" name="Text 3"/>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11</a:t>
            </a:r>
            <a:endParaRPr lang="en-US" sz="1000" dirty="0"/>
          </a:p>
        </p:txBody>
      </p:sp>
      <p:pic>
        <p:nvPicPr>
          <p:cNvPr id="6" name="Image 0" descr="img/fig_greedy_vs_astar.png">    </p:cNvPr>
          <p:cNvPicPr>
            <a:picLocks noChangeAspect="1"/>
          </p:cNvPicPr>
          <p:nvPr/>
        </p:nvPicPr>
        <p:blipFill>
          <a:blip r:embed="rId1"/>
          <a:stretch>
            <a:fillRect/>
          </a:stretch>
        </p:blipFill>
        <p:spPr>
          <a:xfrm>
            <a:off x="548640" y="1839536"/>
            <a:ext cx="11094415" cy="3270369"/>
          </a:xfrm>
          <a:prstGeom prst="rect">
            <a:avLst/>
          </a:prstGeom>
        </p:spPr>
      </p:pic>
      <p:sp>
        <p:nvSpPr>
          <p:cNvPr id="7" name="Text 4"/>
          <p:cNvSpPr txBox="1"/>
          <p:nvPr/>
        </p:nvSpPr>
        <p:spPr>
          <a:xfrm>
            <a:off x="548640" y="5577840"/>
            <a:ext cx="11094415" cy="457200"/>
          </a:xfrm>
          <a:prstGeom prst="rect">
            <a:avLst/>
          </a:prstGeom>
          <a:noFill/>
          <a:ln/>
        </p:spPr>
        <p:txBody>
          <a:bodyPr wrap="square" lIns="0" tIns="0" rIns="0" bIns="0" rtlCol="0" anchor="t"/>
          <a:lstStyle/>
          <a:p>
            <a:pPr algn="ctr" indent="0" marL="0">
              <a:buNone/>
            </a:pPr>
            <a:r>
              <a:rPr lang="en-US" sz="1600" i="1" dirty="0">
                <a:solidFill>
                  <a:srgbClr val="6B6780"/>
                </a:solidFill>
                <a:latin typeface="Calibri" pitchFamily="34" charset="0"/>
                <a:ea typeface="Calibri" pitchFamily="34" charset="-122"/>
                <a:cs typeface="Calibri" pitchFamily="34" charset="-120"/>
              </a:rPr>
              <a:t>Greedy trusted the guess h(B) = 3 and ignored that S → B already costs 4.</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When is A* Guaranteed to Find the Best Path?</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48640" y="1234440"/>
            <a:ext cx="11094415" cy="1005840"/>
          </a:xfrm>
          <a:prstGeom prst="roundRect">
            <a:avLst>
              <a:gd name="adj" fmla="val 9091"/>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77240" y="1417320"/>
            <a:ext cx="640080" cy="640080"/>
          </a:xfrm>
          <a:prstGeom prst="ellipse">
            <a:avLst/>
          </a:prstGeom>
          <a:solidFill>
            <a:srgbClr val="5B2A86"/>
          </a:solidFill>
          <a:ln w="12700">
            <a:solidFill>
              <a:srgbClr val="5B2A86"/>
            </a:solidFill>
            <a:prstDash val="solid"/>
          </a:ln>
        </p:spPr>
      </p:sp>
      <p:pic>
        <p:nvPicPr>
          <p:cNvPr id="7" name="Image 0" descr="preencoded.png">    </p:cNvPr>
          <p:cNvPicPr>
            <a:picLocks noChangeAspect="1"/>
          </p:cNvPicPr>
          <p:nvPr/>
        </p:nvPicPr>
        <p:blipFill>
          <a:blip r:embed="rId1"/>
          <a:stretch>
            <a:fillRect/>
          </a:stretch>
        </p:blipFill>
        <p:spPr>
          <a:xfrm>
            <a:off x="930859" y="1570939"/>
            <a:ext cx="332842" cy="332842"/>
          </a:xfrm>
          <a:prstGeom prst="rect">
            <a:avLst/>
          </a:prstGeom>
        </p:spPr>
      </p:pic>
      <p:sp>
        <p:nvSpPr>
          <p:cNvPr id="8" name="Text 5"/>
          <p:cNvSpPr txBox="1"/>
          <p:nvPr/>
        </p:nvSpPr>
        <p:spPr>
          <a:xfrm>
            <a:off x="1645920" y="1234440"/>
            <a:ext cx="9768535" cy="100584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Admissible heuristic: </a:t>
            </a:r>
            <a:r>
              <a:rPr lang="en-US" sz="1600" dirty="0">
                <a:solidFill>
                  <a:srgbClr val="1F1A2E"/>
                </a:solidFill>
                <a:latin typeface="Calibri" pitchFamily="34" charset="0"/>
                <a:ea typeface="Calibri" pitchFamily="34" charset="-122"/>
                <a:cs typeface="Calibri" pitchFamily="34" charset="-120"/>
              </a:rPr>
              <a:t>h(n) NEVER overestimates the real cost to the goal. It is always optimistic: h(n) ≤ true cost.</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4415" cy="914400"/>
        </p:xfrm>
        <a:graphic>
          <a:graphicData uri="http://schemas.openxmlformats.org/drawingml/2006/table">
            <a:tbl>
              <a:tblPr/>
              <a:tblGrid>
                <a:gridCol w="3108960"/>
                <a:gridCol w="1737360"/>
                <a:gridCol w="6248095"/>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Heuristic</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Admissible?</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Why</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Straight-line distance</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No road is shorter than a straight line</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Misplaced tiles (h1)</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Each wrong tile needs at least 1 move</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Manhattan distance (h2)</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Each tile needs at least that many moves</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h(A) = 10 in our graph</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No ✗</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600" dirty="0">
                          <a:solidFill>
                            <a:srgbClr val="1F1A2E"/>
                          </a:solidFill>
                          <a:latin typeface="Calibri" pitchFamily="34" charset="0"/>
                          <a:ea typeface="Calibri" pitchFamily="34" charset="-122"/>
                          <a:cs typeface="Calibri" pitchFamily="34" charset="-120"/>
                        </a:rPr>
                        <a:t>Real cost from A to G is only 7 → A* gives cost 9</a:t>
                      </a:r>
                      <a:endParaRPr lang="en-US" sz="16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bl>
          </a:graphicData>
        </a:graphic>
      </p:graphicFrame>
      <p:sp>
        <p:nvSpPr>
          <p:cNvPr id="10" name="Text 6"/>
          <p:cNvSpPr txBox="1"/>
          <p:nvPr/>
        </p:nvSpPr>
        <p:spPr>
          <a:xfrm>
            <a:off x="548640" y="5440680"/>
            <a:ext cx="11094415" cy="548640"/>
          </a:xfrm>
          <a:prstGeom prst="rect">
            <a:avLst/>
          </a:prstGeom>
          <a:noFill/>
          <a:ln/>
        </p:spPr>
        <p:txBody>
          <a:bodyPr wrap="square" lIns="0" tIns="0" rIns="0" bIns="0" rtlCol="0" anchor="t"/>
          <a:lstStyle/>
          <a:p>
            <a:pPr indent="0" marL="0">
              <a:buNone/>
            </a:pPr>
            <a:r>
              <a:rPr lang="en-US" sz="1700" b="1" dirty="0">
                <a:solidFill>
                  <a:srgbClr val="1A1333"/>
                </a:solidFill>
                <a:latin typeface="Calibri" pitchFamily="34" charset="0"/>
                <a:ea typeface="Calibri" pitchFamily="34" charset="-122"/>
                <a:cs typeface="Calibri" pitchFamily="34" charset="-120"/>
              </a:rPr>
              <a:t>Rule: </a:t>
            </a:r>
            <a:r>
              <a:rPr lang="en-US" sz="1700" dirty="0">
                <a:solidFill>
                  <a:srgbClr val="1A1333"/>
                </a:solidFill>
                <a:latin typeface="Calibri" pitchFamily="34" charset="0"/>
                <a:ea typeface="Calibri" pitchFamily="34" charset="-122"/>
                <a:cs typeface="Calibri" pitchFamily="34" charset="-120"/>
              </a:rPr>
              <a:t>if h is admissible, A* is optimal. And if h1 ≤ h2 (both admissible), h2 is better — it guides the search more.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A Better Heuristic = Much Less Work</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600" i="1" dirty="0">
                <a:solidFill>
                  <a:srgbClr val="6B6780"/>
                </a:solidFill>
                <a:latin typeface="Calibri" pitchFamily="34" charset="0"/>
                <a:ea typeface="Calibri" pitchFamily="34" charset="-122"/>
                <a:cs typeface="Calibri" pitchFamily="34" charset="-120"/>
              </a:rPr>
              <a:t>Solving the same 8-puzzle (13 moves) with A*</a:t>
            </a:r>
            <a:endParaRPr lang="en-US" sz="1600" dirty="0"/>
          </a:p>
        </p:txBody>
      </p:sp>
      <p:sp>
        <p:nvSpPr>
          <p:cNvPr id="4" name="Text 2"/>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5" name="Text 3"/>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13</a:t>
            </a:r>
            <a:endParaRPr lang="en-US" sz="1000" dirty="0"/>
          </a:p>
        </p:txBody>
      </p:sp>
      <p:graphicFrame>
        <p:nvGraphicFramePr>
          <p:cNvPr id="6" name="Chart 0" descr=""/>
          <p:cNvGraphicFramePr/>
          <p:nvPr/>
        </p:nvGraphicFramePr>
        <p:xfrm>
          <a:off x="548640" y="146304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45920"/>
            <a:ext cx="4053535" cy="2011680"/>
          </a:xfrm>
          <a:prstGeom prst="roundRect">
            <a:avLst>
              <a:gd name="adj" fmla="val 4545"/>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818120" y="2331720"/>
            <a:ext cx="640080" cy="640080"/>
          </a:xfrm>
          <a:prstGeom prst="ellipse">
            <a:avLst/>
          </a:prstGeom>
          <a:solidFill>
            <a:srgbClr val="1FA898"/>
          </a:solidFill>
          <a:ln w="12700">
            <a:solidFill>
              <a:srgbClr val="1FA898"/>
            </a:solidFill>
            <a:prstDash val="solid"/>
          </a:ln>
        </p:spPr>
      </p:sp>
      <p:pic>
        <p:nvPicPr>
          <p:cNvPr id="9" name="Image 0" descr="preencoded.png">    </p:cNvPr>
          <p:cNvPicPr>
            <a:picLocks noChangeAspect="1"/>
          </p:cNvPicPr>
          <p:nvPr/>
        </p:nvPicPr>
        <p:blipFill>
          <a:blip r:embed="rId2"/>
          <a:stretch>
            <a:fillRect/>
          </a:stretch>
        </p:blipFill>
        <p:spPr>
          <a:xfrm>
            <a:off x="7971739" y="2485339"/>
            <a:ext cx="332842" cy="332842"/>
          </a:xfrm>
          <a:prstGeom prst="rect">
            <a:avLst/>
          </a:prstGeom>
        </p:spPr>
      </p:pic>
      <p:sp>
        <p:nvSpPr>
          <p:cNvPr id="10" name="Text 6"/>
          <p:cNvSpPr txBox="1"/>
          <p:nvPr/>
        </p:nvSpPr>
        <p:spPr>
          <a:xfrm>
            <a:off x="8686800" y="1645920"/>
            <a:ext cx="2727655" cy="2011680"/>
          </a:xfrm>
          <a:prstGeom prst="rect">
            <a:avLst/>
          </a:prstGeom>
          <a:noFill/>
          <a:ln/>
        </p:spPr>
        <p:txBody>
          <a:bodyPr wrap="square" lIns="0" tIns="0" rIns="0" bIns="0" rtlCol="0" anchor="ctr"/>
          <a:lstStyle/>
          <a:p>
            <a:pPr indent="0" marL="0">
              <a:buNone/>
            </a:pPr>
            <a:r>
              <a:rPr lang="en-US" sz="1600" dirty="0">
                <a:solidFill>
                  <a:srgbClr val="1F1A2E"/>
                </a:solidFill>
                <a:latin typeface="Calibri" pitchFamily="34" charset="0"/>
                <a:ea typeface="Calibri" pitchFamily="34" charset="-122"/>
                <a:cs typeface="Calibri" pitchFamily="34" charset="-120"/>
              </a:rPr>
              <a:t>All three find the same 13-move solution. With Manhattan distance, A* looks at about </a:t>
            </a:r>
            <a:r>
              <a:rPr lang="en-US" sz="1600" b="1" dirty="0">
                <a:solidFill>
                  <a:srgbClr val="1F1A2E"/>
                </a:solidFill>
                <a:latin typeface="Calibri" pitchFamily="34" charset="0"/>
                <a:ea typeface="Calibri" pitchFamily="34" charset="-122"/>
                <a:cs typeface="Calibri" pitchFamily="34" charset="-120"/>
              </a:rPr>
              <a:t>24 times fewer</a:t>
            </a:r>
            <a:r>
              <a:rPr lang="en-US" sz="1600" dirty="0">
                <a:solidFill>
                  <a:srgbClr val="1F1A2E"/>
                </a:solidFill>
                <a:latin typeface="Calibri" pitchFamily="34" charset="0"/>
                <a:ea typeface="Calibri" pitchFamily="34" charset="-122"/>
                <a:cs typeface="Calibri" pitchFamily="34" charset="-120"/>
              </a:rPr>
              <a:t> states.</a:t>
            </a:r>
            <a:endParaRPr lang="en-US" sz="1600" dirty="0"/>
          </a:p>
        </p:txBody>
      </p:sp>
      <p:sp>
        <p:nvSpPr>
          <p:cNvPr id="11" name="Shape 7"/>
          <p:cNvSpPr/>
          <p:nvPr/>
        </p:nvSpPr>
        <p:spPr>
          <a:xfrm>
            <a:off x="7589520" y="3931920"/>
            <a:ext cx="4053535" cy="1828800"/>
          </a:xfrm>
          <a:prstGeom prst="roundRect">
            <a:avLst>
              <a:gd name="adj" fmla="val 5000"/>
            </a:avLst>
          </a:prstGeom>
          <a:solidFill>
            <a:srgbClr val="FFF4E3"/>
          </a:solidFill>
          <a:ln w="12700">
            <a:solidFill>
              <a:srgbClr val="FFF4E3"/>
            </a:solidFill>
            <a:prstDash val="solid"/>
          </a:ln>
          <a:effectLst>
            <a:outerShdw sx="100000" sy="100000" kx="0" ky="0" algn="bl" rotWithShape="0" blurRad="76200" dist="25400" dir="5400000">
              <a:srgbClr val="000000">
                <a:alpha val="12000"/>
              </a:srgbClr>
            </a:outerShdw>
          </a:effectLst>
        </p:spPr>
      </p:sp>
      <p:sp>
        <p:nvSpPr>
          <p:cNvPr id="12" name="Shape 8"/>
          <p:cNvSpPr/>
          <p:nvPr/>
        </p:nvSpPr>
        <p:spPr>
          <a:xfrm>
            <a:off x="7818120" y="4526280"/>
            <a:ext cx="640080" cy="640080"/>
          </a:xfrm>
          <a:prstGeom prst="ellipse">
            <a:avLst/>
          </a:prstGeom>
          <a:solidFill>
            <a:srgbClr val="FF9F1C"/>
          </a:solidFill>
          <a:ln w="12700">
            <a:solidFill>
              <a:srgbClr val="FF9F1C"/>
            </a:solidFill>
            <a:prstDash val="solid"/>
          </a:ln>
        </p:spPr>
      </p:sp>
      <p:pic>
        <p:nvPicPr>
          <p:cNvPr id="13" name="Image 1" descr="preencoded.png">    </p:cNvPr>
          <p:cNvPicPr>
            <a:picLocks noChangeAspect="1"/>
          </p:cNvPicPr>
          <p:nvPr/>
        </p:nvPicPr>
        <p:blipFill>
          <a:blip r:embed="rId3"/>
          <a:stretch>
            <a:fillRect/>
          </a:stretch>
        </p:blipFill>
        <p:spPr>
          <a:xfrm>
            <a:off x="7971739" y="4679899"/>
            <a:ext cx="332842" cy="332842"/>
          </a:xfrm>
          <a:prstGeom prst="rect">
            <a:avLst/>
          </a:prstGeom>
        </p:spPr>
      </p:pic>
      <p:sp>
        <p:nvSpPr>
          <p:cNvPr id="14" name="Text 9"/>
          <p:cNvSpPr txBox="1"/>
          <p:nvPr/>
        </p:nvSpPr>
        <p:spPr>
          <a:xfrm>
            <a:off x="8686800" y="3931920"/>
            <a:ext cx="2727655" cy="1828800"/>
          </a:xfrm>
          <a:prstGeom prst="rect">
            <a:avLst/>
          </a:prstGeom>
          <a:noFill/>
          <a:ln/>
        </p:spPr>
        <p:txBody>
          <a:bodyPr wrap="square" lIns="0" tIns="0" rIns="0" bIns="0" rtlCol="0" anchor="ctr"/>
          <a:lstStyle/>
          <a:p>
            <a:pPr indent="0" marL="0">
              <a:buNone/>
            </a:pPr>
            <a:r>
              <a:rPr lang="en-US" sz="1600" b="1" dirty="0">
                <a:solidFill>
                  <a:srgbClr val="1F1A2E"/>
                </a:solidFill>
                <a:latin typeface="Calibri" pitchFamily="34" charset="0"/>
                <a:ea typeface="Calibri" pitchFamily="34" charset="-122"/>
                <a:cs typeface="Calibri" pitchFamily="34" charset="-120"/>
              </a:rPr>
              <a:t>Harder puzzle (31 moves): </a:t>
            </a:r>
            <a:r>
              <a:rPr lang="en-US" sz="1600" dirty="0">
                <a:solidFill>
                  <a:srgbClr val="1F1A2E"/>
                </a:solidFill>
                <a:latin typeface="Calibri" pitchFamily="34" charset="0"/>
                <a:ea typeface="Calibri" pitchFamily="34" charset="-122"/>
                <a:cs typeface="Calibri" pitchFamily="34" charset="-120"/>
              </a:rPr>
              <a:t>h1 expands about 144,000 states, h2 only about 21,000.</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UCS vs Greedy vs A*</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2834640"/>
                <a:gridCol w="2926080"/>
                <a:gridCol w="2956255"/>
              </a:tblGrid>
              <a:tr h="713232">
                <a:tc>
                  <a:txBody>
                    <a:bodyPr/>
                    <a:lstStyle/>
                    <a:p>
                      <a:pPr indent="0" marL="0">
                        <a:buNone/>
                      </a:pPr>
                      <a:endParaRPr lang="en-US" sz="18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Uniform-Cost</a:t>
                      </a:r>
                      <a:endParaRPr lang="en-US" sz="18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Greedy Best-First</a:t>
                      </a:r>
                      <a:endParaRPr lang="en-US" sz="18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5B2A86"/>
                    </a:solidFill>
                  </a:tcPr>
                </a:tc>
              </a:tr>
              <a:tr h="713232">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Uses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g(n)</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h(n)</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g(n) + h(n)</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713232">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Complete?</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Yes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Yes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r h="713232">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Optimal?</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Yes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Yes (admissible h)</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r h="713232">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Speed</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slow (explores in all directions)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usually very fast</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fast (explores towards the goal)</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3EEFA"/>
                    </a:solidFill>
                  </a:tcPr>
                </a:tc>
              </a:tr>
              <a:tr h="713232">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Main weakness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ignores where the goal is</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ignores cost already paid</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c>
                  <a:txBody>
                    <a:bodyPr/>
                    <a:lstStyle/>
                    <a:p>
                      <a:pPr indent="0" marL="0">
                        <a:buNone/>
                      </a:pPr>
                      <a:r>
                        <a:rPr lang="en-US" sz="1700" dirty="0">
                          <a:solidFill>
                            <a:srgbClr val="1F1A2E"/>
                          </a:solidFill>
                          <a:latin typeface="Calibri" pitchFamily="34" charset="0"/>
                          <a:ea typeface="Calibri" pitchFamily="34" charset="-122"/>
                          <a:cs typeface="Calibri" pitchFamily="34" charset="-120"/>
                        </a:rPr>
                        <a:t>can use a lot of memory</a:t>
                      </a:r>
                      <a:endParaRPr lang="en-US" sz="1700" dirty="0">
                        <a:latin typeface="Calibri" charset="0"/>
                        <a:ea typeface="Calibri" charset="0"/>
                        <a:cs typeface="Calibri" charset="0"/>
                      </a:endParaRPr>
                    </a:p>
                  </a:txBody>
                  <a:tcPr marL="73152" marR="73152" marT="73152" marB="73152" anchor="ctr">
                    <a:lnL w="9525" cap="flat" cmpd="sng" algn="ctr">
                      <a:solidFill>
                        <a:srgbClr val="CFC6E0"/>
                      </a:solidFill>
                      <a:prstDash val="solid"/>
                      <a:round/>
                      <a:headEnd type="none" w="med" len="med"/>
                      <a:tailEnd type="none" w="med" len="med"/>
                    </a:lnL>
                    <a:lnR w="9525" cap="flat" cmpd="sng" algn="ctr">
                      <a:solidFill>
                        <a:srgbClr val="CFC6E0"/>
                      </a:solidFill>
                      <a:prstDash val="solid"/>
                      <a:round/>
                      <a:headEnd type="none" w="med" len="med"/>
                      <a:tailEnd type="none" w="med" len="med"/>
                    </a:lnR>
                    <a:lnT w="9525" cap="flat" cmpd="sng" algn="ctr">
                      <a:solidFill>
                        <a:srgbClr val="CFC6E0"/>
                      </a:solidFill>
                      <a:prstDash val="solid"/>
                      <a:round/>
                      <a:headEnd type="none" w="med" len="med"/>
                      <a:tailEnd type="none" w="med" len="med"/>
                    </a:lnT>
                    <a:lnB w="9525" cap="flat" cmpd="sng" algn="ctr">
                      <a:solidFill>
                        <a:srgbClr val="CFC6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Hill Climbing: Always Step Uphill</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15</a:t>
            </a:r>
            <a:endParaRPr lang="en-US" sz="1000" dirty="0"/>
          </a:p>
        </p:txBody>
      </p:sp>
      <p:pic>
        <p:nvPicPr>
          <p:cNvPr id="5" name="Image 0" descr="img/fig_hill_climbing.png">    </p:cNvPr>
          <p:cNvPicPr>
            <a:picLocks noChangeAspect="1"/>
          </p:cNvPicPr>
          <p:nvPr/>
        </p:nvPicPr>
        <p:blipFill>
          <a:blip r:embed="rId1"/>
          <a:stretch>
            <a:fillRect/>
          </a:stretch>
        </p:blipFill>
        <p:spPr>
          <a:xfrm>
            <a:off x="548640" y="1503069"/>
            <a:ext cx="6949440" cy="2663142"/>
          </a:xfrm>
          <a:prstGeom prst="rect">
            <a:avLst/>
          </a:prstGeom>
        </p:spPr>
      </p:pic>
      <p:sp>
        <p:nvSpPr>
          <p:cNvPr id="6" name="Shape 3"/>
          <p:cNvSpPr/>
          <p:nvPr/>
        </p:nvSpPr>
        <p:spPr>
          <a:xfrm>
            <a:off x="7680960" y="1280160"/>
            <a:ext cx="3962095" cy="2011680"/>
          </a:xfrm>
          <a:prstGeom prst="roundRect">
            <a:avLst>
              <a:gd name="adj" fmla="val 4545"/>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909560" y="1965960"/>
            <a:ext cx="640080" cy="640080"/>
          </a:xfrm>
          <a:prstGeom prst="ellipse">
            <a:avLst/>
          </a:prstGeom>
          <a:solidFill>
            <a:srgbClr val="1FA898"/>
          </a:solidFill>
          <a:ln w="12700">
            <a:solidFill>
              <a:srgbClr val="1FA898"/>
            </a:solidFill>
            <a:prstDash val="solid"/>
          </a:ln>
        </p:spPr>
      </p:sp>
      <p:pic>
        <p:nvPicPr>
          <p:cNvPr id="8" name="Image 1" descr="preencoded.png">    </p:cNvPr>
          <p:cNvPicPr>
            <a:picLocks noChangeAspect="1"/>
          </p:cNvPicPr>
          <p:nvPr/>
        </p:nvPicPr>
        <p:blipFill>
          <a:blip r:embed="rId2"/>
          <a:stretch>
            <a:fillRect/>
          </a:stretch>
        </p:blipFill>
        <p:spPr>
          <a:xfrm>
            <a:off x="8063179" y="2119579"/>
            <a:ext cx="332842" cy="332842"/>
          </a:xfrm>
          <a:prstGeom prst="rect">
            <a:avLst/>
          </a:prstGeom>
        </p:spPr>
      </p:pic>
      <p:sp>
        <p:nvSpPr>
          <p:cNvPr id="9" name="Text 5"/>
          <p:cNvSpPr txBox="1"/>
          <p:nvPr/>
        </p:nvSpPr>
        <p:spPr>
          <a:xfrm>
            <a:off x="8778240" y="1280160"/>
            <a:ext cx="2636215" cy="201168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Analogy: </a:t>
            </a:r>
            <a:r>
              <a:rPr lang="en-US" sz="1500" dirty="0">
                <a:solidFill>
                  <a:srgbClr val="1F1A2E"/>
                </a:solidFill>
                <a:latin typeface="Calibri" pitchFamily="34" charset="0"/>
                <a:ea typeface="Calibri" pitchFamily="34" charset="-122"/>
                <a:cs typeface="Calibri" pitchFamily="34" charset="-120"/>
              </a:rPr>
              <a:t>climbing a mountain in thick fog. You can only see the ground next to you, so you always take the step that goes up.</a:t>
            </a:r>
            <a:endParaRPr lang="en-US" sz="1500" dirty="0"/>
          </a:p>
        </p:txBody>
      </p:sp>
      <p:sp>
        <p:nvSpPr>
          <p:cNvPr id="10" name="Shape 6"/>
          <p:cNvSpPr/>
          <p:nvPr/>
        </p:nvSpPr>
        <p:spPr>
          <a:xfrm>
            <a:off x="7680960" y="3474720"/>
            <a:ext cx="3962095" cy="1920240"/>
          </a:xfrm>
          <a:prstGeom prst="roundRect">
            <a:avLst>
              <a:gd name="adj" fmla="val 4762"/>
            </a:avLst>
          </a:prstGeom>
          <a:solidFill>
            <a:srgbClr val="1A1333"/>
          </a:solidFill>
          <a:ln w="12700">
            <a:solidFill>
              <a:srgbClr val="1A1333"/>
            </a:solidFill>
            <a:prstDash val="solid"/>
          </a:ln>
          <a:effectLst>
            <a:outerShdw sx="100000" sy="100000" kx="0" ky="0" algn="bl" rotWithShape="0" blurRad="76200" dist="25400" dir="5400000">
              <a:srgbClr val="000000">
                <a:alpha val="12000"/>
              </a:srgbClr>
            </a:outerShdw>
          </a:effectLst>
        </p:spPr>
      </p:sp>
      <p:sp>
        <p:nvSpPr>
          <p:cNvPr id="11" name="Text 7"/>
          <p:cNvSpPr txBox="1"/>
          <p:nvPr/>
        </p:nvSpPr>
        <p:spPr>
          <a:xfrm>
            <a:off x="7955280" y="3657600"/>
            <a:ext cx="3413455" cy="160020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current = start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loop:</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best = best neighbour of current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if best is not higher: STOP</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  current = best</a:t>
            </a:r>
            <a:endParaRPr lang="en-US" sz="1300" dirty="0"/>
          </a:p>
        </p:txBody>
      </p:sp>
      <p:sp>
        <p:nvSpPr>
          <p:cNvPr id="12" name="Text 8"/>
          <p:cNvSpPr txBox="1"/>
          <p:nvPr/>
        </p:nvSpPr>
        <p:spPr>
          <a:xfrm>
            <a:off x="548640" y="4663440"/>
            <a:ext cx="6949440" cy="914400"/>
          </a:xfrm>
          <a:prstGeom prst="rect">
            <a:avLst/>
          </a:prstGeom>
          <a:noFill/>
          <a:ln/>
        </p:spPr>
        <p:txBody>
          <a:bodyPr wrap="square" lIns="0" tIns="0" rIns="0" bIns="0" rtlCol="0" anchor="t"/>
          <a:lstStyle/>
          <a:p>
            <a:pPr indent="0" marL="0">
              <a:buNone/>
            </a:pPr>
            <a:r>
              <a:rPr lang="en-US" sz="1600" b="1" dirty="0">
                <a:solidFill>
                  <a:srgbClr val="5B2A86"/>
                </a:solidFill>
                <a:latin typeface="Calibri" pitchFamily="34" charset="0"/>
                <a:ea typeface="Calibri" pitchFamily="34" charset="-122"/>
                <a:cs typeface="Calibri" pitchFamily="34" charset="-120"/>
              </a:rPr>
              <a:t>Keeps only ONE state in memory — very fast and light. But it does not remember a path and never goes back.</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Hill Climbing: Problems and Fixes</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548640" y="1325880"/>
            <a:ext cx="3515258" cy="2286000"/>
          </a:xfrm>
          <a:prstGeom prst="roundRect">
            <a:avLst>
              <a:gd name="adj" fmla="val 4000"/>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77240" y="1527048"/>
            <a:ext cx="594360" cy="594360"/>
          </a:xfrm>
          <a:prstGeom prst="ellipse">
            <a:avLst/>
          </a:prstGeom>
          <a:solidFill>
            <a:srgbClr val="D1495B"/>
          </a:solidFill>
          <a:ln w="12700">
            <a:solidFill>
              <a:srgbClr val="D1495B"/>
            </a:solidFill>
            <a:prstDash val="solid"/>
          </a:ln>
        </p:spPr>
      </p:sp>
      <p:pic>
        <p:nvPicPr>
          <p:cNvPr id="7" name="Image 0" descr="preencoded.png">    </p:cNvPr>
          <p:cNvPicPr>
            <a:picLocks noChangeAspect="1"/>
          </p:cNvPicPr>
          <p:nvPr/>
        </p:nvPicPr>
        <p:blipFill>
          <a:blip r:embed="rId1"/>
          <a:stretch>
            <a:fillRect/>
          </a:stretch>
        </p:blipFill>
        <p:spPr>
          <a:xfrm>
            <a:off x="919886" y="1669694"/>
            <a:ext cx="309067" cy="309067"/>
          </a:xfrm>
          <a:prstGeom prst="rect">
            <a:avLst/>
          </a:prstGeom>
        </p:spPr>
      </p:pic>
      <p:sp>
        <p:nvSpPr>
          <p:cNvPr id="8" name="Text 5"/>
          <p:cNvSpPr txBox="1"/>
          <p:nvPr/>
        </p:nvSpPr>
        <p:spPr>
          <a:xfrm>
            <a:off x="1554480" y="15270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Local maximum</a:t>
            </a:r>
            <a:endParaRPr lang="en-US" sz="1800" dirty="0"/>
          </a:p>
        </p:txBody>
      </p:sp>
      <p:sp>
        <p:nvSpPr>
          <p:cNvPr id="9" name="Text 6"/>
          <p:cNvSpPr txBox="1"/>
          <p:nvPr/>
        </p:nvSpPr>
        <p:spPr>
          <a:xfrm>
            <a:off x="777240" y="2258568"/>
            <a:ext cx="3058058" cy="118872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A small hill: every neighbour is lower, but it is not the highest peak. The climber stops too early.</a:t>
            </a:r>
            <a:endParaRPr lang="en-US" sz="1500" dirty="0"/>
          </a:p>
        </p:txBody>
      </p:sp>
      <p:sp>
        <p:nvSpPr>
          <p:cNvPr id="10" name="Shape 7"/>
          <p:cNvSpPr/>
          <p:nvPr/>
        </p:nvSpPr>
        <p:spPr>
          <a:xfrm>
            <a:off x="4338218" y="1325880"/>
            <a:ext cx="3515258" cy="2286000"/>
          </a:xfrm>
          <a:prstGeom prst="roundRect">
            <a:avLst>
              <a:gd name="adj" fmla="val 4000"/>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566818" y="1527048"/>
            <a:ext cx="594360" cy="594360"/>
          </a:xfrm>
          <a:prstGeom prst="ellipse">
            <a:avLst/>
          </a:prstGeom>
          <a:solidFill>
            <a:srgbClr val="FF9F1C"/>
          </a:solidFill>
          <a:ln w="12700">
            <a:solidFill>
              <a:srgbClr val="FF9F1C"/>
            </a:solidFill>
            <a:prstDash val="solid"/>
          </a:ln>
        </p:spPr>
      </p:sp>
      <p:pic>
        <p:nvPicPr>
          <p:cNvPr id="12" name="Image 1" descr="preencoded.png">    </p:cNvPr>
          <p:cNvPicPr>
            <a:picLocks noChangeAspect="1"/>
          </p:cNvPicPr>
          <p:nvPr/>
        </p:nvPicPr>
        <p:blipFill>
          <a:blip r:embed="rId2"/>
          <a:stretch>
            <a:fillRect/>
          </a:stretch>
        </p:blipFill>
        <p:spPr>
          <a:xfrm>
            <a:off x="4709465" y="1669694"/>
            <a:ext cx="309067" cy="309067"/>
          </a:xfrm>
          <a:prstGeom prst="rect">
            <a:avLst/>
          </a:prstGeom>
        </p:spPr>
      </p:pic>
      <p:sp>
        <p:nvSpPr>
          <p:cNvPr id="13" name="Text 9"/>
          <p:cNvSpPr txBox="1"/>
          <p:nvPr/>
        </p:nvSpPr>
        <p:spPr>
          <a:xfrm>
            <a:off x="5344058" y="15270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Plateau</a:t>
            </a:r>
            <a:endParaRPr lang="en-US" sz="1800" dirty="0"/>
          </a:p>
        </p:txBody>
      </p:sp>
      <p:sp>
        <p:nvSpPr>
          <p:cNvPr id="14" name="Text 10"/>
          <p:cNvSpPr txBox="1"/>
          <p:nvPr/>
        </p:nvSpPr>
        <p:spPr>
          <a:xfrm>
            <a:off x="4566818" y="2258568"/>
            <a:ext cx="3058058" cy="118872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Flat ground: all neighbours have the same value, so there is no direction to go.</a:t>
            </a:r>
            <a:endParaRPr lang="en-US" sz="1500" dirty="0"/>
          </a:p>
        </p:txBody>
      </p:sp>
      <p:sp>
        <p:nvSpPr>
          <p:cNvPr id="15" name="Shape 11"/>
          <p:cNvSpPr/>
          <p:nvPr/>
        </p:nvSpPr>
        <p:spPr>
          <a:xfrm>
            <a:off x="8127797" y="1325880"/>
            <a:ext cx="3515258" cy="2286000"/>
          </a:xfrm>
          <a:prstGeom prst="roundRect">
            <a:avLst>
              <a:gd name="adj" fmla="val 4000"/>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8356397" y="1527048"/>
            <a:ext cx="594360" cy="594360"/>
          </a:xfrm>
          <a:prstGeom prst="ellipse">
            <a:avLst/>
          </a:prstGeom>
          <a:solidFill>
            <a:srgbClr val="1A1333"/>
          </a:solidFill>
          <a:ln w="12700">
            <a:solidFill>
              <a:srgbClr val="1A1333"/>
            </a:solidFill>
            <a:prstDash val="solid"/>
          </a:ln>
        </p:spPr>
      </p:sp>
      <p:pic>
        <p:nvPicPr>
          <p:cNvPr id="17" name="Image 2" descr="preencoded.png">    </p:cNvPr>
          <p:cNvPicPr>
            <a:picLocks noChangeAspect="1"/>
          </p:cNvPicPr>
          <p:nvPr/>
        </p:nvPicPr>
        <p:blipFill>
          <a:blip r:embed="rId3"/>
          <a:stretch>
            <a:fillRect/>
          </a:stretch>
        </p:blipFill>
        <p:spPr>
          <a:xfrm>
            <a:off x="8499043" y="1669694"/>
            <a:ext cx="309067" cy="309067"/>
          </a:xfrm>
          <a:prstGeom prst="rect">
            <a:avLst/>
          </a:prstGeom>
        </p:spPr>
      </p:pic>
      <p:sp>
        <p:nvSpPr>
          <p:cNvPr id="18" name="Text 13"/>
          <p:cNvSpPr txBox="1"/>
          <p:nvPr/>
        </p:nvSpPr>
        <p:spPr>
          <a:xfrm>
            <a:off x="9133637" y="15270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Ridge</a:t>
            </a:r>
            <a:endParaRPr lang="en-US" sz="1800" dirty="0"/>
          </a:p>
        </p:txBody>
      </p:sp>
      <p:sp>
        <p:nvSpPr>
          <p:cNvPr id="19" name="Text 14"/>
          <p:cNvSpPr txBox="1"/>
          <p:nvPr/>
        </p:nvSpPr>
        <p:spPr>
          <a:xfrm>
            <a:off x="8356397" y="2258568"/>
            <a:ext cx="3058058" cy="118872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A narrow slope: going uphill needs a diagonal step that single moves can't make.</a:t>
            </a:r>
            <a:endParaRPr lang="en-US" sz="1500" dirty="0"/>
          </a:p>
        </p:txBody>
      </p:sp>
      <p:sp>
        <p:nvSpPr>
          <p:cNvPr id="20" name="Text 15"/>
          <p:cNvSpPr txBox="1"/>
          <p:nvPr/>
        </p:nvSpPr>
        <p:spPr>
          <a:xfrm>
            <a:off x="548640" y="3840480"/>
            <a:ext cx="11094415" cy="411480"/>
          </a:xfrm>
          <a:prstGeom prst="rect">
            <a:avLst/>
          </a:prstGeom>
          <a:noFill/>
          <a:ln/>
        </p:spPr>
        <p:txBody>
          <a:bodyPr wrap="square" lIns="0" tIns="0" rIns="0" bIns="0" rtlCol="0" anchor="t"/>
          <a:lstStyle/>
          <a:p>
            <a:pPr indent="0" marL="0">
              <a:buNone/>
            </a:pPr>
            <a:r>
              <a:rPr lang="en-US" sz="2000" b="1" dirty="0">
                <a:solidFill>
                  <a:srgbClr val="1FA898"/>
                </a:solidFill>
                <a:latin typeface="Calibri" pitchFamily="34" charset="0"/>
                <a:ea typeface="Calibri" pitchFamily="34" charset="-122"/>
                <a:cs typeface="Calibri" pitchFamily="34" charset="-120"/>
              </a:rPr>
              <a:t>Fixes</a:t>
            </a:r>
            <a:endParaRPr lang="en-US" sz="2000" dirty="0"/>
          </a:p>
        </p:txBody>
      </p:sp>
      <p:sp>
        <p:nvSpPr>
          <p:cNvPr id="21" name="Shape 16"/>
          <p:cNvSpPr/>
          <p:nvPr/>
        </p:nvSpPr>
        <p:spPr>
          <a:xfrm>
            <a:off x="548640" y="4343400"/>
            <a:ext cx="3515258" cy="1737360"/>
          </a:xfrm>
          <a:prstGeom prst="roundRect">
            <a:avLst>
              <a:gd name="adj" fmla="val 5263"/>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77240" y="4544568"/>
            <a:ext cx="502920" cy="502920"/>
          </a:xfrm>
          <a:prstGeom prst="ellipse">
            <a:avLst/>
          </a:prstGeom>
          <a:solidFill>
            <a:srgbClr val="1FA898"/>
          </a:solidFill>
          <a:ln w="12700">
            <a:solidFill>
              <a:srgbClr val="1FA898"/>
            </a:solidFill>
            <a:prstDash val="solid"/>
          </a:ln>
        </p:spPr>
      </p:sp>
      <p:pic>
        <p:nvPicPr>
          <p:cNvPr id="23" name="Image 3" descr="preencoded.png">    </p:cNvPr>
          <p:cNvPicPr>
            <a:picLocks noChangeAspect="1"/>
          </p:cNvPicPr>
          <p:nvPr/>
        </p:nvPicPr>
        <p:blipFill>
          <a:blip r:embed="rId4"/>
          <a:stretch>
            <a:fillRect/>
          </a:stretch>
        </p:blipFill>
        <p:spPr>
          <a:xfrm>
            <a:off x="897941" y="4665269"/>
            <a:ext cx="261518" cy="261518"/>
          </a:xfrm>
          <a:prstGeom prst="rect">
            <a:avLst/>
          </a:prstGeom>
        </p:spPr>
      </p:pic>
      <p:sp>
        <p:nvSpPr>
          <p:cNvPr id="24" name="Text 18"/>
          <p:cNvSpPr txBox="1"/>
          <p:nvPr/>
        </p:nvSpPr>
        <p:spPr>
          <a:xfrm>
            <a:off x="1463040" y="4544568"/>
            <a:ext cx="2417978" cy="50292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Random restart</a:t>
            </a:r>
            <a:endParaRPr lang="en-US" sz="1800" dirty="0"/>
          </a:p>
        </p:txBody>
      </p:sp>
      <p:sp>
        <p:nvSpPr>
          <p:cNvPr id="25" name="Text 19"/>
          <p:cNvSpPr txBox="1"/>
          <p:nvPr/>
        </p:nvSpPr>
        <p:spPr>
          <a:xfrm>
            <a:off x="777240" y="5184648"/>
            <a:ext cx="3058058" cy="731520"/>
          </a:xfrm>
          <a:prstGeom prst="rect">
            <a:avLst/>
          </a:prstGeom>
          <a:noFill/>
          <a:ln/>
        </p:spPr>
        <p:txBody>
          <a:bodyPr wrap="square" lIns="0" tIns="0" rIns="0" bIns="0" rtlCol="0" anchor="t"/>
          <a:lstStyle/>
          <a:p>
            <a:pPr indent="0" marL="0">
              <a:buNone/>
            </a:pPr>
            <a:r>
              <a:rPr lang="en-US" sz="1400" dirty="0">
                <a:solidFill>
                  <a:srgbClr val="1F1A2E"/>
                </a:solidFill>
                <a:latin typeface="Calibri" pitchFamily="34" charset="0"/>
                <a:ea typeface="Calibri" pitchFamily="34" charset="-122"/>
                <a:cs typeface="Calibri" pitchFamily="34" charset="-120"/>
              </a:rPr>
              <a:t>Climb again from many random starting points; keep the best.</a:t>
            </a:r>
            <a:endParaRPr lang="en-US" sz="1400" dirty="0"/>
          </a:p>
        </p:txBody>
      </p:sp>
      <p:sp>
        <p:nvSpPr>
          <p:cNvPr id="26" name="Shape 20"/>
          <p:cNvSpPr/>
          <p:nvPr/>
        </p:nvSpPr>
        <p:spPr>
          <a:xfrm>
            <a:off x="4338218" y="4343400"/>
            <a:ext cx="3515258" cy="1737360"/>
          </a:xfrm>
          <a:prstGeom prst="roundRect">
            <a:avLst>
              <a:gd name="adj" fmla="val 5263"/>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566818" y="4544568"/>
            <a:ext cx="502920" cy="502920"/>
          </a:xfrm>
          <a:prstGeom prst="ellipse">
            <a:avLst/>
          </a:prstGeom>
          <a:solidFill>
            <a:srgbClr val="1FA898"/>
          </a:solidFill>
          <a:ln w="12700">
            <a:solidFill>
              <a:srgbClr val="1FA898"/>
            </a:solidFill>
            <a:prstDash val="solid"/>
          </a:ln>
        </p:spPr>
      </p:sp>
      <p:pic>
        <p:nvPicPr>
          <p:cNvPr id="28" name="Image 4" descr="preencoded.png">    </p:cNvPr>
          <p:cNvPicPr>
            <a:picLocks noChangeAspect="1"/>
          </p:cNvPicPr>
          <p:nvPr/>
        </p:nvPicPr>
        <p:blipFill>
          <a:blip r:embed="rId5"/>
          <a:stretch>
            <a:fillRect/>
          </a:stretch>
        </p:blipFill>
        <p:spPr>
          <a:xfrm>
            <a:off x="4687519" y="4665269"/>
            <a:ext cx="261518" cy="261518"/>
          </a:xfrm>
          <a:prstGeom prst="rect">
            <a:avLst/>
          </a:prstGeom>
        </p:spPr>
      </p:pic>
      <p:sp>
        <p:nvSpPr>
          <p:cNvPr id="29" name="Text 22"/>
          <p:cNvSpPr txBox="1"/>
          <p:nvPr/>
        </p:nvSpPr>
        <p:spPr>
          <a:xfrm>
            <a:off x="5252618" y="4544568"/>
            <a:ext cx="2417978" cy="50292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Sideways moves</a:t>
            </a:r>
            <a:endParaRPr lang="en-US" sz="1800" dirty="0"/>
          </a:p>
        </p:txBody>
      </p:sp>
      <p:sp>
        <p:nvSpPr>
          <p:cNvPr id="30" name="Text 23"/>
          <p:cNvSpPr txBox="1"/>
          <p:nvPr/>
        </p:nvSpPr>
        <p:spPr>
          <a:xfrm>
            <a:off x="4566818" y="5184648"/>
            <a:ext cx="3058058" cy="731520"/>
          </a:xfrm>
          <a:prstGeom prst="rect">
            <a:avLst/>
          </a:prstGeom>
          <a:noFill/>
          <a:ln/>
        </p:spPr>
        <p:txBody>
          <a:bodyPr wrap="square" lIns="0" tIns="0" rIns="0" bIns="0" rtlCol="0" anchor="t"/>
          <a:lstStyle/>
          <a:p>
            <a:pPr indent="0" marL="0">
              <a:buNone/>
            </a:pPr>
            <a:r>
              <a:rPr lang="en-US" sz="1400" dirty="0">
                <a:solidFill>
                  <a:srgbClr val="1F1A2E"/>
                </a:solidFill>
                <a:latin typeface="Calibri" pitchFamily="34" charset="0"/>
                <a:ea typeface="Calibri" pitchFamily="34" charset="-122"/>
                <a:cs typeface="Calibri" pitchFamily="34" charset="-120"/>
              </a:rPr>
              <a:t>Allow a few flat moves to cross a plateau.</a:t>
            </a:r>
            <a:endParaRPr lang="en-US" sz="1400" dirty="0"/>
          </a:p>
        </p:txBody>
      </p:sp>
      <p:sp>
        <p:nvSpPr>
          <p:cNvPr id="31" name="Shape 24"/>
          <p:cNvSpPr/>
          <p:nvPr/>
        </p:nvSpPr>
        <p:spPr>
          <a:xfrm>
            <a:off x="8127797" y="4343400"/>
            <a:ext cx="3515258" cy="1737360"/>
          </a:xfrm>
          <a:prstGeom prst="roundRect">
            <a:avLst>
              <a:gd name="adj" fmla="val 5263"/>
            </a:avLst>
          </a:prstGeom>
          <a:solidFill>
            <a:srgbClr val="E3F6F3"/>
          </a:solidFill>
          <a:ln w="12700">
            <a:solidFill>
              <a:srgbClr val="E3F6F3"/>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356397" y="4544568"/>
            <a:ext cx="502920" cy="502920"/>
          </a:xfrm>
          <a:prstGeom prst="ellipse">
            <a:avLst/>
          </a:prstGeom>
          <a:solidFill>
            <a:srgbClr val="1FA898"/>
          </a:solidFill>
          <a:ln w="12700">
            <a:solidFill>
              <a:srgbClr val="1FA898"/>
            </a:solidFill>
            <a:prstDash val="solid"/>
          </a:ln>
        </p:spPr>
      </p:sp>
      <p:pic>
        <p:nvPicPr>
          <p:cNvPr id="33" name="Image 5" descr="preencoded.png">    </p:cNvPr>
          <p:cNvPicPr>
            <a:picLocks noChangeAspect="1"/>
          </p:cNvPicPr>
          <p:nvPr/>
        </p:nvPicPr>
        <p:blipFill>
          <a:blip r:embed="rId6"/>
          <a:stretch>
            <a:fillRect/>
          </a:stretch>
        </p:blipFill>
        <p:spPr>
          <a:xfrm>
            <a:off x="8477098" y="4665269"/>
            <a:ext cx="261518" cy="261518"/>
          </a:xfrm>
          <a:prstGeom prst="rect">
            <a:avLst/>
          </a:prstGeom>
        </p:spPr>
      </p:pic>
      <p:sp>
        <p:nvSpPr>
          <p:cNvPr id="34" name="Text 26"/>
          <p:cNvSpPr txBox="1"/>
          <p:nvPr/>
        </p:nvSpPr>
        <p:spPr>
          <a:xfrm>
            <a:off x="9042197" y="4544568"/>
            <a:ext cx="2417978" cy="50292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Simulated annealing</a:t>
            </a:r>
            <a:endParaRPr lang="en-US" sz="1800" dirty="0"/>
          </a:p>
        </p:txBody>
      </p:sp>
      <p:sp>
        <p:nvSpPr>
          <p:cNvPr id="35" name="Text 27"/>
          <p:cNvSpPr txBox="1"/>
          <p:nvPr/>
        </p:nvSpPr>
        <p:spPr>
          <a:xfrm>
            <a:off x="8356397" y="5184648"/>
            <a:ext cx="3058058" cy="731520"/>
          </a:xfrm>
          <a:prstGeom prst="rect">
            <a:avLst/>
          </a:prstGeom>
          <a:noFill/>
          <a:ln/>
        </p:spPr>
        <p:txBody>
          <a:bodyPr wrap="square" lIns="0" tIns="0" rIns="0" bIns="0" rtlCol="0" anchor="t"/>
          <a:lstStyle/>
          <a:p>
            <a:pPr indent="0" marL="0">
              <a:buNone/>
            </a:pPr>
            <a:r>
              <a:rPr lang="en-US" sz="1400" dirty="0">
                <a:solidFill>
                  <a:srgbClr val="1F1A2E"/>
                </a:solidFill>
                <a:latin typeface="Calibri" pitchFamily="34" charset="0"/>
                <a:ea typeface="Calibri" pitchFamily="34" charset="-122"/>
                <a:cs typeface="Calibri" pitchFamily="34" charset="-120"/>
              </a:rPr>
              <a:t>Sometimes allow a downhill step (often at first, rarely later) to escape small hills.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Game Search: Minimax</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17</a:t>
            </a:r>
            <a:endParaRPr lang="en-US" sz="1000" dirty="0"/>
          </a:p>
        </p:txBody>
      </p:sp>
      <p:pic>
        <p:nvPicPr>
          <p:cNvPr id="5" name="Image 0" descr="img/fig_minimax.png">    </p:cNvPr>
          <p:cNvPicPr>
            <a:picLocks noChangeAspect="1"/>
          </p:cNvPicPr>
          <p:nvPr/>
        </p:nvPicPr>
        <p:blipFill>
          <a:blip r:embed="rId1"/>
          <a:stretch>
            <a:fillRect/>
          </a:stretch>
        </p:blipFill>
        <p:spPr>
          <a:xfrm>
            <a:off x="548640" y="2031207"/>
            <a:ext cx="6400800" cy="2155506"/>
          </a:xfrm>
          <a:prstGeom prst="rect">
            <a:avLst/>
          </a:prstGeom>
        </p:spPr>
      </p:pic>
      <p:sp>
        <p:nvSpPr>
          <p:cNvPr id="6" name="Shape 3"/>
          <p:cNvSpPr/>
          <p:nvPr/>
        </p:nvSpPr>
        <p:spPr>
          <a:xfrm>
            <a:off x="7132320" y="1280160"/>
            <a:ext cx="4510735" cy="1737360"/>
          </a:xfrm>
          <a:prstGeom prst="roundRect">
            <a:avLst>
              <a:gd name="adj" fmla="val 5263"/>
            </a:avLst>
          </a:prstGeom>
          <a:solidFill>
            <a:srgbClr val="FFF4E3"/>
          </a:solidFill>
          <a:ln w="12700">
            <a:solidFill>
              <a:srgbClr val="FFF4E3"/>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7360920" y="1828800"/>
            <a:ext cx="640080" cy="640080"/>
          </a:xfrm>
          <a:prstGeom prst="ellipse">
            <a:avLst/>
          </a:prstGeom>
          <a:solidFill>
            <a:srgbClr val="FF9F1C"/>
          </a:solidFill>
          <a:ln w="12700">
            <a:solidFill>
              <a:srgbClr val="FF9F1C"/>
            </a:solidFill>
            <a:prstDash val="solid"/>
          </a:ln>
        </p:spPr>
      </p:sp>
      <p:pic>
        <p:nvPicPr>
          <p:cNvPr id="8" name="Image 1" descr="preencoded.png">    </p:cNvPr>
          <p:cNvPicPr>
            <a:picLocks noChangeAspect="1"/>
          </p:cNvPicPr>
          <p:nvPr/>
        </p:nvPicPr>
        <p:blipFill>
          <a:blip r:embed="rId2"/>
          <a:stretch>
            <a:fillRect/>
          </a:stretch>
        </p:blipFill>
        <p:spPr>
          <a:xfrm>
            <a:off x="7514539" y="1982419"/>
            <a:ext cx="332842" cy="332842"/>
          </a:xfrm>
          <a:prstGeom prst="rect">
            <a:avLst/>
          </a:prstGeom>
        </p:spPr>
      </p:pic>
      <p:sp>
        <p:nvSpPr>
          <p:cNvPr id="9" name="Text 5"/>
          <p:cNvSpPr txBox="1"/>
          <p:nvPr/>
        </p:nvSpPr>
        <p:spPr>
          <a:xfrm>
            <a:off x="8229600" y="1280160"/>
            <a:ext cx="3184855" cy="173736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Two players: </a:t>
            </a:r>
            <a:r>
              <a:rPr lang="en-US" sz="1500" dirty="0">
                <a:solidFill>
                  <a:srgbClr val="1F1A2E"/>
                </a:solidFill>
                <a:latin typeface="Calibri" pitchFamily="34" charset="0"/>
                <a:ea typeface="Calibri" pitchFamily="34" charset="-122"/>
                <a:cs typeface="Calibri" pitchFamily="34" charset="-120"/>
              </a:rPr>
              <a:t>MAX (you) wants a high score, MIN (the opponent) wants a low score. Minimax assumes both play their best.</a:t>
            </a:r>
            <a:endParaRPr lang="en-US" sz="1500" dirty="0"/>
          </a:p>
        </p:txBody>
      </p:sp>
      <p:sp>
        <p:nvSpPr>
          <p:cNvPr id="10" name="Text 6"/>
          <p:cNvSpPr txBox="1"/>
          <p:nvPr/>
        </p:nvSpPr>
        <p:spPr>
          <a:xfrm>
            <a:off x="7132320" y="3246120"/>
            <a:ext cx="4510735" cy="2194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F1A2E"/>
                </a:solidFill>
                <a:latin typeface="Calibri" pitchFamily="34" charset="0"/>
                <a:ea typeface="Calibri" pitchFamily="34" charset="-122"/>
                <a:cs typeface="Calibri" pitchFamily="34" charset="-120"/>
              </a:rPr>
              <a:t>Work from the bottom up.</a:t>
            </a:r>
            <a:endParaRPr lang="en-US" sz="1500" dirty="0"/>
          </a:p>
          <a:p>
            <a:pPr marL="342900" indent="-342900">
              <a:spcAft>
                <a:spcPts val="600"/>
              </a:spcAft>
              <a:buSzPct val="100000"/>
              <a:buFont typeface="+mj-lt"/>
              <a:buAutoNum type="arabicPeriod" startAt="1"/>
            </a:pPr>
            <a:r>
              <a:rPr lang="en-US" sz="1500" dirty="0">
                <a:solidFill>
                  <a:srgbClr val="1F1A2E"/>
                </a:solidFill>
                <a:latin typeface="Calibri" pitchFamily="34" charset="0"/>
                <a:ea typeface="Calibri" pitchFamily="34" charset="-122"/>
                <a:cs typeface="Calibri" pitchFamily="34" charset="-120"/>
              </a:rPr>
              <a:t>At MIN levels take the smallest value.</a:t>
            </a:r>
            <a:endParaRPr lang="en-US" sz="1500" dirty="0"/>
          </a:p>
          <a:p>
            <a:pPr marL="342900" indent="-342900">
              <a:spcAft>
                <a:spcPts val="600"/>
              </a:spcAft>
              <a:buSzPct val="100000"/>
              <a:buFont typeface="+mj-lt"/>
              <a:buAutoNum type="arabicPeriod" startAt="1"/>
            </a:pPr>
            <a:r>
              <a:rPr lang="en-US" sz="1500" dirty="0">
                <a:solidFill>
                  <a:srgbClr val="1F1A2E"/>
                </a:solidFill>
                <a:latin typeface="Calibri" pitchFamily="34" charset="0"/>
                <a:ea typeface="Calibri" pitchFamily="34" charset="-122"/>
                <a:cs typeface="Calibri" pitchFamily="34" charset="-120"/>
              </a:rPr>
              <a:t>At MAX levels take the largest value.</a:t>
            </a:r>
            <a:endParaRPr lang="en-US" sz="1500" dirty="0"/>
          </a:p>
          <a:p>
            <a:pPr marL="342900" indent="-342900">
              <a:spcAft>
                <a:spcPts val="600"/>
              </a:spcAft>
              <a:buSzPct val="100000"/>
              <a:buFont typeface="+mj-lt"/>
              <a:buAutoNum type="arabicPeriod" startAt="1"/>
            </a:pPr>
            <a:r>
              <a:rPr lang="en-US" sz="1500" dirty="0">
                <a:solidFill>
                  <a:srgbClr val="1F1A2E"/>
                </a:solidFill>
                <a:latin typeface="Calibri" pitchFamily="34" charset="0"/>
                <a:ea typeface="Calibri" pitchFamily="34" charset="-122"/>
                <a:cs typeface="Calibri" pitchFamily="34" charset="-120"/>
              </a:rPr>
              <a:t>Here MAX chooses B and is sure to get at least 3.</a:t>
            </a:r>
            <a:endParaRPr lang="en-US" sz="1500" dirty="0"/>
          </a:p>
        </p:txBody>
      </p:sp>
      <p:sp>
        <p:nvSpPr>
          <p:cNvPr id="11" name="Text 7"/>
          <p:cNvSpPr txBox="1"/>
          <p:nvPr/>
        </p:nvSpPr>
        <p:spPr>
          <a:xfrm>
            <a:off x="548640" y="5303520"/>
            <a:ext cx="11094415" cy="640080"/>
          </a:xfrm>
          <a:prstGeom prst="rect">
            <a:avLst/>
          </a:prstGeom>
          <a:noFill/>
          <a:ln/>
        </p:spPr>
        <p:txBody>
          <a:bodyPr wrap="square" lIns="0" tIns="0" rIns="0" bIns="0" rtlCol="0" anchor="t"/>
          <a:lstStyle/>
          <a:p>
            <a:pPr indent="0" marL="0">
              <a:buNone/>
            </a:pPr>
            <a:r>
              <a:rPr lang="en-US" sz="1500" i="1" dirty="0">
                <a:solidFill>
                  <a:srgbClr val="6B6780"/>
                </a:solidFill>
                <a:latin typeface="Calibri" pitchFamily="34" charset="0"/>
                <a:ea typeface="Calibri" pitchFamily="34" charset="-122"/>
                <a:cs typeface="Calibri" pitchFamily="34" charset="-120"/>
              </a:rPr>
              <a:t>Used in tic-tac-toe and chess. Alpha-beta pruning makes it faster by skipping branches that cannot change the decision.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Heuristic Search in Real Life</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48640" y="1325880"/>
            <a:ext cx="3515258" cy="2240280"/>
          </a:xfrm>
          <a:prstGeom prst="roundRect">
            <a:avLst>
              <a:gd name="adj" fmla="val 4082"/>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77240" y="1527048"/>
            <a:ext cx="594360" cy="594360"/>
          </a:xfrm>
          <a:prstGeom prst="ellipse">
            <a:avLst/>
          </a:prstGeom>
          <a:solidFill>
            <a:srgbClr val="5B2A86"/>
          </a:solidFill>
          <a:ln w="12700">
            <a:solidFill>
              <a:srgbClr val="5B2A86"/>
            </a:solidFill>
            <a:prstDash val="solid"/>
          </a:ln>
        </p:spPr>
      </p:sp>
      <p:pic>
        <p:nvPicPr>
          <p:cNvPr id="7" name="Image 0" descr="preencoded.png">    </p:cNvPr>
          <p:cNvPicPr>
            <a:picLocks noChangeAspect="1"/>
          </p:cNvPicPr>
          <p:nvPr/>
        </p:nvPicPr>
        <p:blipFill>
          <a:blip r:embed="rId1"/>
          <a:stretch>
            <a:fillRect/>
          </a:stretch>
        </p:blipFill>
        <p:spPr>
          <a:xfrm>
            <a:off x="919886" y="1669694"/>
            <a:ext cx="309067" cy="309067"/>
          </a:xfrm>
          <a:prstGeom prst="rect">
            <a:avLst/>
          </a:prstGeom>
        </p:spPr>
      </p:pic>
      <p:sp>
        <p:nvSpPr>
          <p:cNvPr id="8" name="Text 5"/>
          <p:cNvSpPr txBox="1"/>
          <p:nvPr/>
        </p:nvSpPr>
        <p:spPr>
          <a:xfrm>
            <a:off x="1554480" y="15270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Map and ride apps</a:t>
            </a:r>
            <a:endParaRPr lang="en-US" sz="1800" dirty="0"/>
          </a:p>
        </p:txBody>
      </p:sp>
      <p:sp>
        <p:nvSpPr>
          <p:cNvPr id="9" name="Text 6"/>
          <p:cNvSpPr txBox="1"/>
          <p:nvPr/>
        </p:nvSpPr>
        <p:spPr>
          <a:xfrm>
            <a:off x="777240" y="2258568"/>
            <a:ext cx="3058058" cy="114300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Route planning uses A*-style search with distance heuristics.</a:t>
            </a:r>
            <a:endParaRPr lang="en-US" sz="1600" dirty="0"/>
          </a:p>
        </p:txBody>
      </p:sp>
      <p:sp>
        <p:nvSpPr>
          <p:cNvPr id="10" name="Shape 7"/>
          <p:cNvSpPr/>
          <p:nvPr/>
        </p:nvSpPr>
        <p:spPr>
          <a:xfrm>
            <a:off x="4338218" y="1325880"/>
            <a:ext cx="3515258" cy="2240280"/>
          </a:xfrm>
          <a:prstGeom prst="roundRect">
            <a:avLst>
              <a:gd name="adj" fmla="val 4082"/>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566818" y="1527048"/>
            <a:ext cx="594360" cy="594360"/>
          </a:xfrm>
          <a:prstGeom prst="ellipse">
            <a:avLst/>
          </a:prstGeom>
          <a:solidFill>
            <a:srgbClr val="1FA898"/>
          </a:solidFill>
          <a:ln w="12700">
            <a:solidFill>
              <a:srgbClr val="1FA898"/>
            </a:solidFill>
            <a:prstDash val="solid"/>
          </a:ln>
        </p:spPr>
      </p:sp>
      <p:pic>
        <p:nvPicPr>
          <p:cNvPr id="12" name="Image 1" descr="preencoded.png">    </p:cNvPr>
          <p:cNvPicPr>
            <a:picLocks noChangeAspect="1"/>
          </p:cNvPicPr>
          <p:nvPr/>
        </p:nvPicPr>
        <p:blipFill>
          <a:blip r:embed="rId2"/>
          <a:stretch>
            <a:fillRect/>
          </a:stretch>
        </p:blipFill>
        <p:spPr>
          <a:xfrm>
            <a:off x="4709465" y="1669694"/>
            <a:ext cx="309067" cy="309067"/>
          </a:xfrm>
          <a:prstGeom prst="rect">
            <a:avLst/>
          </a:prstGeom>
        </p:spPr>
      </p:pic>
      <p:sp>
        <p:nvSpPr>
          <p:cNvPr id="13" name="Text 9"/>
          <p:cNvSpPr txBox="1"/>
          <p:nvPr/>
        </p:nvSpPr>
        <p:spPr>
          <a:xfrm>
            <a:off x="5344058" y="15270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Video games</a:t>
            </a:r>
            <a:endParaRPr lang="en-US" sz="1800" dirty="0"/>
          </a:p>
        </p:txBody>
      </p:sp>
      <p:sp>
        <p:nvSpPr>
          <p:cNvPr id="14" name="Text 10"/>
          <p:cNvSpPr txBox="1"/>
          <p:nvPr/>
        </p:nvSpPr>
        <p:spPr>
          <a:xfrm>
            <a:off x="4566818" y="2258568"/>
            <a:ext cx="3058058" cy="114300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Characters find paths around walls using A*.</a:t>
            </a:r>
            <a:endParaRPr lang="en-US" sz="1600" dirty="0"/>
          </a:p>
        </p:txBody>
      </p:sp>
      <p:sp>
        <p:nvSpPr>
          <p:cNvPr id="15" name="Shape 11"/>
          <p:cNvSpPr/>
          <p:nvPr/>
        </p:nvSpPr>
        <p:spPr>
          <a:xfrm>
            <a:off x="8127797" y="1325880"/>
            <a:ext cx="3515258" cy="2240280"/>
          </a:xfrm>
          <a:prstGeom prst="roundRect">
            <a:avLst>
              <a:gd name="adj" fmla="val 4082"/>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8356397" y="1527048"/>
            <a:ext cx="594360" cy="594360"/>
          </a:xfrm>
          <a:prstGeom prst="ellipse">
            <a:avLst/>
          </a:prstGeom>
          <a:solidFill>
            <a:srgbClr val="FF9F1C"/>
          </a:solidFill>
          <a:ln w="12700">
            <a:solidFill>
              <a:srgbClr val="FF9F1C"/>
            </a:solidFill>
            <a:prstDash val="solid"/>
          </a:ln>
        </p:spPr>
      </p:sp>
      <p:pic>
        <p:nvPicPr>
          <p:cNvPr id="17" name="Image 2" descr="preencoded.png">    </p:cNvPr>
          <p:cNvPicPr>
            <a:picLocks noChangeAspect="1"/>
          </p:cNvPicPr>
          <p:nvPr/>
        </p:nvPicPr>
        <p:blipFill>
          <a:blip r:embed="rId3"/>
          <a:stretch>
            <a:fillRect/>
          </a:stretch>
        </p:blipFill>
        <p:spPr>
          <a:xfrm>
            <a:off x="8499043" y="1669694"/>
            <a:ext cx="309067" cy="309067"/>
          </a:xfrm>
          <a:prstGeom prst="rect">
            <a:avLst/>
          </a:prstGeom>
        </p:spPr>
      </p:pic>
      <p:sp>
        <p:nvSpPr>
          <p:cNvPr id="18" name="Text 13"/>
          <p:cNvSpPr txBox="1"/>
          <p:nvPr/>
        </p:nvSpPr>
        <p:spPr>
          <a:xfrm>
            <a:off x="9133637" y="15270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Robots and drones</a:t>
            </a:r>
            <a:endParaRPr lang="en-US" sz="1800" dirty="0"/>
          </a:p>
        </p:txBody>
      </p:sp>
      <p:sp>
        <p:nvSpPr>
          <p:cNvPr id="19" name="Text 14"/>
          <p:cNvSpPr txBox="1"/>
          <p:nvPr/>
        </p:nvSpPr>
        <p:spPr>
          <a:xfrm>
            <a:off x="8356397" y="2258568"/>
            <a:ext cx="3058058" cy="114300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Plan safe paths through rooms and warehouses.</a:t>
            </a:r>
            <a:endParaRPr lang="en-US" sz="1600" dirty="0"/>
          </a:p>
        </p:txBody>
      </p:sp>
      <p:sp>
        <p:nvSpPr>
          <p:cNvPr id="20" name="Shape 15"/>
          <p:cNvSpPr/>
          <p:nvPr/>
        </p:nvSpPr>
        <p:spPr>
          <a:xfrm>
            <a:off x="548640" y="3840480"/>
            <a:ext cx="3515258" cy="2240280"/>
          </a:xfrm>
          <a:prstGeom prst="roundRect">
            <a:avLst>
              <a:gd name="adj" fmla="val 4082"/>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21" name="Shape 16"/>
          <p:cNvSpPr/>
          <p:nvPr/>
        </p:nvSpPr>
        <p:spPr>
          <a:xfrm>
            <a:off x="777240" y="4041648"/>
            <a:ext cx="594360" cy="594360"/>
          </a:xfrm>
          <a:prstGeom prst="ellipse">
            <a:avLst/>
          </a:prstGeom>
          <a:solidFill>
            <a:srgbClr val="D1495B"/>
          </a:solidFill>
          <a:ln w="12700">
            <a:solidFill>
              <a:srgbClr val="D1495B"/>
            </a:solidFill>
            <a:prstDash val="solid"/>
          </a:ln>
        </p:spPr>
      </p:sp>
      <p:pic>
        <p:nvPicPr>
          <p:cNvPr id="22" name="Image 3" descr="preencoded.png">    </p:cNvPr>
          <p:cNvPicPr>
            <a:picLocks noChangeAspect="1"/>
          </p:cNvPicPr>
          <p:nvPr/>
        </p:nvPicPr>
        <p:blipFill>
          <a:blip r:embed="rId4"/>
          <a:stretch>
            <a:fillRect/>
          </a:stretch>
        </p:blipFill>
        <p:spPr>
          <a:xfrm>
            <a:off x="919886" y="4184294"/>
            <a:ext cx="309067" cy="309067"/>
          </a:xfrm>
          <a:prstGeom prst="rect">
            <a:avLst/>
          </a:prstGeom>
        </p:spPr>
      </p:pic>
      <p:sp>
        <p:nvSpPr>
          <p:cNvPr id="23" name="Text 17"/>
          <p:cNvSpPr txBox="1"/>
          <p:nvPr/>
        </p:nvSpPr>
        <p:spPr>
          <a:xfrm>
            <a:off x="1554480" y="40416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Chess engines</a:t>
            </a:r>
            <a:endParaRPr lang="en-US" sz="1800" dirty="0"/>
          </a:p>
        </p:txBody>
      </p:sp>
      <p:sp>
        <p:nvSpPr>
          <p:cNvPr id="24" name="Text 18"/>
          <p:cNvSpPr txBox="1"/>
          <p:nvPr/>
        </p:nvSpPr>
        <p:spPr>
          <a:xfrm>
            <a:off x="777240" y="4773168"/>
            <a:ext cx="3058058" cy="114300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Minimax with heuristic board evaluation.</a:t>
            </a:r>
            <a:endParaRPr lang="en-US" sz="1600" dirty="0"/>
          </a:p>
        </p:txBody>
      </p:sp>
      <p:sp>
        <p:nvSpPr>
          <p:cNvPr id="25" name="Shape 19"/>
          <p:cNvSpPr/>
          <p:nvPr/>
        </p:nvSpPr>
        <p:spPr>
          <a:xfrm>
            <a:off x="4338218" y="3840480"/>
            <a:ext cx="3515258" cy="2240280"/>
          </a:xfrm>
          <a:prstGeom prst="roundRect">
            <a:avLst>
              <a:gd name="adj" fmla="val 4082"/>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26" name="Shape 20"/>
          <p:cNvSpPr/>
          <p:nvPr/>
        </p:nvSpPr>
        <p:spPr>
          <a:xfrm>
            <a:off x="4566818" y="4041648"/>
            <a:ext cx="594360" cy="594360"/>
          </a:xfrm>
          <a:prstGeom prst="ellipse">
            <a:avLst/>
          </a:prstGeom>
          <a:solidFill>
            <a:srgbClr val="1A1333"/>
          </a:solidFill>
          <a:ln w="12700">
            <a:solidFill>
              <a:srgbClr val="1A1333"/>
            </a:solidFill>
            <a:prstDash val="solid"/>
          </a:ln>
        </p:spPr>
      </p:sp>
      <p:pic>
        <p:nvPicPr>
          <p:cNvPr id="27" name="Image 4" descr="preencoded.png">    </p:cNvPr>
          <p:cNvPicPr>
            <a:picLocks noChangeAspect="1"/>
          </p:cNvPicPr>
          <p:nvPr/>
        </p:nvPicPr>
        <p:blipFill>
          <a:blip r:embed="rId5"/>
          <a:stretch>
            <a:fillRect/>
          </a:stretch>
        </p:blipFill>
        <p:spPr>
          <a:xfrm>
            <a:off x="4709465" y="4184294"/>
            <a:ext cx="309067" cy="309067"/>
          </a:xfrm>
          <a:prstGeom prst="rect">
            <a:avLst/>
          </a:prstGeom>
        </p:spPr>
      </p:pic>
      <p:sp>
        <p:nvSpPr>
          <p:cNvPr id="28" name="Text 21"/>
          <p:cNvSpPr txBox="1"/>
          <p:nvPr/>
        </p:nvSpPr>
        <p:spPr>
          <a:xfrm>
            <a:off x="5344058" y="40416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Scheduling</a:t>
            </a:r>
            <a:endParaRPr lang="en-US" sz="1800" dirty="0"/>
          </a:p>
        </p:txBody>
      </p:sp>
      <p:sp>
        <p:nvSpPr>
          <p:cNvPr id="29" name="Text 22"/>
          <p:cNvSpPr txBox="1"/>
          <p:nvPr/>
        </p:nvSpPr>
        <p:spPr>
          <a:xfrm>
            <a:off x="4566818" y="4773168"/>
            <a:ext cx="3058058" cy="114300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Timetables and deliveries use hill climbing and related methods.</a:t>
            </a:r>
            <a:endParaRPr lang="en-US" sz="1600" dirty="0"/>
          </a:p>
        </p:txBody>
      </p:sp>
      <p:sp>
        <p:nvSpPr>
          <p:cNvPr id="30" name="Shape 23"/>
          <p:cNvSpPr/>
          <p:nvPr/>
        </p:nvSpPr>
        <p:spPr>
          <a:xfrm>
            <a:off x="8127797" y="3840480"/>
            <a:ext cx="3515258" cy="2240280"/>
          </a:xfrm>
          <a:prstGeom prst="roundRect">
            <a:avLst>
              <a:gd name="adj" fmla="val 4082"/>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8356397" y="4041648"/>
            <a:ext cx="594360" cy="594360"/>
          </a:xfrm>
          <a:prstGeom prst="ellipse">
            <a:avLst/>
          </a:prstGeom>
          <a:solidFill>
            <a:srgbClr val="5B2A86"/>
          </a:solidFill>
          <a:ln w="12700">
            <a:solidFill>
              <a:srgbClr val="5B2A86"/>
            </a:solidFill>
            <a:prstDash val="solid"/>
          </a:ln>
        </p:spPr>
      </p:sp>
      <p:pic>
        <p:nvPicPr>
          <p:cNvPr id="32" name="Image 5" descr="preencoded.png">    </p:cNvPr>
          <p:cNvPicPr>
            <a:picLocks noChangeAspect="1"/>
          </p:cNvPicPr>
          <p:nvPr/>
        </p:nvPicPr>
        <p:blipFill>
          <a:blip r:embed="rId6"/>
          <a:stretch>
            <a:fillRect/>
          </a:stretch>
        </p:blipFill>
        <p:spPr>
          <a:xfrm>
            <a:off x="8499043" y="4184294"/>
            <a:ext cx="309067" cy="309067"/>
          </a:xfrm>
          <a:prstGeom prst="rect">
            <a:avLst/>
          </a:prstGeom>
        </p:spPr>
      </p:pic>
      <p:sp>
        <p:nvSpPr>
          <p:cNvPr id="33" name="Text 25"/>
          <p:cNvSpPr txBox="1"/>
          <p:nvPr/>
        </p:nvSpPr>
        <p:spPr>
          <a:xfrm>
            <a:off x="9133637" y="4041648"/>
            <a:ext cx="2326538" cy="594360"/>
          </a:xfrm>
          <a:prstGeom prst="rect">
            <a:avLst/>
          </a:prstGeom>
          <a:noFill/>
          <a:ln/>
        </p:spPr>
        <p:txBody>
          <a:bodyPr wrap="square" lIns="0" tIns="0" rIns="0" bIns="0" rtlCol="0" anchor="ctr"/>
          <a:lstStyle/>
          <a:p>
            <a:pPr indent="0" marL="0">
              <a:buNone/>
            </a:pPr>
            <a:r>
              <a:rPr lang="en-US" sz="1800" b="1" dirty="0">
                <a:solidFill>
                  <a:srgbClr val="1A1333"/>
                </a:solidFill>
                <a:latin typeface="Calibri" pitchFamily="34" charset="0"/>
                <a:ea typeface="Calibri" pitchFamily="34" charset="-122"/>
                <a:cs typeface="Calibri" pitchFamily="34" charset="-120"/>
              </a:rPr>
              <a:t>Puzzle solvers</a:t>
            </a:r>
            <a:endParaRPr lang="en-US" sz="1800" dirty="0"/>
          </a:p>
        </p:txBody>
      </p:sp>
      <p:sp>
        <p:nvSpPr>
          <p:cNvPr id="34" name="Text 26"/>
          <p:cNvSpPr txBox="1"/>
          <p:nvPr/>
        </p:nvSpPr>
        <p:spPr>
          <a:xfrm>
            <a:off x="8356397" y="4773168"/>
            <a:ext cx="3058058" cy="1143000"/>
          </a:xfrm>
          <a:prstGeom prst="rect">
            <a:avLst/>
          </a:prstGeom>
          <a:noFill/>
          <a:ln/>
        </p:spPr>
        <p:txBody>
          <a:bodyPr wrap="square" lIns="0" tIns="0" rIns="0" bIns="0" rtlCol="0" anchor="t"/>
          <a:lstStyle/>
          <a:p>
            <a:pPr indent="0" marL="0">
              <a:buNone/>
            </a:pPr>
            <a:r>
              <a:rPr lang="en-US" sz="1600" dirty="0">
                <a:solidFill>
                  <a:srgbClr val="1F1A2E"/>
                </a:solidFill>
                <a:latin typeface="Calibri" pitchFamily="34" charset="0"/>
                <a:ea typeface="Calibri" pitchFamily="34" charset="-122"/>
                <a:cs typeface="Calibri" pitchFamily="34" charset="-120"/>
              </a:rPr>
              <a:t>Rubik's cube and 15-puzzle solvers use A* variants.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Practical: Colab Lab 7</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t"/>
          <a:lstStyle/>
          <a:p>
            <a:pPr indent="0" marL="0">
              <a:buNone/>
            </a:pPr>
            <a:r>
              <a:rPr lang="en-US" sz="1600" i="1" dirty="0">
                <a:solidFill>
                  <a:srgbClr val="6B6780"/>
                </a:solidFill>
                <a:latin typeface="Calibri" pitchFamily="34" charset="0"/>
                <a:ea typeface="Calibri" pitchFamily="34" charset="-122"/>
                <a:cs typeface="Calibri" pitchFamily="34" charset="-120"/>
              </a:rPr>
              <a:t>Open CS4305_Lab07_Heuristic_Search.ipynb in Google Colab</a:t>
            </a:r>
            <a:endParaRPr lang="en-US" sz="1600" dirty="0"/>
          </a:p>
        </p:txBody>
      </p:sp>
      <p:sp>
        <p:nvSpPr>
          <p:cNvPr id="4" name="Text 2"/>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5" name="Text 3"/>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1600200"/>
            <a:ext cx="3515258" cy="1645920"/>
          </a:xfrm>
          <a:prstGeom prst="roundRect">
            <a:avLst>
              <a:gd name="adj" fmla="val 5556"/>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801368"/>
            <a:ext cx="594360" cy="594360"/>
          </a:xfrm>
          <a:prstGeom prst="ellipse">
            <a:avLst/>
          </a:prstGeom>
          <a:solidFill>
            <a:srgbClr val="5B2A86"/>
          </a:solidFill>
          <a:ln w="12700">
            <a:solidFill>
              <a:srgbClr val="5B2A86"/>
            </a:solidFill>
            <a:prstDash val="solid"/>
          </a:ln>
        </p:spPr>
      </p:sp>
      <p:pic>
        <p:nvPicPr>
          <p:cNvPr id="8" name="Image 0" descr="preencoded.png">    </p:cNvPr>
          <p:cNvPicPr>
            <a:picLocks noChangeAspect="1"/>
          </p:cNvPicPr>
          <p:nvPr/>
        </p:nvPicPr>
        <p:blipFill>
          <a:blip r:embed="rId1"/>
          <a:stretch>
            <a:fillRect/>
          </a:stretch>
        </p:blipFill>
        <p:spPr>
          <a:xfrm>
            <a:off x="919886" y="1944014"/>
            <a:ext cx="309067" cy="309067"/>
          </a:xfrm>
          <a:prstGeom prst="rect">
            <a:avLst/>
          </a:prstGeom>
        </p:spPr>
      </p:pic>
      <p:sp>
        <p:nvSpPr>
          <p:cNvPr id="9" name="Text 6"/>
          <p:cNvSpPr txBox="1"/>
          <p:nvPr/>
        </p:nvSpPr>
        <p:spPr>
          <a:xfrm>
            <a:off x="1554480" y="1801368"/>
            <a:ext cx="2326538" cy="594360"/>
          </a:xfrm>
          <a:prstGeom prst="rect">
            <a:avLst/>
          </a:prstGeom>
          <a:noFill/>
          <a:ln/>
        </p:spPr>
        <p:txBody>
          <a:bodyPr wrap="square" lIns="0" tIns="0" rIns="0" bIns="0" rtlCol="0" anchor="ctr"/>
          <a:lstStyle/>
          <a:p>
            <a:pPr indent="0" marL="0">
              <a:buNone/>
            </a:pPr>
            <a:r>
              <a:rPr lang="en-US" sz="1600" b="1" dirty="0">
                <a:solidFill>
                  <a:srgbClr val="1A1333"/>
                </a:solidFill>
                <a:latin typeface="Calibri" pitchFamily="34" charset="0"/>
                <a:ea typeface="Calibri" pitchFamily="34" charset="-122"/>
                <a:cs typeface="Calibri" pitchFamily="34" charset="-120"/>
              </a:rPr>
              <a:t>Greedy vs A*</a:t>
            </a:r>
            <a:endParaRPr lang="en-US" sz="1600" dirty="0"/>
          </a:p>
        </p:txBody>
      </p:sp>
      <p:sp>
        <p:nvSpPr>
          <p:cNvPr id="10" name="Text 7"/>
          <p:cNvSpPr txBox="1"/>
          <p:nvPr/>
        </p:nvSpPr>
        <p:spPr>
          <a:xfrm>
            <a:off x="777240" y="2532888"/>
            <a:ext cx="3058058" cy="54864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See Greedy fail and A* succeed</a:t>
            </a:r>
            <a:endParaRPr lang="en-US" sz="1500" dirty="0"/>
          </a:p>
        </p:txBody>
      </p:sp>
      <p:sp>
        <p:nvSpPr>
          <p:cNvPr id="11" name="Shape 8"/>
          <p:cNvSpPr/>
          <p:nvPr/>
        </p:nvSpPr>
        <p:spPr>
          <a:xfrm>
            <a:off x="4338218" y="1600200"/>
            <a:ext cx="3515258" cy="1645920"/>
          </a:xfrm>
          <a:prstGeom prst="roundRect">
            <a:avLst>
              <a:gd name="adj" fmla="val 5556"/>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566818" y="1801368"/>
            <a:ext cx="594360" cy="594360"/>
          </a:xfrm>
          <a:prstGeom prst="ellipse">
            <a:avLst/>
          </a:prstGeom>
          <a:solidFill>
            <a:srgbClr val="1FA898"/>
          </a:solidFill>
          <a:ln w="12700">
            <a:solidFill>
              <a:srgbClr val="1FA898"/>
            </a:solidFill>
            <a:prstDash val="solid"/>
          </a:ln>
        </p:spPr>
      </p:sp>
      <p:pic>
        <p:nvPicPr>
          <p:cNvPr id="13" name="Image 1" descr="preencoded.png">    </p:cNvPr>
          <p:cNvPicPr>
            <a:picLocks noChangeAspect="1"/>
          </p:cNvPicPr>
          <p:nvPr/>
        </p:nvPicPr>
        <p:blipFill>
          <a:blip r:embed="rId2"/>
          <a:stretch>
            <a:fillRect/>
          </a:stretch>
        </p:blipFill>
        <p:spPr>
          <a:xfrm>
            <a:off x="4709465" y="1944014"/>
            <a:ext cx="309067" cy="309067"/>
          </a:xfrm>
          <a:prstGeom prst="rect">
            <a:avLst/>
          </a:prstGeom>
        </p:spPr>
      </p:pic>
      <p:sp>
        <p:nvSpPr>
          <p:cNvPr id="14" name="Text 10"/>
          <p:cNvSpPr txBox="1"/>
          <p:nvPr/>
        </p:nvSpPr>
        <p:spPr>
          <a:xfrm>
            <a:off x="5344058" y="1801368"/>
            <a:ext cx="2326538" cy="594360"/>
          </a:xfrm>
          <a:prstGeom prst="rect">
            <a:avLst/>
          </a:prstGeom>
          <a:noFill/>
          <a:ln/>
        </p:spPr>
        <p:txBody>
          <a:bodyPr wrap="square" lIns="0" tIns="0" rIns="0" bIns="0" rtlCol="0" anchor="ctr"/>
          <a:lstStyle/>
          <a:p>
            <a:pPr indent="0" marL="0">
              <a:buNone/>
            </a:pPr>
            <a:r>
              <a:rPr lang="en-US" sz="1600" b="1" dirty="0">
                <a:solidFill>
                  <a:srgbClr val="1A1333"/>
                </a:solidFill>
                <a:latin typeface="Calibri" pitchFamily="34" charset="0"/>
                <a:ea typeface="Calibri" pitchFamily="34" charset="-122"/>
                <a:cs typeface="Calibri" pitchFamily="34" charset="-120"/>
              </a:rPr>
              <a:t>A* on the map</a:t>
            </a:r>
            <a:endParaRPr lang="en-US" sz="1600" dirty="0"/>
          </a:p>
        </p:txBody>
      </p:sp>
      <p:sp>
        <p:nvSpPr>
          <p:cNvPr id="15" name="Text 11"/>
          <p:cNvSpPr txBox="1"/>
          <p:nvPr/>
        </p:nvSpPr>
        <p:spPr>
          <a:xfrm>
            <a:off x="4566818" y="2532888"/>
            <a:ext cx="3058058" cy="54864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Fewer cities than UCS, same route</a:t>
            </a:r>
            <a:endParaRPr lang="en-US" sz="1500" dirty="0"/>
          </a:p>
        </p:txBody>
      </p:sp>
      <p:sp>
        <p:nvSpPr>
          <p:cNvPr id="16" name="Shape 12"/>
          <p:cNvSpPr/>
          <p:nvPr/>
        </p:nvSpPr>
        <p:spPr>
          <a:xfrm>
            <a:off x="8127797" y="1600200"/>
            <a:ext cx="3515258" cy="1645920"/>
          </a:xfrm>
          <a:prstGeom prst="roundRect">
            <a:avLst>
              <a:gd name="adj" fmla="val 5556"/>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356397" y="1801368"/>
            <a:ext cx="594360" cy="594360"/>
          </a:xfrm>
          <a:prstGeom prst="ellipse">
            <a:avLst/>
          </a:prstGeom>
          <a:solidFill>
            <a:srgbClr val="FF9F1C"/>
          </a:solidFill>
          <a:ln w="12700">
            <a:solidFill>
              <a:srgbClr val="FF9F1C"/>
            </a:solidFill>
            <a:prstDash val="solid"/>
          </a:ln>
        </p:spPr>
      </p:sp>
      <p:pic>
        <p:nvPicPr>
          <p:cNvPr id="18" name="Image 2" descr="preencoded.png">    </p:cNvPr>
          <p:cNvPicPr>
            <a:picLocks noChangeAspect="1"/>
          </p:cNvPicPr>
          <p:nvPr/>
        </p:nvPicPr>
        <p:blipFill>
          <a:blip r:embed="rId3"/>
          <a:stretch>
            <a:fillRect/>
          </a:stretch>
        </p:blipFill>
        <p:spPr>
          <a:xfrm>
            <a:off x="8499043" y="1944014"/>
            <a:ext cx="309067" cy="309067"/>
          </a:xfrm>
          <a:prstGeom prst="rect">
            <a:avLst/>
          </a:prstGeom>
        </p:spPr>
      </p:pic>
      <p:sp>
        <p:nvSpPr>
          <p:cNvPr id="19" name="Text 14"/>
          <p:cNvSpPr txBox="1"/>
          <p:nvPr/>
        </p:nvSpPr>
        <p:spPr>
          <a:xfrm>
            <a:off x="9133637" y="1801368"/>
            <a:ext cx="2326538" cy="594360"/>
          </a:xfrm>
          <a:prstGeom prst="rect">
            <a:avLst/>
          </a:prstGeom>
          <a:noFill/>
          <a:ln/>
        </p:spPr>
        <p:txBody>
          <a:bodyPr wrap="square" lIns="0" tIns="0" rIns="0" bIns="0" rtlCol="0" anchor="ctr"/>
          <a:lstStyle/>
          <a:p>
            <a:pPr indent="0" marL="0">
              <a:buNone/>
            </a:pPr>
            <a:r>
              <a:rPr lang="en-US" sz="1600" b="1" dirty="0">
                <a:solidFill>
                  <a:srgbClr val="1A1333"/>
                </a:solidFill>
                <a:latin typeface="Calibri" pitchFamily="34" charset="0"/>
                <a:ea typeface="Calibri" pitchFamily="34" charset="-122"/>
                <a:cs typeface="Calibri" pitchFamily="34" charset="-120"/>
              </a:rPr>
              <a:t>8-puzzle</a:t>
            </a:r>
            <a:endParaRPr lang="en-US" sz="1600" dirty="0"/>
          </a:p>
        </p:txBody>
      </p:sp>
      <p:sp>
        <p:nvSpPr>
          <p:cNvPr id="20" name="Text 15"/>
          <p:cNvSpPr txBox="1"/>
          <p:nvPr/>
        </p:nvSpPr>
        <p:spPr>
          <a:xfrm>
            <a:off x="8356397" y="2532888"/>
            <a:ext cx="3058058" cy="54864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h1 vs h2: count the work</a:t>
            </a:r>
            <a:endParaRPr lang="en-US" sz="1500" dirty="0"/>
          </a:p>
        </p:txBody>
      </p:sp>
      <p:sp>
        <p:nvSpPr>
          <p:cNvPr id="21" name="Shape 16"/>
          <p:cNvSpPr/>
          <p:nvPr/>
        </p:nvSpPr>
        <p:spPr>
          <a:xfrm>
            <a:off x="548640" y="3520440"/>
            <a:ext cx="3515258" cy="1645920"/>
          </a:xfrm>
          <a:prstGeom prst="roundRect">
            <a:avLst>
              <a:gd name="adj" fmla="val 5556"/>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77240" y="3721608"/>
            <a:ext cx="594360" cy="594360"/>
          </a:xfrm>
          <a:prstGeom prst="ellipse">
            <a:avLst/>
          </a:prstGeom>
          <a:solidFill>
            <a:srgbClr val="D1495B"/>
          </a:solidFill>
          <a:ln w="12700">
            <a:solidFill>
              <a:srgbClr val="D1495B"/>
            </a:solidFill>
            <a:prstDash val="solid"/>
          </a:ln>
        </p:spPr>
      </p:sp>
      <p:pic>
        <p:nvPicPr>
          <p:cNvPr id="23" name="Image 3" descr="preencoded.png">    </p:cNvPr>
          <p:cNvPicPr>
            <a:picLocks noChangeAspect="1"/>
          </p:cNvPicPr>
          <p:nvPr/>
        </p:nvPicPr>
        <p:blipFill>
          <a:blip r:embed="rId4"/>
          <a:stretch>
            <a:fillRect/>
          </a:stretch>
        </p:blipFill>
        <p:spPr>
          <a:xfrm>
            <a:off x="919886" y="3864254"/>
            <a:ext cx="309067" cy="309067"/>
          </a:xfrm>
          <a:prstGeom prst="rect">
            <a:avLst/>
          </a:prstGeom>
        </p:spPr>
      </p:pic>
      <p:sp>
        <p:nvSpPr>
          <p:cNvPr id="24" name="Text 18"/>
          <p:cNvSpPr txBox="1"/>
          <p:nvPr/>
        </p:nvSpPr>
        <p:spPr>
          <a:xfrm>
            <a:off x="1554480" y="3721608"/>
            <a:ext cx="2326538" cy="594360"/>
          </a:xfrm>
          <a:prstGeom prst="rect">
            <a:avLst/>
          </a:prstGeom>
          <a:noFill/>
          <a:ln/>
        </p:spPr>
        <p:txBody>
          <a:bodyPr wrap="square" lIns="0" tIns="0" rIns="0" bIns="0" rtlCol="0" anchor="ctr"/>
          <a:lstStyle/>
          <a:p>
            <a:pPr indent="0" marL="0">
              <a:buNone/>
            </a:pPr>
            <a:r>
              <a:rPr lang="en-US" sz="1600" b="1" dirty="0">
                <a:solidFill>
                  <a:srgbClr val="1A1333"/>
                </a:solidFill>
                <a:latin typeface="Calibri" pitchFamily="34" charset="0"/>
                <a:ea typeface="Calibri" pitchFamily="34" charset="-122"/>
                <a:cs typeface="Calibri" pitchFamily="34" charset="-120"/>
              </a:rPr>
              <a:t>Hill climbing</a:t>
            </a:r>
            <a:endParaRPr lang="en-US" sz="1600" dirty="0"/>
          </a:p>
        </p:txBody>
      </p:sp>
      <p:sp>
        <p:nvSpPr>
          <p:cNvPr id="25" name="Text 19"/>
          <p:cNvSpPr txBox="1"/>
          <p:nvPr/>
        </p:nvSpPr>
        <p:spPr>
          <a:xfrm>
            <a:off x="777240" y="4453128"/>
            <a:ext cx="3058058" cy="54864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Getting stuck on a local maximum</a:t>
            </a:r>
            <a:endParaRPr lang="en-US" sz="1500" dirty="0"/>
          </a:p>
        </p:txBody>
      </p:sp>
      <p:sp>
        <p:nvSpPr>
          <p:cNvPr id="26" name="Shape 20"/>
          <p:cNvSpPr/>
          <p:nvPr/>
        </p:nvSpPr>
        <p:spPr>
          <a:xfrm>
            <a:off x="4338218" y="3520440"/>
            <a:ext cx="3515258" cy="1645920"/>
          </a:xfrm>
          <a:prstGeom prst="roundRect">
            <a:avLst>
              <a:gd name="adj" fmla="val 5556"/>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566818" y="3721608"/>
            <a:ext cx="594360" cy="594360"/>
          </a:xfrm>
          <a:prstGeom prst="ellipse">
            <a:avLst/>
          </a:prstGeom>
          <a:solidFill>
            <a:srgbClr val="1A1333"/>
          </a:solidFill>
          <a:ln w="12700">
            <a:solidFill>
              <a:srgbClr val="1A1333"/>
            </a:solidFill>
            <a:prstDash val="solid"/>
          </a:ln>
        </p:spPr>
      </p:sp>
      <p:pic>
        <p:nvPicPr>
          <p:cNvPr id="28" name="Image 4" descr="preencoded.png">    </p:cNvPr>
          <p:cNvPicPr>
            <a:picLocks noChangeAspect="1"/>
          </p:cNvPicPr>
          <p:nvPr/>
        </p:nvPicPr>
        <p:blipFill>
          <a:blip r:embed="rId5"/>
          <a:stretch>
            <a:fillRect/>
          </a:stretch>
        </p:blipFill>
        <p:spPr>
          <a:xfrm>
            <a:off x="4709465" y="3864254"/>
            <a:ext cx="309067" cy="309067"/>
          </a:xfrm>
          <a:prstGeom prst="rect">
            <a:avLst/>
          </a:prstGeom>
        </p:spPr>
      </p:pic>
      <p:sp>
        <p:nvSpPr>
          <p:cNvPr id="29" name="Text 22"/>
          <p:cNvSpPr txBox="1"/>
          <p:nvPr/>
        </p:nvSpPr>
        <p:spPr>
          <a:xfrm>
            <a:off x="5344058" y="3721608"/>
            <a:ext cx="2326538" cy="594360"/>
          </a:xfrm>
          <a:prstGeom prst="rect">
            <a:avLst/>
          </a:prstGeom>
          <a:noFill/>
          <a:ln/>
        </p:spPr>
        <p:txBody>
          <a:bodyPr wrap="square" lIns="0" tIns="0" rIns="0" bIns="0" rtlCol="0" anchor="ctr"/>
          <a:lstStyle/>
          <a:p>
            <a:pPr indent="0" marL="0">
              <a:buNone/>
            </a:pPr>
            <a:r>
              <a:rPr lang="en-US" sz="1600" b="1" dirty="0">
                <a:solidFill>
                  <a:srgbClr val="1A1333"/>
                </a:solidFill>
                <a:latin typeface="Calibri" pitchFamily="34" charset="0"/>
                <a:ea typeface="Calibri" pitchFamily="34" charset="-122"/>
                <a:cs typeface="Calibri" pitchFamily="34" charset="-120"/>
              </a:rPr>
              <a:t>Random restarts</a:t>
            </a:r>
            <a:endParaRPr lang="en-US" sz="1600" dirty="0"/>
          </a:p>
        </p:txBody>
      </p:sp>
      <p:sp>
        <p:nvSpPr>
          <p:cNvPr id="30" name="Text 23"/>
          <p:cNvSpPr txBox="1"/>
          <p:nvPr/>
        </p:nvSpPr>
        <p:spPr>
          <a:xfrm>
            <a:off x="4566818" y="4453128"/>
            <a:ext cx="3058058" cy="54864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Escape and find the top</a:t>
            </a:r>
            <a:endParaRPr lang="en-US" sz="1500" dirty="0"/>
          </a:p>
        </p:txBody>
      </p:sp>
      <p:sp>
        <p:nvSpPr>
          <p:cNvPr id="31" name="Shape 24"/>
          <p:cNvSpPr/>
          <p:nvPr/>
        </p:nvSpPr>
        <p:spPr>
          <a:xfrm>
            <a:off x="8127797" y="3520440"/>
            <a:ext cx="3515258" cy="1645920"/>
          </a:xfrm>
          <a:prstGeom prst="roundRect">
            <a:avLst>
              <a:gd name="adj" fmla="val 5556"/>
            </a:avLst>
          </a:prstGeom>
          <a:solidFill>
            <a:srgbClr val="F3EEFA"/>
          </a:solidFill>
          <a:ln w="12700">
            <a:solidFill>
              <a:srgbClr val="F3EEFA"/>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356397" y="3721608"/>
            <a:ext cx="594360" cy="594360"/>
          </a:xfrm>
          <a:prstGeom prst="ellipse">
            <a:avLst/>
          </a:prstGeom>
          <a:solidFill>
            <a:srgbClr val="5B2A86"/>
          </a:solidFill>
          <a:ln w="12700">
            <a:solidFill>
              <a:srgbClr val="5B2A86"/>
            </a:solidFill>
            <a:prstDash val="solid"/>
          </a:ln>
        </p:spPr>
      </p:sp>
      <p:pic>
        <p:nvPicPr>
          <p:cNvPr id="33" name="Image 5" descr="preencoded.png">    </p:cNvPr>
          <p:cNvPicPr>
            <a:picLocks noChangeAspect="1"/>
          </p:cNvPicPr>
          <p:nvPr/>
        </p:nvPicPr>
        <p:blipFill>
          <a:blip r:embed="rId6"/>
          <a:stretch>
            <a:fillRect/>
          </a:stretch>
        </p:blipFill>
        <p:spPr>
          <a:xfrm>
            <a:off x="8499043" y="3864254"/>
            <a:ext cx="309067" cy="309067"/>
          </a:xfrm>
          <a:prstGeom prst="rect">
            <a:avLst/>
          </a:prstGeom>
        </p:spPr>
      </p:pic>
      <p:sp>
        <p:nvSpPr>
          <p:cNvPr id="34" name="Text 26"/>
          <p:cNvSpPr txBox="1"/>
          <p:nvPr/>
        </p:nvSpPr>
        <p:spPr>
          <a:xfrm>
            <a:off x="9133637" y="3721608"/>
            <a:ext cx="2326538" cy="594360"/>
          </a:xfrm>
          <a:prstGeom prst="rect">
            <a:avLst/>
          </a:prstGeom>
          <a:noFill/>
          <a:ln/>
        </p:spPr>
        <p:txBody>
          <a:bodyPr wrap="square" lIns="0" tIns="0" rIns="0" bIns="0" rtlCol="0" anchor="ctr"/>
          <a:lstStyle/>
          <a:p>
            <a:pPr indent="0" marL="0">
              <a:buNone/>
            </a:pPr>
            <a:r>
              <a:rPr lang="en-US" sz="1600" b="1" dirty="0">
                <a:solidFill>
                  <a:srgbClr val="1A1333"/>
                </a:solidFill>
                <a:latin typeface="Calibri" pitchFamily="34" charset="0"/>
                <a:ea typeface="Calibri" pitchFamily="34" charset="-122"/>
                <a:cs typeface="Calibri" pitchFamily="34" charset="-120"/>
              </a:rPr>
              <a:t>Minimax</a:t>
            </a:r>
            <a:endParaRPr lang="en-US" sz="1600" dirty="0"/>
          </a:p>
        </p:txBody>
      </p:sp>
      <p:sp>
        <p:nvSpPr>
          <p:cNvPr id="35" name="Text 27"/>
          <p:cNvSpPr txBox="1"/>
          <p:nvPr/>
        </p:nvSpPr>
        <p:spPr>
          <a:xfrm>
            <a:off x="8356397" y="4453128"/>
            <a:ext cx="3058058" cy="548640"/>
          </a:xfrm>
          <a:prstGeom prst="rect">
            <a:avLst/>
          </a:prstGeom>
          <a:noFill/>
          <a:ln/>
        </p:spPr>
        <p:txBody>
          <a:bodyPr wrap="square" lIns="0" tIns="0" rIns="0" bIns="0" rtlCol="0" anchor="t"/>
          <a:lstStyle/>
          <a:p>
            <a:pPr indent="0" marL="0">
              <a:buNone/>
            </a:pPr>
            <a:r>
              <a:rPr lang="en-US" sz="1500" dirty="0">
                <a:solidFill>
                  <a:srgbClr val="1F1A2E"/>
                </a:solidFill>
                <a:latin typeface="Calibri" pitchFamily="34" charset="0"/>
                <a:ea typeface="Calibri" pitchFamily="34" charset="-122"/>
                <a:cs typeface="Calibri" pitchFamily="34" charset="-120"/>
              </a:rPr>
              <a:t>Solve a tiny game tree</a:t>
            </a:r>
            <a:endParaRPr lang="en-US" sz="1500" dirty="0"/>
          </a:p>
        </p:txBody>
      </p:sp>
      <p:sp>
        <p:nvSpPr>
          <p:cNvPr id="36" name="Shape 28"/>
          <p:cNvSpPr/>
          <p:nvPr/>
        </p:nvSpPr>
        <p:spPr>
          <a:xfrm>
            <a:off x="548640" y="5349240"/>
            <a:ext cx="11094415" cy="731520"/>
          </a:xfrm>
          <a:prstGeom prst="roundRect">
            <a:avLst>
              <a:gd name="adj" fmla="val 12500"/>
            </a:avLst>
          </a:prstGeom>
          <a:solidFill>
            <a:srgbClr val="FFF4E3"/>
          </a:solidFill>
          <a:ln w="12700">
            <a:solidFill>
              <a:srgbClr val="FFF4E3"/>
            </a:solidFill>
            <a:prstDash val="solid"/>
          </a:ln>
          <a:effectLst>
            <a:outerShdw sx="100000" sy="100000" kx="0" ky="0" algn="bl" rotWithShape="0" blurRad="76200" dist="25400" dir="5400000">
              <a:srgbClr val="000000">
                <a:alpha val="12000"/>
              </a:srgbClr>
            </a:outerShdw>
          </a:effectLst>
        </p:spPr>
      </p:sp>
      <p:sp>
        <p:nvSpPr>
          <p:cNvPr id="37" name="Text 29"/>
          <p:cNvSpPr txBox="1"/>
          <p:nvPr/>
        </p:nvSpPr>
        <p:spPr>
          <a:xfrm>
            <a:off x="822960" y="5349240"/>
            <a:ext cx="10545775" cy="731520"/>
          </a:xfrm>
          <a:prstGeom prst="rect">
            <a:avLst/>
          </a:prstGeom>
          <a:noFill/>
          <a:ln/>
        </p:spPr>
        <p:txBody>
          <a:bodyPr wrap="square" lIns="0" tIns="0" rIns="0" bIns="0" rtlCol="0" anchor="ctr"/>
          <a:lstStyle/>
          <a:p>
            <a:pPr indent="0" marL="0">
              <a:buNone/>
            </a:pPr>
            <a:r>
              <a:rPr lang="en-US" sz="1500" b="1" dirty="0">
                <a:solidFill>
                  <a:srgbClr val="1F1A2E"/>
                </a:solidFill>
                <a:latin typeface="Calibri" pitchFamily="34" charset="0"/>
                <a:ea typeface="Calibri" pitchFamily="34" charset="-122"/>
                <a:cs typeface="Calibri" pitchFamily="34" charset="-120"/>
              </a:rPr>
              <a:t>In the notebook: </a:t>
            </a:r>
            <a:r>
              <a:rPr lang="en-US" sz="1500" dirty="0">
                <a:solidFill>
                  <a:srgbClr val="1F1A2E"/>
                </a:solidFill>
                <a:latin typeface="Calibri" pitchFamily="34" charset="0"/>
                <a:ea typeface="Calibri" pitchFamily="34" charset="-122"/>
                <a:cs typeface="Calibri" pitchFamily="34" charset="-120"/>
              </a:rPr>
              <a:t>each part starts with a 📊 picture that explains the idea, then the 💻 code, then 📝 lab tasks at the end.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Summary</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1417320"/>
            <a:ext cx="11094415" cy="4754880"/>
          </a:xfrm>
          <a:prstGeom prst="rect">
            <a:avLst/>
          </a:prstGeom>
          <a:noFill/>
          <a:ln/>
        </p:spPr>
        <p:txBody>
          <a:bodyPr wrap="square" lIns="0" tIns="0" rIns="0" bIns="0" rtlCol="0" anchor="t"/>
          <a:lstStyle/>
          <a:p>
            <a:pPr marL="342900" indent="-342900">
              <a:spcAft>
                <a:spcPts val="1200"/>
              </a:spcAft>
              <a:buSzPct val="100000"/>
              <a:buChar char="•"/>
            </a:pPr>
            <a:r>
              <a:rPr lang="en-US" sz="1900" b="1" dirty="0">
                <a:solidFill>
                  <a:srgbClr val="1F1A2E"/>
                </a:solidFill>
                <a:latin typeface="Calibri" pitchFamily="34" charset="0"/>
                <a:ea typeface="Calibri" pitchFamily="34" charset="-122"/>
                <a:cs typeface="Calibri" pitchFamily="34" charset="-120"/>
              </a:rPr>
              <a:t>Heuristic h(n): </a:t>
            </a:r>
            <a:r>
              <a:rPr lang="en-US" sz="1900" dirty="0">
                <a:solidFill>
                  <a:srgbClr val="1F1A2E"/>
                </a:solidFill>
                <a:latin typeface="Calibri" pitchFamily="34" charset="0"/>
                <a:ea typeface="Calibri" pitchFamily="34" charset="-122"/>
                <a:cs typeface="Calibri" pitchFamily="34" charset="-120"/>
              </a:rPr>
              <a:t>an estimate of the cost from n to the goal (straight-line distance, Manhattan distance).</a:t>
            </a:r>
            <a:endParaRPr lang="en-US" sz="1900" dirty="0"/>
          </a:p>
          <a:p>
            <a:pPr marL="342900" indent="-342900">
              <a:spcAft>
                <a:spcPts val="1200"/>
              </a:spcAft>
              <a:buSzPct val="100000"/>
              <a:buChar char="•"/>
            </a:pPr>
            <a:r>
              <a:rPr lang="en-US" sz="1900" b="1" dirty="0">
                <a:solidFill>
                  <a:srgbClr val="1F1A2E"/>
                </a:solidFill>
                <a:latin typeface="Calibri" pitchFamily="34" charset="0"/>
                <a:ea typeface="Calibri" pitchFamily="34" charset="-122"/>
                <a:cs typeface="Calibri" pitchFamily="34" charset="-120"/>
              </a:rPr>
              <a:t>Greedy: </a:t>
            </a:r>
            <a:r>
              <a:rPr lang="en-US" sz="1900" dirty="0">
                <a:solidFill>
                  <a:srgbClr val="1F1A2E"/>
                </a:solidFill>
                <a:latin typeface="Calibri" pitchFamily="34" charset="0"/>
                <a:ea typeface="Calibri" pitchFamily="34" charset="-122"/>
                <a:cs typeface="Calibri" pitchFamily="34" charset="-120"/>
              </a:rPr>
              <a:t>f = h. Fast, but not optimal and not complete.</a:t>
            </a:r>
            <a:endParaRPr lang="en-US" sz="1900" dirty="0"/>
          </a:p>
          <a:p>
            <a:pPr marL="342900" indent="-342900">
              <a:spcAft>
                <a:spcPts val="1200"/>
              </a:spcAft>
              <a:buSzPct val="100000"/>
              <a:buChar char="•"/>
            </a:pPr>
            <a:r>
              <a:rPr lang="en-US" sz="1900" b="1" dirty="0">
                <a:solidFill>
                  <a:srgbClr val="1F1A2E"/>
                </a:solidFill>
                <a:latin typeface="Calibri" pitchFamily="34" charset="0"/>
                <a:ea typeface="Calibri" pitchFamily="34" charset="-122"/>
                <a:cs typeface="Calibri" pitchFamily="34" charset="-120"/>
              </a:rPr>
              <a:t>A*: </a:t>
            </a:r>
            <a:r>
              <a:rPr lang="en-US" sz="1900" dirty="0">
                <a:solidFill>
                  <a:srgbClr val="1F1A2E"/>
                </a:solidFill>
                <a:latin typeface="Calibri" pitchFamily="34" charset="0"/>
                <a:ea typeface="Calibri" pitchFamily="34" charset="-122"/>
                <a:cs typeface="Calibri" pitchFamily="34" charset="-120"/>
              </a:rPr>
              <a:t>f = g + h. Complete and optimal when h is admissible (never overestimates).</a:t>
            </a:r>
            <a:endParaRPr lang="en-US" sz="1900" dirty="0"/>
          </a:p>
          <a:p>
            <a:pPr marL="342900" indent="-342900">
              <a:spcAft>
                <a:spcPts val="1200"/>
              </a:spcAft>
              <a:buSzPct val="100000"/>
              <a:buChar char="•"/>
            </a:pPr>
            <a:r>
              <a:rPr lang="en-US" sz="1900" b="1" dirty="0">
                <a:solidFill>
                  <a:srgbClr val="1F1A2E"/>
                </a:solidFill>
                <a:latin typeface="Calibri" pitchFamily="34" charset="0"/>
                <a:ea typeface="Calibri" pitchFamily="34" charset="-122"/>
                <a:cs typeface="Calibri" pitchFamily="34" charset="-120"/>
              </a:rPr>
              <a:t>Better heuristics </a:t>
            </a:r>
            <a:r>
              <a:rPr lang="en-US" sz="1900" dirty="0">
                <a:solidFill>
                  <a:srgbClr val="1F1A2E"/>
                </a:solidFill>
                <a:latin typeface="Calibri" pitchFamily="34" charset="0"/>
                <a:ea typeface="Calibri" pitchFamily="34" charset="-122"/>
                <a:cs typeface="Calibri" pitchFamily="34" charset="-120"/>
              </a:rPr>
              <a:t>(closer to the true cost) make A* expand far fewer nodes.</a:t>
            </a:r>
            <a:endParaRPr lang="en-US" sz="1900" dirty="0"/>
          </a:p>
          <a:p>
            <a:pPr marL="342900" indent="-342900">
              <a:spcAft>
                <a:spcPts val="1200"/>
              </a:spcAft>
              <a:buSzPct val="100000"/>
              <a:buChar char="•"/>
            </a:pPr>
            <a:r>
              <a:rPr lang="en-US" sz="1900" b="1" dirty="0">
                <a:solidFill>
                  <a:srgbClr val="1F1A2E"/>
                </a:solidFill>
                <a:latin typeface="Calibri" pitchFamily="34" charset="0"/>
                <a:ea typeface="Calibri" pitchFamily="34" charset="-122"/>
                <a:cs typeface="Calibri" pitchFamily="34" charset="-120"/>
              </a:rPr>
              <a:t>Hill climbing: </a:t>
            </a:r>
            <a:r>
              <a:rPr lang="en-US" sz="1900" dirty="0">
                <a:solidFill>
                  <a:srgbClr val="1F1A2E"/>
                </a:solidFill>
                <a:latin typeface="Calibri" pitchFamily="34" charset="0"/>
                <a:ea typeface="Calibri" pitchFamily="34" charset="-122"/>
                <a:cs typeface="Calibri" pitchFamily="34" charset="-120"/>
              </a:rPr>
              <a:t>always step uphill; can get stuck on local maxima, plateaus and ridges.</a:t>
            </a:r>
            <a:endParaRPr lang="en-US" sz="1900" dirty="0"/>
          </a:p>
          <a:p>
            <a:pPr marL="342900" indent="-342900">
              <a:spcAft>
                <a:spcPts val="1200"/>
              </a:spcAft>
              <a:buSzPct val="100000"/>
              <a:buChar char="•"/>
            </a:pPr>
            <a:r>
              <a:rPr lang="en-US" sz="1900" b="1" dirty="0">
                <a:solidFill>
                  <a:srgbClr val="1F1A2E"/>
                </a:solidFill>
                <a:latin typeface="Calibri" pitchFamily="34" charset="0"/>
                <a:ea typeface="Calibri" pitchFamily="34" charset="-122"/>
                <a:cs typeface="Calibri" pitchFamily="34" charset="-120"/>
              </a:rPr>
              <a:t>Minimax: </a:t>
            </a:r>
            <a:r>
              <a:rPr lang="en-US" sz="1900" dirty="0">
                <a:solidFill>
                  <a:srgbClr val="1F1A2E"/>
                </a:solidFill>
                <a:latin typeface="Calibri" pitchFamily="34" charset="0"/>
                <a:ea typeface="Calibri" pitchFamily="34" charset="-122"/>
                <a:cs typeface="Calibri" pitchFamily="34" charset="-120"/>
              </a:rPr>
              <a:t>MAX takes the largest, MIN the smallest value, from the leaves up.</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rgbClr val="1A1333"/>
                </a:solidFill>
                <a:latin typeface="Cambria" pitchFamily="34" charset="0"/>
                <a:ea typeface="Cambria" pitchFamily="34" charset="-122"/>
                <a:cs typeface="Cambria" pitchFamily="34" charset="-120"/>
              </a:rPr>
              <a:t>Review Questions</a:t>
            </a:r>
            <a:endParaRPr lang="en-US" sz="3200" dirty="0"/>
          </a:p>
        </p:txBody>
      </p:sp>
      <p:sp>
        <p:nvSpPr>
          <p:cNvPr id="3" name="Text 1"/>
          <p:cNvSpPr txBox="1"/>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rgbClr val="6B6780"/>
                </a:solidFill>
                <a:latin typeface="Calibri" pitchFamily="34" charset="0"/>
                <a:ea typeface="Calibri" pitchFamily="34" charset="-122"/>
                <a:cs typeface="Calibri" pitchFamily="34" charset="-120"/>
              </a:rPr>
              <a:t>CS4305 Artificial Intelligence  |  Lecture 7</a:t>
            </a:r>
            <a:endParaRPr lang="en-US" sz="1000" dirty="0"/>
          </a:p>
        </p:txBody>
      </p:sp>
      <p:sp>
        <p:nvSpPr>
          <p:cNvPr id="4" name="Text 2"/>
          <p:cNvSpPr txBox="1"/>
          <p:nvPr/>
        </p:nvSpPr>
        <p:spPr>
          <a:xfrm>
            <a:off x="11094415" y="6419088"/>
            <a:ext cx="548640" cy="274320"/>
          </a:xfrm>
          <a:prstGeom prst="rect">
            <a:avLst/>
          </a:prstGeom>
          <a:noFill/>
          <a:ln/>
        </p:spPr>
        <p:txBody>
          <a:bodyPr wrap="square" lIns="0" tIns="0" rIns="0" bIns="0" rtlCol="0" anchor="t"/>
          <a:lstStyle/>
          <a:p>
            <a:pPr algn="r" indent="0" marL="0">
              <a:buNone/>
            </a:pPr>
            <a:r>
              <a:rPr lang="en-US" sz="1000" dirty="0">
                <a:solidFill>
                  <a:srgbClr val="6B67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1417320"/>
            <a:ext cx="11094415" cy="475488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What is a heuristic? Give two examples of heuristic functions.</a:t>
            </a:r>
            <a:endParaRPr lang="en-US" sz="1800" dirty="0"/>
          </a:p>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Compute h1 and h2 for an 8-puzzle state given by your teacher.</a:t>
            </a:r>
            <a:endParaRPr lang="en-US" sz="1800" dirty="0"/>
          </a:p>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Differentiate between Greedy Best-First Search and A* with an example.</a:t>
            </a:r>
            <a:endParaRPr lang="en-US" sz="1800" dirty="0"/>
          </a:p>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Trace A* on a small graph and show g, h and f at each step.</a:t>
            </a:r>
            <a:endParaRPr lang="en-US" sz="1800" dirty="0"/>
          </a:p>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What is an admissible heuristic? Why does it make A* optimal?</a:t>
            </a:r>
            <a:endParaRPr lang="en-US" sz="1800" dirty="0"/>
          </a:p>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Explain local maximum, plateau and ridge. How does random restart help?</a:t>
            </a:r>
            <a:endParaRPr lang="en-US" sz="1800" dirty="0"/>
          </a:p>
          <a:p>
            <a:pPr marL="342900" indent="-342900">
              <a:spcAft>
                <a:spcPts val="1200"/>
              </a:spcAft>
              <a:buSzPct val="100000"/>
              <a:buFont typeface="+mj-lt"/>
              <a:buAutoNum type="arabicPeriod" startAt="1"/>
            </a:pPr>
            <a:r>
              <a:rPr lang="en-US" sz="1800" dirty="0">
                <a:solidFill>
                  <a:srgbClr val="1F1A2E"/>
                </a:solidFill>
                <a:latin typeface="Calibri" pitchFamily="34" charset="0"/>
                <a:ea typeface="Calibri" pitchFamily="34" charset="-122"/>
                <a:cs typeface="Calibri" pitchFamily="34" charset="-120"/>
              </a:rPr>
              <a:t>Apply minimax to a two-level game tree with leaves 4, 8, 1, 6.</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333"/>
        </a:solidFill>
      </p:bgPr>
    </p:bg>
    <p:spTree>
      <p:nvGrpSpPr>
        <p:cNvPr id="1" name=""/>
        <p:cNvGrpSpPr/>
        <p:nvPr/>
      </p:nvGrpSpPr>
      <p:grpSpPr>
        <a:xfrm>
          <a:off x="0" y="0"/>
          <a:ext cx="0" cy="0"/>
          <a:chOff x="0" y="0"/>
          <a:chExt cx="0" cy="0"/>
        </a:xfrm>
      </p:grpSpPr>
      <p:sp>
        <p:nvSpPr>
          <p:cNvPr id="2" name="Shape 0"/>
          <p:cNvSpPr/>
          <p:nvPr/>
        </p:nvSpPr>
        <p:spPr>
          <a:xfrm>
            <a:off x="8503920" y="1463040"/>
            <a:ext cx="3108960" cy="3108960"/>
          </a:xfrm>
          <a:prstGeom prst="ellipse">
            <a:avLst/>
          </a:prstGeom>
          <a:solidFill>
            <a:srgbClr val="5B2A86"/>
          </a:solidFill>
          <a:ln w="12700">
            <a:solidFill>
              <a:srgbClr val="5B2A86"/>
            </a:solidFill>
            <a:prstDash val="solid"/>
          </a:ln>
        </p:spPr>
      </p:sp>
      <p:pic>
        <p:nvPicPr>
          <p:cNvPr id="3" name="Image 0" descr="preencoded.png">    </p:cNvPr>
          <p:cNvPicPr>
            <a:picLocks noChangeAspect="1"/>
          </p:cNvPicPr>
          <p:nvPr/>
        </p:nvPicPr>
        <p:blipFill>
          <a:blip r:embed="rId1"/>
          <a:stretch>
            <a:fillRect/>
          </a:stretch>
        </p:blipFill>
        <p:spPr>
          <a:xfrm>
            <a:off x="9281160" y="2240280"/>
            <a:ext cx="1554480" cy="1554480"/>
          </a:xfrm>
          <a:prstGeom prst="rect">
            <a:avLst/>
          </a:prstGeom>
        </p:spPr>
      </p:pic>
      <p:sp>
        <p:nvSpPr>
          <p:cNvPr id="4" name="Text 1"/>
          <p:cNvSpPr txBox="1"/>
          <p:nvPr/>
        </p:nvSpPr>
        <p:spPr>
          <a:xfrm>
            <a:off x="548640" y="1371600"/>
            <a:ext cx="7589520" cy="457200"/>
          </a:xfrm>
          <a:prstGeom prst="rect">
            <a:avLst/>
          </a:prstGeom>
          <a:noFill/>
          <a:ln/>
        </p:spPr>
        <p:txBody>
          <a:bodyPr wrap="square" lIns="0" tIns="0" rIns="0" bIns="0" rtlCol="0" anchor="t"/>
          <a:lstStyle/>
          <a:p>
            <a:pPr indent="0" marL="0">
              <a:buNone/>
            </a:pPr>
            <a:r>
              <a:rPr lang="en-US" sz="1800" b="1" spc="200" kern="0" dirty="0">
                <a:solidFill>
                  <a:srgbClr val="FF9F1C"/>
                </a:solidFill>
                <a:latin typeface="Calibri" pitchFamily="34" charset="0"/>
                <a:ea typeface="Calibri" pitchFamily="34" charset="-122"/>
                <a:cs typeface="Calibri" pitchFamily="34" charset="-120"/>
              </a:rPr>
              <a:t>NEXT LECTURE</a:t>
            </a:r>
            <a:endParaRPr lang="en-US" sz="1800" dirty="0"/>
          </a:p>
        </p:txBody>
      </p:sp>
      <p:sp>
        <p:nvSpPr>
          <p:cNvPr id="5" name="Text 2"/>
          <p:cNvSpPr txBox="1"/>
          <p:nvPr/>
        </p:nvSpPr>
        <p:spPr>
          <a:xfrm>
            <a:off x="548640" y="1920240"/>
            <a:ext cx="7680960" cy="21945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Knowledge Representation I: Logic</a:t>
            </a:r>
            <a:endParaRPr lang="en-US" sz="4400" dirty="0"/>
          </a:p>
        </p:txBody>
      </p:sp>
      <p:sp>
        <p:nvSpPr>
          <p:cNvPr id="6" name="Text 3"/>
          <p:cNvSpPr txBox="1"/>
          <p:nvPr/>
        </p:nvSpPr>
        <p:spPr>
          <a:xfrm>
            <a:off x="548640" y="4297680"/>
            <a:ext cx="7589520" cy="1280160"/>
          </a:xfrm>
          <a:prstGeom prst="rect">
            <a:avLst/>
          </a:prstGeom>
          <a:noFill/>
          <a:ln/>
        </p:spPr>
        <p:txBody>
          <a:bodyPr wrap="square" lIns="0" tIns="0" rIns="0" bIns="0" rtlCol="0" anchor="t"/>
          <a:lstStyle/>
          <a:p>
            <a:pPr indent="0" marL="0">
              <a:buNone/>
            </a:pPr>
            <a:r>
              <a:rPr lang="en-US" sz="1800" dirty="0">
                <a:solidFill>
                  <a:srgbClr val="CFC6E0"/>
                </a:solidFill>
                <a:latin typeface="Calibri" pitchFamily="34" charset="0"/>
                <a:ea typeface="Calibri" pitchFamily="34" charset="-122"/>
                <a:cs typeface="Calibri" pitchFamily="34" charset="-120"/>
              </a:rPr>
              <a:t>Propositional logic · Predicate logic · Inference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CS4305 Lecture 7 - Heuristic Search</dc:title>
  <dc:subject>PptxGenJS Presentation</dc:subject>
  <dc:creator>CS4305 Artificial Intelligence</dc:creator>
  <cp:lastModifiedBy>CS4305 Artificial Intelligence</cp:lastModifiedBy>
  <cp:revision>1</cp:revision>
  <dcterms:created xsi:type="dcterms:W3CDTF">2026-09-11T14:13:59Z</dcterms:created>
  <dcterms:modified xsi:type="dcterms:W3CDTF">2026-09-11T14:13:59Z</dcterms:modified>
</cp:coreProperties>
</file>