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 ·  LECTURE 8  ·  KNOWLEDGE REPRESENTATION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Representation I: Logic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knowledge so exactly that a computer can reason with it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and Today's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lecture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blind and heuristic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A*, hill climbing, minimax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needs knowledge to be smart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3258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will learn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37760" y="1874520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828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knowledge representation 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37760" y="2660904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2660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61518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Propositional logic and truth tables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37760" y="3447288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40156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things: inference rules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4233672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418795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logic: ∀ and ∃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37760" y="5020056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5020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97433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English to logic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Knowledge Representation (KR)?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37160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252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Representation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storing facts about the world in a form a computer can use to reason and answer questions.</a:t>
            </a:r>
            <a:endParaRPr lang="en-US" sz="1600" dirty="0"/>
          </a:p>
        </p:txBody>
      </p:sp>
      <p:pic>
        <p:nvPicPr>
          <p:cNvPr id="9" name="Image 1" descr="img/fig_kr_ide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799" y="2377440"/>
            <a:ext cx="8556098" cy="23774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7240" y="521208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536569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4983480"/>
            <a:ext cx="9768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recipe book. The same knowledge can be written as text, a table or a picture — but the cook needs it in a form they can follow. KR is choosing that form for the computer.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KR Methods in This Course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7864" cy="292608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727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15414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(today)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04288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true/false sentences.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bird(tweety)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90824" y="1371600"/>
            <a:ext cx="2567864" cy="292608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9424" y="15727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715414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96664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(Lecture 9)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619424" y="2304288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 knowledge.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bird THEN can fly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233008" y="1371600"/>
            <a:ext cx="2567864" cy="292608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1608" y="15727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715414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38848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networks (Lecture 10)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61608" y="2304288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of concepts.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tweety → is-a → bird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9075191" y="1371600"/>
            <a:ext cx="2567864" cy="2926080"/>
          </a:xfrm>
          <a:prstGeom prst="roundRect">
            <a:avLst>
              <a:gd name="adj" fmla="val 356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03791" y="157276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715414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081031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&amp; scripts (Lecture 10)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303791" y="2304288"/>
            <a:ext cx="2110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with slots; stories of usual events.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548640" y="457200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0"/>
          <p:cNvSpPr txBox="1"/>
          <p:nvPr/>
        </p:nvSpPr>
        <p:spPr>
          <a:xfrm>
            <a:off x="822960" y="4663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representation is: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822960" y="51206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(no mistakes)  ·  complete enough for the job  ·  easy for people to read and change  ·  efficient for the computer to reason with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Propositional Logic: Propositions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37160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252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statement that is either TRUE or FALSE. We give it a short name like P or Rain.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920240"/>
                <a:gridCol w="460217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Proposition?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"Islamabad is the capital of Pakistan."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true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"2 + 2 = 5"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false (but still true-or-false)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"Close the door."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command is not true or false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 are you?"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question is not true or false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"x &gt; 10"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x (predicate logic handles this)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Connectives: Joining Propositions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2560320"/>
                <a:gridCol w="560801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(R = it rains, C = it is cold)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¬R : it is not raining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∧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and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∧ C : it is raining and cold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∨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or Q (or both)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∨ C : it is raining or cold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→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P then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→ C : if it rains then it is cold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↔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if and only if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↔ C : rain exactly when cold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img/fig_ve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363" y="4526280"/>
            <a:ext cx="8424969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Tables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980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005840"/>
                <a:gridCol w="1188720"/>
                <a:gridCol w="1188720"/>
                <a:gridCol w="1143000"/>
                <a:gridCol w="11430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¬P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∧ Q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∨ Q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→ Q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↔ Q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1371600"/>
            <a:ext cx="3322015" cy="1828800"/>
          </a:xfrm>
          <a:prstGeom prst="roundRect">
            <a:avLst>
              <a:gd name="adj" fmla="val 5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49640" y="196596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3259" y="211957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418320" y="1371600"/>
            <a:ext cx="19961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truth table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every possible combination. n propositions → 2ⁿ rows (2 → 4 rows, 3 → 8 rows).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321040" y="3429000"/>
            <a:ext cx="3322015" cy="1645920"/>
          </a:xfrm>
          <a:prstGeom prst="roundRect">
            <a:avLst>
              <a:gd name="adj" fmla="val 5556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549640" y="393192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259" y="408553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418320" y="3429000"/>
            <a:ext cx="1996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true only when both are true. </a:t>
            </a: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false only when both are false.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Tricky One: IF-THEN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PROMISE:  "IF you get 90% (P), THEN you get a prize (Q)"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4206240"/>
                <a:gridCol w="1767535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got 90%? (P)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 a prize? (Q)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the promise kept?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→ Q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✓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✗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✓ (a bonus is allowed)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✓ (no promise was made)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920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5074920"/>
            <a:ext cx="640080" cy="64008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522853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4892040"/>
            <a:ext cx="9768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→ Q is FALSE in only one case — when P is true and Q is false.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Tautology, Contradiction and Equivalence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727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15414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5727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Tautology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04288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TRUE, in every row.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∨ ¬P  ("it rains or it does not")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38218" y="137160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66818" y="157276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715414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4058" y="15727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66818" y="2304288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FALSE, in every row.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∧ ¬P  ("it rains and it does not")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127797" y="137160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56397" y="15727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715414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33637" y="15727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356397" y="2304288"/>
            <a:ext cx="30580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truth table.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write ≡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619695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Useful equivalence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words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¬(P ∧ Q) ≡ ¬P ∨ ¬Q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Morgan: "not both" = "at least one is not"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¬(P ∨ Q) ≡ ¬P ∧ ¬Q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Morgan: "neither" = "not this and not that"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→ Q ≡ ¬P ∨ 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IF-THEN written with OR (used in resolution)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→ Q ≡ ¬Q → ¬P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contrapositive: if not Q then not 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English to Propositional Logic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 E = exam tomorrow,  S = I study tonight,  P = I pass,  F = I feel tired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7589520"/>
                <a:gridCol w="350489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there is an exam tomorrow, I study tonight.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→ 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pass only if I study.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→ 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study and I feel tired.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∧ 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don't study, or I pass.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¬S ∨ 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pass if and only if I study.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↔ 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not true that I am tired and I pass.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¬(F ∧ P)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activity: translate "If it is Friday and there is no rain, we play cricket."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Inference: Drawing New Conclusions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5" name="Image 0" descr="img/fig_mod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62347"/>
            <a:ext cx="11094415" cy="3036026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49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 know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 conclude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Modus Ponens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→ Q  and  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Modus Tollens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→ Q  and  ¬Q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And-elimination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∧ Q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 (and also Q)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Knowledge Base Prove It? (Entailment)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37160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252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⊨ α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("KB entails α") means: in EVERY situation where the knowledge base is true, α is also true.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7680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347472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KB: (Rain → Wet) ∧ Rain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Goal: Wet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 ← KB true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 ✓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503920" y="2423160"/>
            <a:ext cx="3139135" cy="2743200"/>
          </a:xfrm>
          <a:prstGeom prst="roundRect">
            <a:avLst>
              <a:gd name="adj" fmla="val 3333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732520" y="347472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6139" y="362833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601200" y="2423160"/>
            <a:ext cx="18132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KB is true in only one row, and there Wet is true. So </a:t>
            </a: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⊨ Wet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check is called </a:t>
            </a: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checking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Resolution: Proof by Contradiction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5" name="Image 0" descr="img/fig_re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3393"/>
            <a:ext cx="6949440" cy="24624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0" y="1371600"/>
            <a:ext cx="38706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everything as clauses (ORs): Rain → Wet becomes ¬Rain ∨ Wet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OPPOSITE of the goal: ¬Wet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pairs like X and ¬X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empty clause □ → contradiction → the goal is proved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uses a form of resolution to answer queries.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Propositional Logic is Not Enough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70809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80160"/>
            <a:ext cx="9768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say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student in this class studies"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would need one proposition per student: AliStudies, SaraStudies, UsmanStudies ... and we still could not say "every".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3515258" cy="2194560"/>
          </a:xfrm>
          <a:prstGeom prst="roundRect">
            <a:avLst>
              <a:gd name="adj" fmla="val 416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9443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3087014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944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67588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ali, sara, lahore, ai_course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338218" y="2743200"/>
            <a:ext cx="3515258" cy="2194560"/>
          </a:xfrm>
          <a:prstGeom prst="roundRect">
            <a:avLst>
              <a:gd name="adj" fmla="val 416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66818" y="29443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3087014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44058" y="2944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566818" y="367588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and relations: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Student(ali), Teaches(bilal, ali)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127797" y="2743200"/>
            <a:ext cx="3515258" cy="2194560"/>
          </a:xfrm>
          <a:prstGeom prst="roundRect">
            <a:avLst>
              <a:gd name="adj" fmla="val 416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56397" y="29443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3087014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33637" y="2944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Quantifiers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356397" y="367588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 for all, ∃ there exists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(first-order) logic adds these three things.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Predicate Logic: Quantifiers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5" name="Image 0" descr="img/fig_quantif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308" y="1188720"/>
            <a:ext cx="9583079" cy="329184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017520"/>
                <a:gridCol w="2468880"/>
                <a:gridCol w="44192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joined with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∀x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all x / every 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 (IF-THEN)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∀x Student(x) → Studies(x)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∃x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there exists an x / some 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∧  (AND)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∃x Student(x) ∧ Topper(x)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English to Predicate Logic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0801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Predicate logic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 is a student.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Student(ali)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Bilal teaches Ali.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Teaches(bilal, ali)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students study.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∀x Student(x) → Studies(x)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students are toppers.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∃x Student(x) ∧ Topper(x)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student is lazy.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∀x Student(x) → ¬Lazy(x)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student has a teacher.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∀x Student(x) → ∃y Teaches(y, x)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5486400"/>
            <a:ext cx="502920" cy="50292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5607101"/>
            <a:ext cx="261518" cy="26151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534924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∀x Student(x) ∧ Studies(x) means "EVERYTHING is a student and studies" — wrong! Use → with ∀.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in Predicate Logic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94415" cy="2286000"/>
          </a:xfrm>
          <a:prstGeom prst="roundRect">
            <a:avLst>
              <a:gd name="adj" fmla="val 4000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famous example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92808"/>
            <a:ext cx="10545775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∀x Man(x) → Mortal(x)     (all men are mortal)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Man(socrates)              (Socrates is a man)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Man(socrates) → Mortal(socrates)   put x = socrates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Mortal(socrates)           Modus Ponens on 3 and 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5410048" cy="2194560"/>
          </a:xfrm>
          <a:prstGeom prst="roundRect">
            <a:avLst>
              <a:gd name="adj" fmla="val 416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40873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4230014"/>
            <a:ext cx="309067" cy="30906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54480" y="408736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instantiation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818888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"for all x", we may use any specific object in place of x.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33008" y="3886200"/>
            <a:ext cx="5410048" cy="2194560"/>
          </a:xfrm>
          <a:prstGeom prst="roundRect">
            <a:avLst>
              <a:gd name="adj" fmla="val 416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61608" y="40873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54" y="4230014"/>
            <a:ext cx="309067" cy="30906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238848" y="408736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connection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461608" y="4818888"/>
            <a:ext cx="495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mortal(X) :- man(X).  is exactly  ∀x Man(x) → Mortal(x)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Colab Lab 8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CS4305_Lab08_Logic.ipynb in Google Colab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013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44014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Truth-table generator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sentence, automatically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8218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6818" y="18013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44014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4058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 as a promise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when P → Q is false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27797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6397" y="18013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44014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33637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Tautologies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De Morgan's laws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372160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3864254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checking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KB prove the goal?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338218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66818" y="3721608"/>
            <a:ext cx="594360" cy="59436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3864254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44058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sympy logic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66818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CNF and proof by contradiction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127797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56397" y="37216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3864254"/>
            <a:ext cx="309067" cy="30906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33637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 and ∃ in Python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56397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all() and any() on students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822960" y="5349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notebook: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starts with a 📊 picture that explains the idea, then the 💻 code, then 📝 lab tasks at the end.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storing knowledge so a computer can reason; logic is the most exact method.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true/false; connectives: ¬, ∧, ∨, →, ↔.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tables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2ⁿ cases; P → Q is false only when P is true and Q is false.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Modus Ponens, Modus Tollens; resolution proves by contradiction.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⊨ α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α is true in every situation where the KB is true.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logic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objects, predicates and quantifiers: ∀ with →, ∃ with ∧.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knowledge representation? Name four KR methods.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are propositions: "Lahore is in Punjab", "Sit down", "5 &gt; 3"?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truth table of (P ∨ Q) → ¬P.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 → Q using the promise example. When is it false?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Modus Tollens: "If the battery is dead, the car won't start. The car started."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Translate: "Every teacher is a person" and "Some students play cricket".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propositional logic not enough for "all students study"?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Representation II: Rules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 rules · production systems · forward and backward chaining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CS4305 Lecture 8 - Knowledge Representation I: Logic</dc:title>
  <dc:subject>PptxGenJS Presentation</dc:subject>
  <dc:creator>CS4305 Artificial Intelligence</dc:creator>
  <cp:lastModifiedBy>CS4305 Artificial Intelligence</cp:lastModifiedBy>
  <cp:revision>1</cp:revision>
  <dcterms:created xsi:type="dcterms:W3CDTF">2026-09-12T06:37:38Z</dcterms:created>
  <dcterms:modified xsi:type="dcterms:W3CDTF">2026-09-12T06:37:38Z</dcterms:modified>
</cp:coreProperties>
</file>