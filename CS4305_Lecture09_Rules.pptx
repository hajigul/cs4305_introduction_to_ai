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LECTURE 9  ·  KNOWLEDGE REPRESENTATION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Representation II: Rules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knowledge and the engines that use it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Propositional and predicate logic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 and entailment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 Ponens and resolution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 learn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rule 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660904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1518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4472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4233672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87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5020056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743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Rules: The Most Natural Way to Write Knowledge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252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two parts:  IF  &lt;condition&gt;  THEN  &lt;conclusion or action&gt;. People already think in rules!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2567864" cy="2286000"/>
          </a:xfrm>
          <a:prstGeom prst="roundRect">
            <a:avLst>
              <a:gd name="adj" fmla="val 4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62432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76697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62432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35584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light is red THEN stop.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390824" y="2423160"/>
            <a:ext cx="2567864" cy="2286000"/>
          </a:xfrm>
          <a:prstGeom prst="roundRect">
            <a:avLst>
              <a:gd name="adj" fmla="val 4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19424" y="262432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70" y="276697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96664" y="262432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619424" y="335584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CGPA &lt; 2.0 THEN the student is on probation.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33008" y="2423160"/>
            <a:ext cx="2567864" cy="2286000"/>
          </a:xfrm>
          <a:prstGeom prst="roundRect">
            <a:avLst>
              <a:gd name="adj" fmla="val 4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1608" y="262432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276697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262432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61608" y="335584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fever AND rash AND joint pain THEN suspect dengue.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075191" y="2423160"/>
            <a:ext cx="2567864" cy="2286000"/>
          </a:xfrm>
          <a:prstGeom prst="roundRect">
            <a:avLst>
              <a:gd name="adj" fmla="val 4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03791" y="262432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438" y="2766974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081031" y="262432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303791" y="335584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temperature &gt; 35 °C THEN switch on the AC.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486400"/>
                <a:gridCol w="37792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names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condition, premise, antecedent, left-hand side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light is 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conclusion, action, consequent, right-hand side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Rules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6623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508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rules (deduction)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THEN part adds a new FACT.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2880360"/>
            <a:ext cx="4846320" cy="1188720"/>
          </a:xfrm>
          <a:prstGeom prst="roundRect">
            <a:avLst>
              <a:gd name="adj" fmla="val 7692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097280" y="30632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animal has feathers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animal is a bird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expert systems to reason.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45352" y="132588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150876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166237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42632" y="1508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rules (reaction)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THEN part DOES something.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519672" y="2880360"/>
            <a:ext cx="4846320" cy="1188720"/>
          </a:xfrm>
          <a:prstGeom prst="roundRect">
            <a:avLst>
              <a:gd name="adj" fmla="val 7692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793992" y="30632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room is dirty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suck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6519672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agents (the vacuum robot in Lecture 1).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logic: the rule  IF P THEN Q  is the logic sentence  P → Q, used with Modus Ponens.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 (Rule-Based)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img/fig_production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655" y="1188720"/>
            <a:ext cx="10420385" cy="35661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60217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Like...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all IF-THEN rules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doctor's medical knowledge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facts about THIS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patient's symptoms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engine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 which rule to use next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doctor's thinking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Engine's Cycle: Match, Resolve, 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464994" cy="1463040"/>
          </a:xfrm>
          <a:prstGeom prst="roundRect">
            <a:avLst>
              <a:gd name="adj" fmla="val 5000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24649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MATCH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rules whose IF part is true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59354" y="219456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5114" y="1463040"/>
            <a:ext cx="2464994" cy="1463040"/>
          </a:xfrm>
          <a:prstGeom prst="roundRect">
            <a:avLst>
              <a:gd name="adj" fmla="val 5000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5114" y="1463040"/>
            <a:ext cx="24649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RESOLVE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many match, choose 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35828" y="219456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1588" y="1463040"/>
            <a:ext cx="2464994" cy="1463040"/>
          </a:xfrm>
          <a:prstGeom prst="roundRect">
            <a:avLst>
              <a:gd name="adj" fmla="val 5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1588" y="1463040"/>
            <a:ext cx="24649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its THEN part (add a fact)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12301" y="219456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78061" y="1463040"/>
            <a:ext cx="2464994" cy="1463040"/>
          </a:xfrm>
          <a:prstGeom prst="roundRect">
            <a:avLst>
              <a:gd name="adj" fmla="val 5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78061" y="1463040"/>
            <a:ext cx="24649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 rule can fire or goal found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fires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THEN part is carried out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list of rules that match in this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rule does not fire twice on the same facts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772400" y="3291840"/>
            <a:ext cx="3870655" cy="2194560"/>
          </a:xfrm>
          <a:prstGeom prst="roundRect">
            <a:avLst>
              <a:gd name="adj" fmla="val 4167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01000" y="406908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4619" y="4222699"/>
            <a:ext cx="332842" cy="33284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869680" y="3291840"/>
            <a:ext cx="2544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in an exam reads all questions (match), picks one to answer first (resolve), writes it (act), and repeats.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Example Knowledge Base: Animals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4415" cy="3291840"/>
          </a:xfrm>
          <a:prstGeom prst="roundRect">
            <a:avLst>
              <a:gd name="adj" fmla="val 2778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1054577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R1: IF has_hair                       THEN mammal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IF gives_milk                     THEN mammal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R3: IF has_feathers                   THEN bird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R4: IF mammal AND eats_meat           THEN carnivore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R5: IF carnivore AND tawny AND dark_spots    THEN cheetah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R6: IF carnivore AND tawny AND black_stripes THEN tiger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R7: IF bird AND swims AND cannot_fly  THEN penguin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2285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48920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in working memory: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has_hair, eats_meat, tawny, dark_spots.  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animal is it?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Chaining (Data-Driven)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img/fig_forward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7036"/>
            <a:ext cx="7132320" cy="24408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280160"/>
          <a:ext cx="37792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731520"/>
                <a:gridCol w="94457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that match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carnivore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cheetah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43484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77240" y="470916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486277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45920" y="4434840"/>
            <a:ext cx="9768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what you KNOW, and keep firing rules forward until nothing new appears. Like a detective collecting clues until the answer shows up.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Chaining (Goal-Driven)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img/fig_backward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2377"/>
            <a:ext cx="6949440" cy="27445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80960" y="1371600"/>
            <a:ext cx="39620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guess: "Is it a cheetah?"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rule with cheetah in its THEN part (R5)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IF parts become new sub-goals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back until you reach known facts (or ask the user)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75488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498348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51370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4754880"/>
            <a:ext cx="9768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who suspects dengue and then checks only the symptoms that dengue needs. Prolog works this way.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vs Backward Chaining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32785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chaining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chaining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from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(data)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goal (hypothesis)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part → THEN part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part → IF part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called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data-driven, bottom-up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goal-driven, top-down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that follows from the facts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what is needed for the 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when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facts, many possible results (monitoring, planning)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clear question to answer (diagnosis)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CLIPS, XCON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Prolog, MYCIN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Resolution: When Many Rules Match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img/fig_confli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4871" y="1188720"/>
            <a:ext cx="8541953" cy="265176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  <a:gridCol w="3230575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the rule that...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comes first in the 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R1: stop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the most conditions (more exact)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R2: move aside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(salience)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expert marked as most important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R2: move aside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the newest facts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(ambulance just arrived)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not already fired on these facts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(avoids endless loops)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Systems: Good and Bad Points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Natural: experts already talk in rules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add or remove one rule easily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answers ("because R5 fired")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separate from the engine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rules become hard to manage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can conflict or repeat each other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learn by themselves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Brittle: fail on cases no rule covers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knowledge is often uncertain (Lecture 11 adds certainty factors)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9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CS4305_Lab09_Rules.ipynb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base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animal rules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match-resolve-act cycle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reasoning tree for 'cheetah'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questions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asks only what it needs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strategies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specificity, priority, recency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vs backward work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starts with a 📊 picture that explains the idea, then the 💻 code, then 📝 lab tasks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IF condition THEN conclusion/action; the same as P → Q in logic.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rule base + working memory + inference engine.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cycle: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resolve → act, repeated.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→ conclusions (data-driven).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sub-goals → facts (goal-driven).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rule, specificity, priority, recency, refraction.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4 IF-THEN rules for choosing what to wear based on the weather.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architecture of a production system and explain each part.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match–resolve–act cycle.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animal rules, show forward chaining for: has_feathers, swims, cannot_fly.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backward chaining for the goal 'tiger' with facts has_hair, eats_meat, tawny.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forward and backward chaining in a table.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conflict set? Explain specificity and priority with an example.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Networks, Frames and Scripts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graphs, forms and stories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9 - Knowledge Representation II: Rules</dc:title>
  <dc:subject>PptxGenJS Presentation</dc:subject>
  <dc:creator>CS4305 Artificial Intelligence</dc:creator>
  <cp:lastModifiedBy>CS4305 Artificial Intelligence</cp:lastModifiedBy>
  <cp:revision>1</cp:revision>
  <dcterms:created xsi:type="dcterms:W3CDTF">2026-09-12T06:37:39Z</dcterms:created>
  <dcterms:modified xsi:type="dcterms:W3CDTF">2026-09-12T06:37:39Z</dcterms:modified>
</cp:coreProperties>
</file>