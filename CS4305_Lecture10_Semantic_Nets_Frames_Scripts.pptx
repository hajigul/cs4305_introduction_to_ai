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 ·  LECTURE 10  ·  KNOWLEDGE REPRESENTATION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Networks, Frames and Scripts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graphs, forms and stories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and Today's Plan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4023360" cy="4206240"/>
          </a:xfrm>
          <a:prstGeom prst="roundRect">
            <a:avLst>
              <a:gd name="adj" fmla="val 2273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554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lecture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48840"/>
            <a:ext cx="3474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exact true/false sentences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Rules: IF-THEN knowledge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and backward chaining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325880"/>
            <a:ext cx="6675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will learn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937760" y="1874520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3776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need structured knowledge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937760" y="2660904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937760" y="26609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2615184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networks and inheritance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937760" y="3447288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937760" y="34472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3401568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Frames: slots and fillers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937760" y="4233672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9377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4187952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Scripts: stories of usual events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937760" y="5020056"/>
            <a:ext cx="548640" cy="54864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7760" y="50200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974336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all KR methods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Structured Knowledge?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97280"/>
          </a:xfrm>
          <a:prstGeom prst="roundRect">
            <a:avLst>
              <a:gd name="adj" fmla="val 8333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6304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61665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and rules store knowledge as a long list of separate sentences. But our brain connects ideas: when you hear "bird", you immediately think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wings, feathers, flying, eggs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8072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886" y="2949854"/>
            <a:ext cx="309067" cy="30906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8072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networks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777240" y="35387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a GRAPH of connected concepts.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4338218" y="260604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66818" y="280720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465" y="2949854"/>
            <a:ext cx="309067" cy="30906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344058" y="28072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4566818" y="35387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FORMS with fields about one object.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8127797" y="2606040"/>
            <a:ext cx="3515258" cy="2194560"/>
          </a:xfrm>
          <a:prstGeom prst="roundRect">
            <a:avLst>
              <a:gd name="adj" fmla="val 41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356397" y="280720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043" y="2949854"/>
            <a:ext cx="309067" cy="30906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133637" y="28072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8356397" y="3538728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a STORY of what usually happens.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1206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group related knowledge together, so it is faster to find and easier to understand.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Networks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5" name="Image 0" descr="img/fig_semantic_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9075"/>
            <a:ext cx="6766560" cy="4137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325880"/>
            <a:ext cx="4144975" cy="1828800"/>
          </a:xfrm>
          <a:prstGeom prst="roundRect">
            <a:avLst>
              <a:gd name="adj" fmla="val 5000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920240"/>
            <a:ext cx="640080" cy="64008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299" y="207385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0" y="1325880"/>
            <a:ext cx="281909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network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a graph where nodes are concepts and labelled arrows are relations between them. Introduced by Ross Quillian (1968).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498080" y="3383280"/>
            <a:ext cx="414497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Bird, Canary, Tweety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is-a, has, can, colour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arrow as a sentence: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 —can→ fly = "a bird can fly"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Kinds of Links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3017520"/>
                <a:gridCol w="2773375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as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class belongs to a bigger class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Canary —is-a→ Bird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canary is a kind of bird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individual belongs to a class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Tweety —instance→ Canary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Tweety is one canary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 / has-part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part or property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 —has→ feathers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birds have feathers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ability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 —can→ fly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birds can fly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 relations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named relation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 —gives→ milk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cows give milk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66360"/>
            <a:ext cx="11094415" cy="868680"/>
          </a:xfrm>
          <a:prstGeom prst="roundRect">
            <a:avLst>
              <a:gd name="adj" fmla="val 10526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54461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5166360"/>
            <a:ext cx="98142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is-a joins two CLASSES (Canary, Bird). instance joins an INDIVIDUAL to a class (Tweety, Canary).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Inheritance: Knowledge for Free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5" name="Image 0" descr="img/fig_inheri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89075"/>
            <a:ext cx="6766560" cy="4137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98080" y="1325880"/>
            <a:ext cx="4144975" cy="1554480"/>
          </a:xfrm>
          <a:prstGeom prst="roundRect">
            <a:avLst>
              <a:gd name="adj" fmla="val 5882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26680" y="178308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299" y="193669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595360" y="1325880"/>
            <a:ext cx="28190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wrote "Tweety can fly". The computer </a:t>
            </a: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climbs the is-a links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until it finds the answer.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498080" y="3063240"/>
            <a:ext cx="4144975" cy="1280160"/>
          </a:xfrm>
          <a:prstGeom prst="roundRect">
            <a:avLst>
              <a:gd name="adj" fmla="val 7143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26680" y="338328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0299" y="353689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95360" y="3063240"/>
            <a:ext cx="28190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space: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"can fly" is stored ONCE at Bird, not for every bird.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498080" y="4526280"/>
            <a:ext cx="4144975" cy="1371600"/>
          </a:xfrm>
          <a:prstGeom prst="roundRect">
            <a:avLst>
              <a:gd name="adj" fmla="val 6667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7726680" y="4892040"/>
            <a:ext cx="640080" cy="64008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299" y="504565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8595360" y="4526280"/>
            <a:ext cx="2819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Penguin has its own "can: NO fly". The closer (lower) information wins.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Networks: Good and Bad 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draw and understand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knowledge is close together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 saves a lot of space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answer "is X a kind of Y?"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45352" y="132588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19672" y="1463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519672" y="201168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names can mean different things to different people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say "all", "some" or "not" exactly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make answers tricky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networks become messy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Frames: Knowledge as a 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3F6F3"/>
          </a:solidFill>
          <a:ln w="12700">
            <a:solidFill>
              <a:srgbClr val="E3F6F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640080" cy="64008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7093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(Marvin Minsky, 1974) = a data structure for one kind of object or situation, made of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(fields) and </a:t>
            </a: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fillers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(values). Like a form you fill in at the bank.</a:t>
            </a:r>
            <a:endParaRPr lang="en-US" sz="1600" dirty="0"/>
          </a:p>
        </p:txBody>
      </p:sp>
      <p:pic>
        <p:nvPicPr>
          <p:cNvPr id="9" name="Image 1" descr="img/fig_fr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934" y="2423160"/>
            <a:ext cx="9911827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Can a Slot Hold?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5727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715414"/>
            <a:ext cx="309067" cy="30906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554480" y="157276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value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304288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cgpa: 3.4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courses: AI, DBMS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33008" y="137160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61608" y="15727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254" y="171541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38848" y="157276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default value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2304288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BS CS — used unless we say otherwise (Sara: BS AI).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548640" y="3337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77240" y="353872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68137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4480" y="353872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inherited value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270248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legs: 2 comes from the Person frame.</a:t>
            </a:r>
            <a:endParaRPr lang="en-US" sz="1700" dirty="0"/>
          </a:p>
        </p:txBody>
      </p:sp>
      <p:sp>
        <p:nvSpPr>
          <p:cNvPr id="20" name="Shape 15"/>
          <p:cNvSpPr/>
          <p:nvPr/>
        </p:nvSpPr>
        <p:spPr>
          <a:xfrm>
            <a:off x="6233008" y="3337560"/>
            <a:ext cx="5410048" cy="1691640"/>
          </a:xfrm>
          <a:prstGeom prst="roundRect">
            <a:avLst>
              <a:gd name="adj" fmla="val 5405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61608" y="353872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254" y="368137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38848" y="3538728"/>
            <a:ext cx="42213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procedure</a:t>
            </a:r>
            <a:endParaRPr lang="en-US" sz="1800" dirty="0"/>
          </a:p>
        </p:txBody>
      </p:sp>
      <p:sp>
        <p:nvSpPr>
          <p:cNvPr id="24" name="Text 18"/>
          <p:cNvSpPr txBox="1"/>
          <p:nvPr/>
        </p:nvSpPr>
        <p:spPr>
          <a:xfrm>
            <a:off x="6461608" y="4270248"/>
            <a:ext cx="495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"if-needed": age = 2026 − birth_year, calculated only when someone asks.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are the grandparents of classes and objects in Python, Java and C++.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Frames and Object-Oriented Programming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7665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377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idea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OOP idea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instance frame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 / field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cgpa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attribute value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 = "BS CS"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is-a link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inheritance (extends)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is-a Person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if-needed procedure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/ property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computed from birth_year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371600"/>
            <a:ext cx="4053535" cy="3566160"/>
          </a:xfrm>
          <a:prstGeom prst="roundRect">
            <a:avLst>
              <a:gd name="adj" fmla="val 2564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863840" y="1508760"/>
            <a:ext cx="3504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1938528"/>
            <a:ext cx="3504895" cy="2862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Person: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legs = 2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Student(Person):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program = "BS CS"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age(self):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2026 - self.birth_year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Scripts: Stories of What Usually Happens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11094415" cy="914400"/>
          </a:xfrm>
          <a:prstGeom prst="roundRect">
            <a:avLst>
              <a:gd name="adj" fmla="val 100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371600"/>
            <a:ext cx="640080" cy="64008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859" y="15252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1234440"/>
            <a:ext cx="9768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</a:t>
            </a:r>
            <a:r>
              <a:rPr lang="en-US" sz="16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(Roger Schank &amp; Robert Abelson, 1977) = a frame for a SEQUENCE of events in a familiar situation, like going to a restaurant.</a:t>
            </a:r>
            <a:endParaRPr lang="en-US" sz="1600" dirty="0"/>
          </a:p>
        </p:txBody>
      </p:sp>
      <p:pic>
        <p:nvPicPr>
          <p:cNvPr id="9" name="Image 1" descr="img/fig_scrip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51062"/>
            <a:ext cx="11094415" cy="37103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Parts of a Script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693615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 example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conditions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true before the script starts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is hungry and has money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people involved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customer, waiter, cook, cashier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objects used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table, menu, food, bill, money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events, in order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entering → ordering → eating → paying → leaving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true after the script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is not hungry, has less money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variation of the script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fast-food, dhaba, fine dining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activity: write the script for "taking an exam in the exam hall".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Scripts Are Useful: Filling in the Gaps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4630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892808"/>
            <a:ext cx="105457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"Ali went to a restaurant. He ordered biryani.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He left happily."</a:t>
            </a:r>
            <a:endParaRPr lang="en-US" sz="2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8892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377440"/>
                <a:gridCol w="5425135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Said in the story?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using the script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Ali sit down?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Probably yes (Entering scene)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Ali eat the biryani?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Probably yes (Eating scene)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 Ali pay?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Probably yes (Paying comes before Leaving)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 Ali hungry before?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(entry condition)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understand stories this way all the time — scripts give computers the same common sense.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Comparing the KR Methods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26080"/>
                <a:gridCol w="2926080"/>
                <a:gridCol w="286481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Knowledge looks like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Weakness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2A8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true/false sentences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proofs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to write, slow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IF-THEN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decisions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many rules become messy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network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graph of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 and inheritance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vague link meanings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forms with slots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describing objects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for complex reasoning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F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sequence of events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understanding stories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for familiar situations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C6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2A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systems often MIX them: e.g. frames for objects + rules for decisions.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Practical: Colab Lab 10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241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CS4305_Lab10_Semantic_Nets_Frames_Scripts.ipynb in Google Colab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80136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1944014"/>
            <a:ext cx="309067" cy="30906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554480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network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networkx, and draw it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38218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66818" y="1801368"/>
            <a:ext cx="594360" cy="594360"/>
          </a:xfrm>
          <a:prstGeom prst="ellipse">
            <a:avLst/>
          </a:prstGeom>
          <a:solidFill>
            <a:srgbClr val="1FA898"/>
          </a:solidFill>
          <a:ln w="12700">
            <a:solidFill>
              <a:srgbClr val="1FA89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1944014"/>
            <a:ext cx="309067" cy="30906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44058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566818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Tweety do? A Penguin?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8127797" y="160020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356397" y="1801368"/>
            <a:ext cx="594360" cy="594360"/>
          </a:xfrm>
          <a:prstGeom prst="ellipse">
            <a:avLst/>
          </a:prstGeom>
          <a:solidFill>
            <a:srgbClr val="FF9F1C"/>
          </a:solidFill>
          <a:ln w="12700">
            <a:solidFill>
              <a:srgbClr val="FF9F1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1944014"/>
            <a:ext cx="309067" cy="30906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9133637" y="180136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8356397" y="253288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Slots, defaults and if-needed age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777240" y="3721608"/>
            <a:ext cx="594360" cy="59436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" y="3864254"/>
            <a:ext cx="309067" cy="30906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554480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vs classes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77240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idea in Python OOP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338218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566818" y="3721608"/>
            <a:ext cx="594360" cy="594360"/>
          </a:xfrm>
          <a:prstGeom prst="ellipse">
            <a:avLst/>
          </a:prstGeom>
          <a:solidFill>
            <a:srgbClr val="1A1333"/>
          </a:solidFill>
          <a:ln w="12700">
            <a:solidFill>
              <a:srgbClr val="1A1333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465" y="3864254"/>
            <a:ext cx="309067" cy="30906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44058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script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4566818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the missing events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8127797" y="3520440"/>
            <a:ext cx="3515258" cy="1645920"/>
          </a:xfrm>
          <a:prstGeom prst="roundRect">
            <a:avLst>
              <a:gd name="adj" fmla="val 5556"/>
            </a:avLst>
          </a:prstGeom>
          <a:solidFill>
            <a:srgbClr val="F3EEFA"/>
          </a:solidFill>
          <a:ln w="12700">
            <a:solidFill>
              <a:srgbClr val="F3EEF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356397" y="3721608"/>
            <a:ext cx="594360" cy="5943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9043" y="3864254"/>
            <a:ext cx="309067" cy="309067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9133637" y="3721608"/>
            <a:ext cx="232653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questions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8356397" y="4453128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Ali pay?"</a:t>
            </a:r>
            <a:endParaRPr lang="en-US" sz="1500" dirty="0"/>
          </a:p>
        </p:txBody>
      </p:sp>
      <p:sp>
        <p:nvSpPr>
          <p:cNvPr id="36" name="Shape 28"/>
          <p:cNvSpPr/>
          <p:nvPr/>
        </p:nvSpPr>
        <p:spPr>
          <a:xfrm>
            <a:off x="548640" y="5349240"/>
            <a:ext cx="11094415" cy="731520"/>
          </a:xfrm>
          <a:prstGeom prst="roundRect">
            <a:avLst>
              <a:gd name="adj" fmla="val 12500"/>
            </a:avLst>
          </a:prstGeom>
          <a:solidFill>
            <a:srgbClr val="FFF4E3"/>
          </a:solidFill>
          <a:ln w="12700">
            <a:solidFill>
              <a:srgbClr val="FFF4E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29"/>
          <p:cNvSpPr txBox="1"/>
          <p:nvPr/>
        </p:nvSpPr>
        <p:spPr>
          <a:xfrm>
            <a:off x="822960" y="534924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notebook: </a:t>
            </a:r>
            <a:r>
              <a:rPr lang="en-US" sz="15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starts with a 📊 picture that explains the idea, then the 💻 code, then 📝 lab tasks at the end.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network: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= concepts, labelled arrows = relations (is-a, instance, has, can).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climb is-a links to find properties; lower exceptions win.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 and fillers; values can be defaults, inherited or computed by procedures.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to classes and objects in OOP.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conditions, roles, props, scenes, results — fills gaps in stories.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900" b="1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method </a:t>
            </a:r>
            <a:r>
              <a:rPr lang="en-US" sz="19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fits the knowledge; real systems mix methods.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Questions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CS4305 Artificial Intelligence  |  Lecture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11094415" y="6419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7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1732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semantic network for: vehicles, cars, bikes, wheels, engine, "my Mehran".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difference between is-a and instance links?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inheritance and exceptions with the penguin example.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frame for "Course" with at least 5 slots, including one default value.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if-needed procedure? Give an example.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script for "travelling by train": entry conditions, roles, props, scenes, results.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1F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semantic networks, frames and scripts in a table.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1463040"/>
            <a:ext cx="3108960" cy="3108960"/>
          </a:xfrm>
          <a:prstGeom prst="ellipse">
            <a:avLst/>
          </a:prstGeom>
          <a:solidFill>
            <a:srgbClr val="5B2A86"/>
          </a:solidFill>
          <a:ln w="12700">
            <a:solidFill>
              <a:srgbClr val="5B2A8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554480" cy="1554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371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F9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92024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Expert Systems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9768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knowledge engineering · certainty factors · explanation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CS4305 Lecture 10 - Semantic Networks, Frames and Scripts</dc:title>
  <dc:subject>PptxGenJS Presentation</dc:subject>
  <dc:creator>CS4305 Artificial Intelligence</dc:creator>
  <cp:lastModifiedBy>CS4305 Artificial Intelligence</cp:lastModifiedBy>
  <cp:revision>1</cp:revision>
  <dcterms:created xsi:type="dcterms:W3CDTF">2026-09-12T06:37:39Z</dcterms:created>
  <dcterms:modified xsi:type="dcterms:W3CDTF">2026-09-12T06:37:39Z</dcterms:modified>
</cp:coreProperties>
</file>