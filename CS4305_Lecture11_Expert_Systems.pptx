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3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333"/>
                </a:solidFill>
                <a:latin typeface="Arial"/>
              </a:rPr>
              <a:t>Overheating: evidence adds 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</c:v>
                </c:pt>
              </c:strCache>
            </c:strRef>
          </c:tx>
          <c:spPr>
            <a:solidFill>
              <a:srgbClr val="5B2A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 R3</c:v>
                  </c:pt>
                  <c:pt idx="1">
                    <c:v>Rule R4</c:v>
                  </c:pt>
                  <c:pt idx="2">
                    <c:v>Combined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0.5</c:v>
                </c:pt>
                <c:pt idx="2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A1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11  ·  APPLICATIONS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an expert's knowledge inside a computer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rules, semantic networks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and scripts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backward chaining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expert system 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architecture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 (knowledge engineering)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Explanations: WHY and HOW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uncertainty with certainty factors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Expert System?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9446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480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computer program that uses the knowledge of human experts to solve problems in ONE narrow area, at the level of an expert.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700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81269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700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domain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401568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area: blood infections, laptop faults, loan approval.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90824" y="246888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19424" y="26700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281269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6664" y="26700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401568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rules and facts from experts, not general algorithms.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246888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26700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81269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26700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3401568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tell you WHY it asks and HOW it decided.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075191" y="246888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67004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812694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81031" y="26700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uncertainty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401568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"probably" and "maybe", not only yes/no.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brings together everything from Lectures 3–10: tools, rules, search and knowledge representation.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Expert vs Expert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929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expert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hours, one place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24/7, many places at once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expensive, takes years to train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to copy once built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tired, forgetful or in a hurry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 same answer every 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sense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only knows its rules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new cases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updated by people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handle unusual cases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on cases no rule covers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SUPPORT experts; they do not replace them.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of an Expert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img/fig_e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0111"/>
            <a:ext cx="11094415" cy="4314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7065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Doctor (Lab 11)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expert knowledge: rules and facts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rules about laptop faults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memory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about the CURRENT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"fan is loud", "very hot"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engine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rules to reach conclusions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chaining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facility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WHY and HOW questions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"R3 fired because..."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questions, shows results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probably / maybe /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acquisition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add and update knowledge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programmer adds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Famous Expert Systems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 (1970s, Stanford)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blood infections and suggested antibiotics. ~600 rules. Invented certainty factors.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33008" y="137160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38848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DENDRAL (1965, Stanford)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2304288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structure of chemical molecules — the first expert system.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347472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7588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1853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6758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 (1980, DEC)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407408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computer orders; said to save the company about $25 million a year.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233008" y="347472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1608" y="367588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81853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38848" y="36758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PROSPECTOR (1970s, SRI)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4407408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geologists find mineral deposits, including a valuable molybdenum site.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rule engines inside bank loan approval, tax software, insurance claims and technical support.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an Expert System Built? Knowledge Engineering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img/fig_knowledge_engine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6474"/>
            <a:ext cx="11094415" cy="28563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177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4818888"/>
            <a:ext cx="457200" cy="45720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9286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481888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4132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subject (doctor, technician)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46177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6818" y="4818888"/>
            <a:ext cx="457200" cy="45720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46" y="49286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06898" y="481888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54132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expert's knowledge into rules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27797" y="461772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6397" y="4818888"/>
            <a:ext cx="457200" cy="4572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125" y="49286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96477" y="4818888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5413248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finished system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Part: The Knowledge Acquisition Bottleneck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62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8016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often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explain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they decide — it has become automatic for them. Getting knowledge OUT of their heads is slow and difficult.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986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4129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8986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630168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expert questions about real cases.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390824" y="269748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19424" y="28986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304129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6664" y="28986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630168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expert work and note each step.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33008" y="269748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28986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04129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28986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3630168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old cases and their solutions.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075191" y="269748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03791" y="289864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3041294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81031" y="289864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630168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rules automatically from data (modern approach).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an experienced cricket player "just knows" when to hit — but can they write it down as rules?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Facility: WHY and HOW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577840" cy="3017520"/>
          </a:xfrm>
          <a:prstGeom prst="roundRect">
            <a:avLst>
              <a:gd name="adj" fmla="val 303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asked during the consultation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502920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Is the laptop very hot to touch?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why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I am testing rule R3: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fan_very_loud AND hot_to_touch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 overheating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yes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325880"/>
            <a:ext cx="5306263" cy="3017520"/>
          </a:xfrm>
          <a:prstGeom prst="roundRect">
            <a:avLst>
              <a:gd name="adj" fmla="val 303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11112" y="1463040"/>
            <a:ext cx="4757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asked after the answer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1892808"/>
            <a:ext cx="4757623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Diagnosis: overheating (CF 0.74)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HOW: R3 fired (fan loud AND hot)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CF 0.48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HOW: R4 fired (shuts down)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→ CF 0.50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9204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04565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461772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explanations matter: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TRUST the answer, experts can CHECK the rules, and students can LEARN from the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Dealing with Uncertainty: Certainty Factors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experts say "it is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virus", not "it is definitely a virus". MYCIN attached a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 (CF)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 rule and fact.</a:t>
            </a:r>
            <a:endParaRPr lang="en-US" sz="1600" dirty="0"/>
          </a:p>
        </p:txBody>
      </p:sp>
      <p:pic>
        <p:nvPicPr>
          <p:cNvPr id="9" name="Image 1" descr="img/fig_cf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7213"/>
            <a:ext cx="11094415" cy="222933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93776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22960" y="5074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with a CF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504688"/>
            <a:ext cx="1054577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fan_very_loud AND hot_to_touch  THEN overheating   (CF 0.8)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with Certainty Factors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2103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joined by 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the SMALLEST CF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min(1.0, 0.6) = 0.6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joined by 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the LARGEST CF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max(0.3, 0.7) = 0.7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premise CF × rule CF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× 0.8 = 0.48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rules, same conclusion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CF1 + CF2 × (1 − CF1)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 + 0.5 × 0.52 = 0.74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772400" y="1325880"/>
          <a:ext cx="3870655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531997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498348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independent evidence makes us more sure, but the CF never goes above 1.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Systems: Advantages and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rare expert knowledge safe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consistent, always available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 reasoning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train junior staff and students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remote places without experts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hard and slow to collect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sense outside its domain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learn by itself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 thousands of rules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if it is wrong?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11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CS4305_Lab11_Expert_Systems.ipynb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evidence step by step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laptop-repair rules with CFs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 that asks questions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HOW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explains itself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consultation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 yourself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with salience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in a real shell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 + inference in one narrow domain.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 working memory, inference engine, explanation, user interface, knowledge acquisition.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MYCIN, DENDRAL, XCON, PROSPECTOR; today's rule engines.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acquire, represent, implement, test — repeat.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(during) and HOW (after) build trust.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to +1; AND = min, rule = premise × CF, combine = CF1 + CF2(1 − CF1).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expert system. Give four characteristics.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architecture of an expert system and explain each part.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human expert with an expert system (at least 5 points).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knowledge acquisition bottleneck? How can it be reduced?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and HOW explanations with an example.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give CF 0.7 and CF 0.4 for the same disease. Find the combined CF.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has CF 0.9 and its two conditions have CF 0.8 and 0.5. What CF does its conclusion get?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 and Course Review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understand language · putting the whole course together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11 - Expert Systems</dc:title>
  <dc:subject>PptxGenJS Presentation</dc:subject>
  <dc:creator>CS4305 Artificial Intelligence</dc:creator>
  <cp:lastModifiedBy>CS4305 Artificial Intelligence</cp:lastModifiedBy>
  <cp:revision>1</cp:revision>
  <dcterms:created xsi:type="dcterms:W3CDTF">2026-09-12T06:39:07Z</dcterms:created>
  <dcterms:modified xsi:type="dcterms:W3CDTF">2026-09-12T06:39:07Z</dcterms:modified>
</cp:coreProperties>
</file>