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12  ·  APPLICATIONS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 and Course Review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work with human language — and how the whole course fits together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architecture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/ HOW and certainty factors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NLP is and why it is hard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levels of NLP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Grammars and parse trees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applications and chatbots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the whole course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Natural Language Processing?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25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branch of AI that helps computers understand, interpret and produce human languages like English and Urdu.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2432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76697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62432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(NLU)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35584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meaning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a ticket to Karachi" → book(ticket, Karachi)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38218" y="242316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66818" y="262432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76697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4058" y="262432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(NLG)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66818" y="335584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→ text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→ "It will rain tomorrow"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127797" y="242316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56397" y="262432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76697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3637" y="262432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56397" y="335584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text → meaning → text → voice (voice assistants)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NLP: Google Translate, spell check, voice assistants, search engines, spam filters, chatbots.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Language Hard for Computers? Ambiguity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meanings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(lexical)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went to the bank."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 bank or money bank?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(syntactic)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saw the man with a telescope."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has the telescope?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"Ali told Bilal that he passed."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passed: Ali or Bilal?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Intention (pragmatic)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 you open the window?"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question about ability, or a polite request?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2285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484632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solve this with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common sense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split second. Computers must be taught — this is the central problem of NLP.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Levels of NLP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img/fig_nlp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26" y="1188720"/>
            <a:ext cx="10298243" cy="2743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833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are words built? (read + s, un + happy)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sentence grammatical? What is its structure?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it mean? (who did what to whom)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Pragmatics / discourse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speaker really want, in this context?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Steps: Tokens, Stems and Lemmas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Tokenization: split text into words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1054577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"Dr. Ahmed teaches AI. Don't miss it!"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[Dr., Ahmed, teaches, AI, ., Do, n't, miss, it, !]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 (chop the end)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Lemma (dictionary form)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2834640"/>
            <a:ext cx="3870655" cy="2514600"/>
          </a:xfrm>
          <a:prstGeom prst="roundRect">
            <a:avLst>
              <a:gd name="adj" fmla="val 3636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01000" y="377190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4619" y="39255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69680" y="2834640"/>
            <a:ext cx="254477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"study", "studies" and "studying" are treated as the SAME word when searching or counting.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(1): Part-of-Speech Tagging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(name)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463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463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(past)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463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6B6780"/>
          </a:solidFill>
          <a:ln w="12700">
            <a:solidFill>
              <a:srgbClr val="6B67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463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1463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21240" y="146304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14630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92124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628339"/>
            <a:ext cx="332842" cy="33284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645920" y="3200400"/>
            <a:ext cx="9768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each word with its grammatical role. It helps with meaning: in "I book a ticket", book is a VERB; in "I read a book", book is a NOUN.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8640" y="4663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4999939"/>
            <a:ext cx="332842" cy="33284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645920" y="4663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12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NLTK, which tags words automatically with codes like NN (noun), VBD (past verb), JJ (adjective).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(2): Grammars and Parse Trees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grammar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347472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  → NP VP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  → Det N | Name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 → V NP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 → the |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  → student | book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  → reads</a:t>
            </a:r>
            <a:endParaRPr lang="en-US" sz="1600" dirty="0"/>
          </a:p>
        </p:txBody>
      </p:sp>
      <p:pic>
        <p:nvPicPr>
          <p:cNvPr id="8" name="Image 0" descr="img/fig_parse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70209"/>
            <a:ext cx="6796735" cy="35689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sentence,  NP = noun phrase,  VP = verb phrase,  Det = determiner,  N = noun,  V = verb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Sentence, Two Parse Trees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img/fig_ambig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7678"/>
            <a:ext cx="11094415" cy="31311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518922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53428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5029200"/>
            <a:ext cx="9768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allows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structures. The parser in Lab 12 finds both trees. Choosing the right one needs meaning and context.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 and Pragmatics: Getting the Meaning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6623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Semantics: literal meaning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 to whom?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2834640"/>
            <a:ext cx="4846320" cy="2011680"/>
          </a:xfrm>
          <a:prstGeom prst="roundRect">
            <a:avLst>
              <a:gd name="adj" fmla="val 4545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097280" y="3017520"/>
            <a:ext cx="4297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 gave Sara a book."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give(giver: Ali,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receiver: Sara,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object: book)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back to logic and frames (Lectures 8, 10)!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45352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9672" y="150876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166237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42632" y="15087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Pragmatics: intended meaning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speaker really want?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519672" y="28346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pass the salt?" → please pass it (not "yes, I can")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cold in here." → maybe close the window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restaurant was great, the bill was not!" → scripts help understand stories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Applications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270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6969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270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585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↔ Urdu, from phrase rules to neural translation.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38218" y="13258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6818" y="152704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66969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4058" y="15270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2585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reviews or tweets positive or negative?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27797" y="13258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6397" y="152704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66969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33637" y="15270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filtering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2585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emails using the words they contain.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4164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18429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4041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47731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typing, voice assistants, call centres.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338218" y="38404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66818" y="404164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184294"/>
            <a:ext cx="309067" cy="30906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4058" y="4041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Q&amp;A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4566818" y="47731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answers inside millions of documents.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127797" y="384048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56397" y="40416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184294"/>
            <a:ext cx="309067" cy="30906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33637" y="4041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8356397" y="4773168"/>
            <a:ext cx="30580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desks, customer service, AI assistants.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Chatbots: From ELIZA to Large Language Models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69361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chatbot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 (LLM) chatbot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ELIZA (1966), simple help desks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AI assistants (2022 onwards)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keywords and patterns written by people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 the next word, learned from huge amounts of 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what the rules contain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broad, learned from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predictable, easy to control, explainable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fluent, flexible, handles new questions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on anything unexpected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sound confident but be wrong; hard to explain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12 you build a rule-based university help-desk bot — the same idea as ELIZA in Lab 1.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Review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lectures, one big picture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CS4305 on One Page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5" name="Image 0" descr="img/fig_cour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8624"/>
            <a:ext cx="11094415" cy="36779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Ideas to Remember (1)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833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 this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&amp; AI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approaches; Turing Test; rational agents do the right 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ML, NLP, vision, robotics, expert systems, fuzzy logic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facts, rules, queries; unification and backtracking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LISP &amp; shells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lists, car/cdr/cons; shell = engine with empty knowledge base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as search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state, actions, result, goal test, path cost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search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(queue), DFS (stack), UCS (cheapest), IDDFS (best of both)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Ideas to Remember (2)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833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 this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search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f = h; A* f = g + h (optimal if h admissible); hill climbing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 tables; P → Q false only when T → F; ∀ with →, ∃ with 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match–resolve–act; forward (data-driven) vs backward (goal-driven)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Nets, frames, scripts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is-a inheritance; slots and defaults; scenes of usual events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+ engine + explanation; certainty factors combine evidence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levels: morphology, syntax, semantics, pragmatics; ambiguity is the big 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Everything Connects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5032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234440"/>
            <a:ext cx="9859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medical expert system that talks to patients uses almost the whole course.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1889699" cy="1554480"/>
          </a:xfrm>
          <a:prstGeom prst="roundRect">
            <a:avLst>
              <a:gd name="adj" fmla="val 4706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468880"/>
            <a:ext cx="18896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"I have fever and rash"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484059" y="324612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49819" y="2468880"/>
            <a:ext cx="1889699" cy="1554480"/>
          </a:xfrm>
          <a:prstGeom prst="roundRect">
            <a:avLst>
              <a:gd name="adj" fmla="val 4706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49819" y="2468880"/>
            <a:ext cx="18896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frames for diseases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85238" y="324612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50998" y="2468880"/>
            <a:ext cx="1889699" cy="1554480"/>
          </a:xfrm>
          <a:prstGeom prst="roundRect">
            <a:avLst>
              <a:gd name="adj" fmla="val 4706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50998" y="2468880"/>
            <a:ext cx="18896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Inference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86417" y="324612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52177" y="2468880"/>
            <a:ext cx="1889699" cy="1554480"/>
          </a:xfrm>
          <a:prstGeom prst="roundRect">
            <a:avLst>
              <a:gd name="adj" fmla="val 4706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52177" y="2468880"/>
            <a:ext cx="18896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factors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"dengue, CF 0.8"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387596" y="3246120"/>
            <a:ext cx="3200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753356" y="2468880"/>
            <a:ext cx="1889699" cy="1554480"/>
          </a:xfrm>
          <a:prstGeom prst="roundRect">
            <a:avLst>
              <a:gd name="adj" fmla="val 4706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53356" y="2468880"/>
            <a:ext cx="18896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in plain words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such as Prolog, LISP or a shell like CLIPS make building it faster.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12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CS4305_Lab12_NLP_and_Review.ipynb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lemmas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normalise text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word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+ parser; spot bad sentences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trees for one sentence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chatbot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NLP applications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quiz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 on the whole course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understanding and generating human language; ambiguity is the main challenge.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→ morphology → syntax → semantics → pragmatics.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parse trees; one sentence can have several trees.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sentiment, spam, speech, search, chatbots.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hand-written rules (ELIZA) to learned language models.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→ tools → search → knowledge representation → applications.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NLP. Differentiate NLU and NLG with examples.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lexical, syntactic and referential ambiguity.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levels of NLP and what each one does.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stemming and lemmatization with two examples.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small grammar and draw the parse tree for "a teacher helps the student".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rule-based chatbot with an LLM-based chatbot.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search, knowledge representation and NLP work together in one AI system.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luck in your exams!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— questions and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12 - NLP and Course Review</dc:title>
  <dc:subject>PptxGenJS Presentation</dc:subject>
  <dc:creator>CS4305 Artificial Intelligence</dc:creator>
  <cp:lastModifiedBy>CS4305 Artificial Intelligence</cp:lastModifiedBy>
  <cp:revision>1</cp:revision>
  <dcterms:created xsi:type="dcterms:W3CDTF">2026-09-12T06:37:40Z</dcterms:created>
  <dcterms:modified xsi:type="dcterms:W3CDTF">2026-09-12T06:37:40Z</dcterms:modified>
</cp:coreProperties>
</file>